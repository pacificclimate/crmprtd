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6"/>
    <p:restoredTop sz="94716"/>
  </p:normalViewPr>
  <p:slideViewPr>
    <p:cSldViewPr snapToGrid="0">
      <p:cViewPr>
        <p:scale>
          <a:sx n="164" d="100"/>
          <a:sy n="164" d="100"/>
        </p:scale>
        <p:origin x="144" y="-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5D405-4FFC-6272-FC74-7F32FB8F9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5E738A-B2EB-3771-8FEF-31CF1B5855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AD781-DC42-C1AB-2E77-AA42D3BEF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2A1A-B723-AA49-8B88-75E105055E6B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963A6-D5E9-8AA5-1413-E660FE199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2AA97-8562-06BB-FDAE-DB569E44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6C54-5DB7-0149-9C95-B974900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05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DBD55-56FC-ACF8-AB91-94542124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FB089-299C-B44D-F4C0-D22B09976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3717F-AF7E-D2AD-E6B0-9B2F85AE6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2A1A-B723-AA49-8B88-75E105055E6B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19CA1-A8E0-2457-CD63-A0B8915AC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02EA2-667A-B583-43CE-513B030B5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6C54-5DB7-0149-9C95-B974900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57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9BCB5-0EE5-7A14-0AA4-ED31EFA1D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79D79-09B1-11B1-87BC-5EE0A5292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9D712-8462-A2E5-B069-9B126898E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2A1A-B723-AA49-8B88-75E105055E6B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4E04F-812E-C394-1A15-A20D06339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3F5D1-F395-825B-035F-4FD7288A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6C54-5DB7-0149-9C95-B974900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0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17338-5896-4634-4371-D28309130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8FBF7-F85B-3878-24C0-125141C6AA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9D5B76-9A5A-2856-4F40-848DC29F3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A6E1E-BA48-6E79-9743-0C87B1C81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2A1A-B723-AA49-8B88-75E105055E6B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D0046-70C6-D3CA-6012-2CB8BEAAD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E54C9-342A-C339-B510-56E666CA9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6C54-5DB7-0149-9C95-B974900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5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5BB18-2DBA-2F48-A6C0-9DB903EE3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445B1-87FF-4853-54F3-60880C4FA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A776B-700E-68B4-6C8D-FC454EDC2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ECA4AF-8AE4-1EFD-2CF7-4AF819EB5D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ABAA01-D26F-9421-1AF3-48088F9B96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8EE782-0EBC-B0EB-C0E5-DF696789B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2A1A-B723-AA49-8B88-75E105055E6B}" type="datetimeFigureOut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99643A-2D93-1712-A2D3-7E439516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AE8AB0-84E8-C652-6517-32B483C43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6C54-5DB7-0149-9C95-B974900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0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EE888-ED73-693B-5875-F98CDEE04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558BF0-2473-213A-5572-72728A6F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2A1A-B723-AA49-8B88-75E105055E6B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3BF47C-C7D7-8180-1763-DE470A5B4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066C7-0BBC-0942-DB05-2F7D3248D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6C54-5DB7-0149-9C95-B974900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81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4DCE7E-5605-964B-19A5-B60F5AAE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2A1A-B723-AA49-8B88-75E105055E6B}" type="datetimeFigureOut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384D9B-CCC8-E652-22EB-64BEBB0B3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9C7ED-592F-EB9B-F997-D2EFE1785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6C54-5DB7-0149-9C95-B974900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438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89791-5848-816E-D2E1-034D26FBE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15143-A5A1-DF76-C070-B0CA9F6C8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1473C-A7D6-4109-9FF4-5A2D58EC9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0DCD2-AE60-0203-AB01-77F5C77F7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2A1A-B723-AA49-8B88-75E105055E6B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0539B-6851-5D2D-E1CB-A7D2716FF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4781F-EB94-B385-D665-A39851A2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6C54-5DB7-0149-9C95-B974900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31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E85E6-BE6C-009E-04B4-88804E810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C7E6D6-70F4-F1AE-1FE2-7DD00F328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415E5-A001-6988-6CDD-132F42BDD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F18A5-FD73-1428-D1F3-F6CF322D7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2A1A-B723-AA49-8B88-75E105055E6B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C00BD-1CBF-9B4A-FEAD-9BF7060A9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8E2E2-5486-ED57-6C16-8A5C071DC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6C54-5DB7-0149-9C95-B974900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650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CA670-8846-471D-86CB-DA0A6AB82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A21F-66A2-9FF9-BA9F-F3DE59B1E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9EAF0-5399-14D1-5E58-A8BDDA5A0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2A1A-B723-AA49-8B88-75E105055E6B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D9B7D-45F1-5E09-96DE-F8281CFE4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20F0A-8FF2-133A-65DF-BA3D10D4A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6C54-5DB7-0149-9C95-B974900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41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52A9E0-E5A0-BC0F-53DD-86369C9BD2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840744-7E43-AEF3-BF4C-C3566DD97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10C0A-6884-1CF5-EE44-8B04B7D33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2A1A-B723-AA49-8B88-75E105055E6B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EAB0A-40D9-772C-8165-5D83C5C78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97FDF-D334-D299-962E-5A655D0A5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46C54-5DB7-0149-9C95-B974900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038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0A6105-C07D-FBBF-1D1D-CBBEEAA28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F5D36-6E52-3AA3-519A-44A8C50BA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87E99-1780-A0B8-0C81-BEBE410602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A2A1A-B723-AA49-8B88-75E105055E6B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60F15-5AEC-E57C-CE98-FEBAC91797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D8ECC-9852-DC89-BC5D-C361EF1C8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46C54-5DB7-0149-9C95-B974900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37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0E48F7-34BA-893D-71EA-600407549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896" y="1466193"/>
            <a:ext cx="4064000" cy="22860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5CF62F0-7A8B-E2C9-119C-6DF88B8BF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910206"/>
              </p:ext>
            </p:extLst>
          </p:nvPr>
        </p:nvGraphicFramePr>
        <p:xfrm>
          <a:off x="615655" y="85553"/>
          <a:ext cx="2619703" cy="350520"/>
        </p:xfrm>
        <a:graphic>
          <a:graphicData uri="http://schemas.openxmlformats.org/drawingml/2006/table">
            <a:tbl>
              <a:tblPr/>
              <a:tblGrid>
                <a:gridCol w="1506329">
                  <a:extLst>
                    <a:ext uri="{9D8B030D-6E8A-4147-A177-3AD203B41FA5}">
                      <a16:colId xmlns:a16="http://schemas.microsoft.com/office/drawing/2014/main" val="3609948959"/>
                    </a:ext>
                  </a:extLst>
                </a:gridCol>
                <a:gridCol w="1113374">
                  <a:extLst>
                    <a:ext uri="{9D8B030D-6E8A-4147-A177-3AD203B41FA5}">
                      <a16:colId xmlns:a16="http://schemas.microsoft.com/office/drawing/2014/main" val="1870654951"/>
                    </a:ext>
                  </a:extLst>
                </a:gridCol>
              </a:tblGrid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15130</a:t>
                      </a:r>
                      <a:endParaRPr lang="en-CA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657</a:t>
                      </a:r>
                      <a:endParaRPr lang="en-CA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15384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6320E56-22A7-E570-E460-BE622AEBF6C3}"/>
              </a:ext>
            </a:extLst>
          </p:cNvPr>
          <p:cNvSpPr txBox="1"/>
          <p:nvPr/>
        </p:nvSpPr>
        <p:spPr>
          <a:xfrm>
            <a:off x="523289" y="805405"/>
            <a:ext cx="111830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air_temperature_point,Duncan</a:t>
            </a:r>
            <a:r>
              <a:rPr lang="en-US" dirty="0"/>
              <a:t> River below B.B. Creek 2,DBC2,13214,1520294008,2021-10-18 07:00:00.000000,2026-02-04 14:23:08.736102,</a:t>
            </a:r>
            <a:r>
              <a:rPr lang="en-US" b="1" dirty="0"/>
              <a:t>190</a:t>
            </a:r>
            <a:r>
              <a:rPr lang="en-US" dirty="0"/>
              <a:t>,657,15130,tongli1997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7ED4DBB-0936-B740-DC0E-D738C297B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081214"/>
              </p:ext>
            </p:extLst>
          </p:nvPr>
        </p:nvGraphicFramePr>
        <p:xfrm>
          <a:off x="615655" y="1752992"/>
          <a:ext cx="10515600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4148">
                  <a:extLst>
                    <a:ext uri="{9D8B030D-6E8A-4147-A177-3AD203B41FA5}">
                      <a16:colId xmlns:a16="http://schemas.microsoft.com/office/drawing/2014/main" val="3179218826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3678148705"/>
                    </a:ext>
                  </a:extLst>
                </a:gridCol>
                <a:gridCol w="1126855">
                  <a:extLst>
                    <a:ext uri="{9D8B030D-6E8A-4147-A177-3AD203B41FA5}">
                      <a16:colId xmlns:a16="http://schemas.microsoft.com/office/drawing/2014/main" val="519561481"/>
                    </a:ext>
                  </a:extLst>
                </a:gridCol>
                <a:gridCol w="1661983">
                  <a:extLst>
                    <a:ext uri="{9D8B030D-6E8A-4147-A177-3AD203B41FA5}">
                      <a16:colId xmlns:a16="http://schemas.microsoft.com/office/drawing/2014/main" val="3881478568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206088715"/>
                    </a:ext>
                  </a:extLst>
                </a:gridCol>
                <a:gridCol w="2711656">
                  <a:extLst>
                    <a:ext uri="{9D8B030D-6E8A-4147-A177-3AD203B41FA5}">
                      <a16:colId xmlns:a16="http://schemas.microsoft.com/office/drawing/2014/main" val="1845962081"/>
                    </a:ext>
                  </a:extLst>
                </a:gridCol>
              </a:tblGrid>
              <a:tr h="978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600" u="none" strike="noStrike" dirty="0">
                          <a:effectLst/>
                        </a:rPr>
                        <a:t>Replaced by DBC2 - move data record, delete station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600" u="none" strike="noStrike">
                          <a:effectLst/>
                        </a:rPr>
                        <a:t>5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600" u="none" strike="noStrike">
                          <a:effectLst/>
                        </a:rPr>
                        <a:t>BCH-GSO-HMP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600" u="none" strike="noStrike" dirty="0">
                          <a:effectLst/>
                        </a:rPr>
                        <a:t>DBC -&gt; DBC2</a:t>
                      </a:r>
                      <a:endParaRPr lang="en-CA" sz="1600" b="0" i="0" u="none" strike="noStrike" dirty="0">
                        <a:solidFill>
                          <a:srgbClr val="9C000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600" u="none" strike="noStrike">
                          <a:effectLst/>
                        </a:rPr>
                        <a:t>2452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600" u="none" strike="noStrike" dirty="0">
                          <a:effectLst/>
                        </a:rPr>
                        <a:t>Duncan R. </a:t>
                      </a:r>
                      <a:r>
                        <a:rPr lang="en-CA" sz="1600" u="none" strike="noStrike" dirty="0" err="1">
                          <a:effectLst/>
                        </a:rPr>
                        <a:t>blw</a:t>
                      </a:r>
                      <a:r>
                        <a:rPr lang="en-CA" sz="1600" u="none" strike="noStrike" dirty="0">
                          <a:effectLst/>
                        </a:rPr>
                        <a:t> BB Ck -&gt; Duncan River Below Blue Berry Creek 2</a:t>
                      </a:r>
                      <a:endParaRPr lang="en-CA" sz="1600" b="1" i="0" u="none" strike="noStrike" dirty="0">
                        <a:solidFill>
                          <a:srgbClr val="9C000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60386352"/>
                  </a:ext>
                </a:extLst>
              </a:tr>
            </a:tbl>
          </a:graphicData>
        </a:graphic>
      </p:graphicFrame>
      <p:pic>
        <p:nvPicPr>
          <p:cNvPr id="12" name="Picture 11" descr="A graph on a white sheet&#10;&#10;AI-generated content may be incorrect.">
            <a:extLst>
              <a:ext uri="{FF2B5EF4-FFF2-40B4-BE49-F238E27FC236}">
                <a16:creationId xmlns:a16="http://schemas.microsoft.com/office/drawing/2014/main" id="{63A73CF9-9FA9-3F62-65DA-549407567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600" y="2857500"/>
            <a:ext cx="74168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347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E75D8-7425-B554-8CCC-A89774B7A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051E9E-7F29-0657-D656-1773B5031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784012"/>
              </p:ext>
            </p:extLst>
          </p:nvPr>
        </p:nvGraphicFramePr>
        <p:xfrm>
          <a:off x="557048" y="624996"/>
          <a:ext cx="2630214" cy="350520"/>
        </p:xfrm>
        <a:graphic>
          <a:graphicData uri="http://schemas.openxmlformats.org/drawingml/2006/table">
            <a:tbl>
              <a:tblPr/>
              <a:tblGrid>
                <a:gridCol w="1512373">
                  <a:extLst>
                    <a:ext uri="{9D8B030D-6E8A-4147-A177-3AD203B41FA5}">
                      <a16:colId xmlns:a16="http://schemas.microsoft.com/office/drawing/2014/main" val="352775385"/>
                    </a:ext>
                  </a:extLst>
                </a:gridCol>
                <a:gridCol w="1117841">
                  <a:extLst>
                    <a:ext uri="{9D8B030D-6E8A-4147-A177-3AD203B41FA5}">
                      <a16:colId xmlns:a16="http://schemas.microsoft.com/office/drawing/2014/main" val="3990328379"/>
                    </a:ext>
                  </a:extLst>
                </a:gridCol>
              </a:tblGrid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15106</a:t>
                      </a:r>
                      <a:endParaRPr lang="en-CA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501</a:t>
                      </a:r>
                      <a:endParaRPr lang="en-CA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552315"/>
                  </a:ext>
                </a:extLst>
              </a:tr>
            </a:tbl>
          </a:graphicData>
        </a:graphic>
      </p:graphicFrame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4830E2-96CF-D3AB-567E-B2B10DF87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47" y="2058715"/>
            <a:ext cx="12098639" cy="44892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09CAA6-5975-2D03-6FAF-FEE574129029}"/>
              </a:ext>
            </a:extLst>
          </p:cNvPr>
          <p:cNvSpPr txBox="1"/>
          <p:nvPr/>
        </p:nvSpPr>
        <p:spPr>
          <a:xfrm>
            <a:off x="2301766" y="1481959"/>
            <a:ext cx="2469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Both Insert new station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596486-E69E-7774-48F6-A0DE6EA91CB1}"/>
              </a:ext>
            </a:extLst>
          </p:cNvPr>
          <p:cNvSpPr txBox="1"/>
          <p:nvPr/>
        </p:nvSpPr>
        <p:spPr>
          <a:xfrm>
            <a:off x="3447393" y="571028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833</a:t>
            </a:r>
          </a:p>
        </p:txBody>
      </p:sp>
    </p:spTree>
    <p:extLst>
      <p:ext uri="{BB962C8B-B14F-4D97-AF65-F5344CB8AC3E}">
        <p14:creationId xmlns:p14="http://schemas.microsoft.com/office/powerpoint/2010/main" val="17027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5F2F3-D841-15AB-685F-1EC7FF797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51C83A-C13C-2E77-A100-63D9425B911E}"/>
              </a:ext>
            </a:extLst>
          </p:cNvPr>
          <p:cNvSpPr txBox="1"/>
          <p:nvPr/>
        </p:nvSpPr>
        <p:spPr>
          <a:xfrm>
            <a:off x="695739" y="298174"/>
            <a:ext cx="2224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 </a:t>
            </a:r>
            <a:r>
              <a:rPr lang="en-CA" dirty="0" err="1"/>
              <a:t>h.history_id</a:t>
            </a:r>
            <a:r>
              <a:rPr lang="en-CA" dirty="0"/>
              <a:t> = 15133</a:t>
            </a:r>
            <a:br>
              <a:rPr lang="en-CA" dirty="0"/>
            </a:br>
            <a:r>
              <a:rPr lang="en-CA" dirty="0"/>
              <a:t>and </a:t>
            </a:r>
            <a:r>
              <a:rPr lang="en-CA" dirty="0" err="1"/>
              <a:t>v.vars_id</a:t>
            </a:r>
            <a:r>
              <a:rPr lang="en-CA" dirty="0"/>
              <a:t> = 468</a:t>
            </a:r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E88FE2-0586-ADA2-2E54-AAF3230BD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23" y="1185445"/>
            <a:ext cx="10581754" cy="277033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43C6561-EA92-E8E3-8021-65D3E9085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919448"/>
              </p:ext>
            </p:extLst>
          </p:nvPr>
        </p:nvGraphicFramePr>
        <p:xfrm>
          <a:off x="871278" y="4179405"/>
          <a:ext cx="10515599" cy="15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64287">
                  <a:extLst>
                    <a:ext uri="{9D8B030D-6E8A-4147-A177-3AD203B41FA5}">
                      <a16:colId xmlns:a16="http://schemas.microsoft.com/office/drawing/2014/main" val="206212892"/>
                    </a:ext>
                  </a:extLst>
                </a:gridCol>
                <a:gridCol w="896715">
                  <a:extLst>
                    <a:ext uri="{9D8B030D-6E8A-4147-A177-3AD203B41FA5}">
                      <a16:colId xmlns:a16="http://schemas.microsoft.com/office/drawing/2014/main" val="940495906"/>
                    </a:ext>
                  </a:extLst>
                </a:gridCol>
                <a:gridCol w="1518406">
                  <a:extLst>
                    <a:ext uri="{9D8B030D-6E8A-4147-A177-3AD203B41FA5}">
                      <a16:colId xmlns:a16="http://schemas.microsoft.com/office/drawing/2014/main" val="1298690587"/>
                    </a:ext>
                  </a:extLst>
                </a:gridCol>
                <a:gridCol w="2239476">
                  <a:extLst>
                    <a:ext uri="{9D8B030D-6E8A-4147-A177-3AD203B41FA5}">
                      <a16:colId xmlns:a16="http://schemas.microsoft.com/office/drawing/2014/main" val="2029089944"/>
                    </a:ext>
                  </a:extLst>
                </a:gridCol>
                <a:gridCol w="896715">
                  <a:extLst>
                    <a:ext uri="{9D8B030D-6E8A-4147-A177-3AD203B41FA5}">
                      <a16:colId xmlns:a16="http://schemas.microsoft.com/office/drawing/2014/main" val="3910428161"/>
                    </a:ext>
                  </a:extLst>
                </a:gridCol>
              </a:tblGrid>
              <a:tr h="1317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000" u="none" strike="noStrike">
                          <a:effectLst/>
                        </a:rPr>
                        <a:t>Concatenate data with 13217, then delete</a:t>
                      </a:r>
                      <a:endParaRPr lang="en-CA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000" u="none" strike="noStrike">
                          <a:effectLst/>
                        </a:rPr>
                        <a:t>5</a:t>
                      </a:r>
                      <a:endParaRPr lang="en-CA" sz="1000" b="1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000" u="none" strike="noStrike">
                          <a:effectLst/>
                        </a:rPr>
                        <a:t>BCH-GSO-HMP</a:t>
                      </a:r>
                      <a:endParaRPr lang="en-CA" sz="1000" b="1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000" u="none" strike="noStrike">
                          <a:effectLst/>
                        </a:rPr>
                        <a:t>JHL</a:t>
                      </a:r>
                      <a:endParaRPr lang="en-CA" sz="1000" b="1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000" u="none" strike="noStrike" dirty="0">
                          <a:effectLst/>
                        </a:rPr>
                        <a:t>13128</a:t>
                      </a:r>
                      <a:endParaRPr lang="en-CA" sz="1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0535364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1CCCC29-5463-8307-3571-F053EC062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744149"/>
              </p:ext>
            </p:extLst>
          </p:nvPr>
        </p:nvGraphicFramePr>
        <p:xfrm>
          <a:off x="838200" y="4479235"/>
          <a:ext cx="10515600" cy="15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4148">
                  <a:extLst>
                    <a:ext uri="{9D8B030D-6E8A-4147-A177-3AD203B41FA5}">
                      <a16:colId xmlns:a16="http://schemas.microsoft.com/office/drawing/2014/main" val="1755314285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499479812"/>
                    </a:ext>
                  </a:extLst>
                </a:gridCol>
                <a:gridCol w="1126855">
                  <a:extLst>
                    <a:ext uri="{9D8B030D-6E8A-4147-A177-3AD203B41FA5}">
                      <a16:colId xmlns:a16="http://schemas.microsoft.com/office/drawing/2014/main" val="146650338"/>
                    </a:ext>
                  </a:extLst>
                </a:gridCol>
                <a:gridCol w="1661983">
                  <a:extLst>
                    <a:ext uri="{9D8B030D-6E8A-4147-A177-3AD203B41FA5}">
                      <a16:colId xmlns:a16="http://schemas.microsoft.com/office/drawing/2014/main" val="4129779714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1664241055"/>
                    </a:ext>
                  </a:extLst>
                </a:gridCol>
                <a:gridCol w="2711656">
                  <a:extLst>
                    <a:ext uri="{9D8B030D-6E8A-4147-A177-3AD203B41FA5}">
                      <a16:colId xmlns:a16="http://schemas.microsoft.com/office/drawing/2014/main" val="2808767945"/>
                    </a:ext>
                  </a:extLst>
                </a:gridCol>
              </a:tblGrid>
              <a:tr h="978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000" u="none" strike="noStrike">
                          <a:effectLst/>
                        </a:rPr>
                        <a:t>This is the correct station to use</a:t>
                      </a:r>
                      <a:endParaRPr lang="en-CA" sz="1000" b="1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000" u="none" strike="noStrike">
                          <a:effectLst/>
                        </a:rPr>
                        <a:t>5</a:t>
                      </a:r>
                      <a:endParaRPr lang="en-CA" sz="1000" b="1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000" u="none" strike="noStrike">
                          <a:effectLst/>
                        </a:rPr>
                        <a:t>BCH-GSO-HMP</a:t>
                      </a:r>
                      <a:endParaRPr lang="en-CA" sz="1000" b="1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000" u="none" strike="noStrike">
                          <a:effectLst/>
                        </a:rPr>
                        <a:t>JHL</a:t>
                      </a:r>
                      <a:endParaRPr lang="en-CA" sz="1000" b="1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000" u="none" strike="noStrike">
                          <a:effectLst/>
                        </a:rPr>
                        <a:t>13217</a:t>
                      </a:r>
                      <a:endParaRPr lang="en-CA" sz="1000" b="1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000" u="none" strike="noStrike" dirty="0">
                          <a:effectLst/>
                        </a:rPr>
                        <a:t>Johanson Lake</a:t>
                      </a:r>
                      <a:endParaRPr lang="en-CA" sz="1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65989906"/>
                  </a:ext>
                </a:extLst>
              </a:tr>
            </a:tbl>
          </a:graphicData>
        </a:graphic>
      </p:graphicFrame>
      <p:pic>
        <p:nvPicPr>
          <p:cNvPr id="11" name="Picture 10" descr="A graph showing the growth of the stock market&#10;&#10;AI-generated content may be incorrect.">
            <a:extLst>
              <a:ext uri="{FF2B5EF4-FFF2-40B4-BE49-F238E27FC236}">
                <a16:creationId xmlns:a16="http://schemas.microsoft.com/office/drawing/2014/main" id="{D6F73877-871D-80D7-BE9C-535AB0232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612" y="4855265"/>
            <a:ext cx="7772400" cy="250037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BF28AB5-1149-B09C-91D6-F4E79CE9E370}"/>
              </a:ext>
            </a:extLst>
          </p:cNvPr>
          <p:cNvSpPr/>
          <p:nvPr/>
        </p:nvSpPr>
        <p:spPr>
          <a:xfrm>
            <a:off x="6897757" y="5874026"/>
            <a:ext cx="1967947" cy="9839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43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51F15-25E1-2E7A-5531-6FA9A5626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3F6D82-2097-582C-6BC6-0D967FB1C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56" y="1364974"/>
            <a:ext cx="9986617" cy="4392020"/>
          </a:xfrm>
          <a:prstGeom prst="rect">
            <a:avLst/>
          </a:prstGeom>
        </p:spPr>
      </p:pic>
      <p:pic>
        <p:nvPicPr>
          <p:cNvPr id="5" name="Picture 4" descr="A screenshot of a table&#10;&#10;AI-generated content may be incorrect.">
            <a:extLst>
              <a:ext uri="{FF2B5EF4-FFF2-40B4-BE49-F238E27FC236}">
                <a16:creationId xmlns:a16="http://schemas.microsoft.com/office/drawing/2014/main" id="{1E5CCB67-28CA-6742-943E-146E379A3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752" y="213419"/>
            <a:ext cx="4216400" cy="3403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881A0F-BA08-550E-1215-3368219C5F70}"/>
              </a:ext>
            </a:extLst>
          </p:cNvPr>
          <p:cNvSpPr txBox="1"/>
          <p:nvPr/>
        </p:nvSpPr>
        <p:spPr>
          <a:xfrm>
            <a:off x="715617" y="506896"/>
            <a:ext cx="2199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Fern new data insert</a:t>
            </a:r>
          </a:p>
        </p:txBody>
      </p:sp>
    </p:spTree>
    <p:extLst>
      <p:ext uri="{BB962C8B-B14F-4D97-AF65-F5344CB8AC3E}">
        <p14:creationId xmlns:p14="http://schemas.microsoft.com/office/powerpoint/2010/main" val="473850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03E6B-F72A-4E10-EF3B-E5155773D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CB7063-1F37-EE75-7059-0B1FB566D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908" y="817878"/>
            <a:ext cx="8900008" cy="481932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47082D-CC4D-0414-F470-91E8E5752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335093"/>
              </p:ext>
            </p:extLst>
          </p:nvPr>
        </p:nvGraphicFramePr>
        <p:xfrm>
          <a:off x="911916" y="5908330"/>
          <a:ext cx="10515599" cy="15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64287">
                  <a:extLst>
                    <a:ext uri="{9D8B030D-6E8A-4147-A177-3AD203B41FA5}">
                      <a16:colId xmlns:a16="http://schemas.microsoft.com/office/drawing/2014/main" val="2937744267"/>
                    </a:ext>
                  </a:extLst>
                </a:gridCol>
                <a:gridCol w="896715">
                  <a:extLst>
                    <a:ext uri="{9D8B030D-6E8A-4147-A177-3AD203B41FA5}">
                      <a16:colId xmlns:a16="http://schemas.microsoft.com/office/drawing/2014/main" val="2703411051"/>
                    </a:ext>
                  </a:extLst>
                </a:gridCol>
                <a:gridCol w="1518406">
                  <a:extLst>
                    <a:ext uri="{9D8B030D-6E8A-4147-A177-3AD203B41FA5}">
                      <a16:colId xmlns:a16="http://schemas.microsoft.com/office/drawing/2014/main" val="1527843438"/>
                    </a:ext>
                  </a:extLst>
                </a:gridCol>
                <a:gridCol w="2239476">
                  <a:extLst>
                    <a:ext uri="{9D8B030D-6E8A-4147-A177-3AD203B41FA5}">
                      <a16:colId xmlns:a16="http://schemas.microsoft.com/office/drawing/2014/main" val="1713506086"/>
                    </a:ext>
                  </a:extLst>
                </a:gridCol>
                <a:gridCol w="896715">
                  <a:extLst>
                    <a:ext uri="{9D8B030D-6E8A-4147-A177-3AD203B41FA5}">
                      <a16:colId xmlns:a16="http://schemas.microsoft.com/office/drawing/2014/main" val="1049905033"/>
                    </a:ext>
                  </a:extLst>
                </a:gridCol>
              </a:tblGrid>
              <a:tr h="1317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000" u="none" strike="noStrike" dirty="0">
                          <a:effectLst/>
                        </a:rPr>
                        <a:t>Concatenate data and Delete this station</a:t>
                      </a:r>
                      <a:endParaRPr lang="en-CA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36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CRD-WS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800" u="none" strike="noStrike">
                          <a:effectLst/>
                        </a:rPr>
                        <a:t>14g -&gt; FW001</a:t>
                      </a:r>
                      <a:endParaRPr lang="en-CA" sz="800" b="1" i="0" u="none" strike="noStrike">
                        <a:solidFill>
                          <a:srgbClr val="9C000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800" u="none" strike="noStrike" dirty="0">
                          <a:effectLst/>
                        </a:rPr>
                        <a:t>12627</a:t>
                      </a:r>
                      <a:endParaRPr lang="en-CA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685676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6B62198-A188-F090-F6F1-1BCDF8D79320}"/>
              </a:ext>
            </a:extLst>
          </p:cNvPr>
          <p:cNvSpPr txBox="1"/>
          <p:nvPr/>
        </p:nvSpPr>
        <p:spPr>
          <a:xfrm>
            <a:off x="834887" y="177418"/>
            <a:ext cx="1531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Looks normal</a:t>
            </a:r>
          </a:p>
        </p:txBody>
      </p:sp>
    </p:spTree>
    <p:extLst>
      <p:ext uri="{BB962C8B-B14F-4D97-AF65-F5344CB8AC3E}">
        <p14:creationId xmlns:p14="http://schemas.microsoft.com/office/powerpoint/2010/main" val="3899435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74989-9C1B-2F21-186C-F09FAD21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CAB101-C1FB-334A-5521-2D6E0ADD5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24" y="1211884"/>
            <a:ext cx="9863906" cy="44342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FB507F-885D-27E4-5550-10A01B395740}"/>
              </a:ext>
            </a:extLst>
          </p:cNvPr>
          <p:cNvSpPr txBox="1"/>
          <p:nvPr/>
        </p:nvSpPr>
        <p:spPr>
          <a:xfrm>
            <a:off x="1232452" y="516835"/>
            <a:ext cx="1986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station insert</a:t>
            </a:r>
          </a:p>
        </p:txBody>
      </p:sp>
      <p:pic>
        <p:nvPicPr>
          <p:cNvPr id="6" name="Picture 5" descr="A table of numbers with numbers&#10;&#10;AI-generated content may be incorrect.">
            <a:extLst>
              <a:ext uri="{FF2B5EF4-FFF2-40B4-BE49-F238E27FC236}">
                <a16:creationId xmlns:a16="http://schemas.microsoft.com/office/drawing/2014/main" id="{BE6D2C85-CADE-EA77-70A8-013669C22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230" y="701501"/>
            <a:ext cx="42164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885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354AA-083E-05A1-2F29-A988FE544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146CC7-E5AB-CCB8-8DDA-0F14813AF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973259"/>
              </p:ext>
            </p:extLst>
          </p:nvPr>
        </p:nvGraphicFramePr>
        <p:xfrm>
          <a:off x="604935" y="1192861"/>
          <a:ext cx="10515600" cy="182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27080">
                  <a:extLst>
                    <a:ext uri="{9D8B030D-6E8A-4147-A177-3AD203B41FA5}">
                      <a16:colId xmlns:a16="http://schemas.microsoft.com/office/drawing/2014/main" val="2961326537"/>
                    </a:ext>
                  </a:extLst>
                </a:gridCol>
                <a:gridCol w="980311">
                  <a:extLst>
                    <a:ext uri="{9D8B030D-6E8A-4147-A177-3AD203B41FA5}">
                      <a16:colId xmlns:a16="http://schemas.microsoft.com/office/drawing/2014/main" val="632182800"/>
                    </a:ext>
                  </a:extLst>
                </a:gridCol>
                <a:gridCol w="1659959">
                  <a:extLst>
                    <a:ext uri="{9D8B030D-6E8A-4147-A177-3AD203B41FA5}">
                      <a16:colId xmlns:a16="http://schemas.microsoft.com/office/drawing/2014/main" val="2445740344"/>
                    </a:ext>
                  </a:extLst>
                </a:gridCol>
                <a:gridCol w="2448250">
                  <a:extLst>
                    <a:ext uri="{9D8B030D-6E8A-4147-A177-3AD203B41FA5}">
                      <a16:colId xmlns:a16="http://schemas.microsoft.com/office/drawing/2014/main" val="3040674239"/>
                    </a:ext>
                  </a:extLst>
                </a:gridCol>
              </a:tblGrid>
              <a:tr h="1440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Concatenate data and Delete this station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CRD-WS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4rw6 -&gt; FW004</a:t>
                      </a:r>
                      <a:endParaRPr lang="en-CA" sz="1200" b="1" i="0" u="none" strike="noStrike" dirty="0">
                        <a:solidFill>
                          <a:srgbClr val="9C000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7659448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EB4187E-AF66-378B-4931-EB30DD9532A0}"/>
              </a:ext>
            </a:extLst>
          </p:cNvPr>
          <p:cNvSpPr txBox="1"/>
          <p:nvPr/>
        </p:nvSpPr>
        <p:spPr>
          <a:xfrm>
            <a:off x="429604" y="260631"/>
            <a:ext cx="6098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effectLst/>
                <a:latin typeface="Menlo" panose="020B0609030804020204" pitchFamily="49" charset="0"/>
              </a:rPr>
              <a:t> </a:t>
            </a:r>
            <a:r>
              <a:rPr lang="en-CA" sz="1200" b="1" dirty="0" err="1">
                <a:effectLst/>
                <a:latin typeface="Menlo" panose="020B0609030804020204" pitchFamily="49" charset="0"/>
              </a:rPr>
              <a:t>h.history_id</a:t>
            </a:r>
            <a:r>
              <a:rPr lang="en-CA" sz="1200" b="1" dirty="0">
                <a:effectLst/>
                <a:latin typeface="Menlo" panose="020B0609030804020204" pitchFamily="49" charset="0"/>
              </a:rPr>
              <a:t> = 14637</a:t>
            </a:r>
            <a:br>
              <a:rPr lang="en-CA" sz="1200" b="1" dirty="0">
                <a:effectLst/>
                <a:latin typeface="Menlo" panose="020B0609030804020204" pitchFamily="49" charset="0"/>
              </a:rPr>
            </a:br>
            <a:r>
              <a:rPr lang="en-CA" sz="1200" b="1" dirty="0">
                <a:effectLst/>
                <a:latin typeface="Menlo" panose="020B0609030804020204" pitchFamily="49" charset="0"/>
              </a:rPr>
              <a:t>and </a:t>
            </a:r>
            <a:r>
              <a:rPr lang="en-CA" sz="1200" b="1" dirty="0" err="1">
                <a:effectLst/>
                <a:latin typeface="Menlo" panose="020B0609030804020204" pitchFamily="49" charset="0"/>
              </a:rPr>
              <a:t>v.vars_id</a:t>
            </a:r>
            <a:r>
              <a:rPr lang="en-CA" sz="1200" b="1" dirty="0">
                <a:effectLst/>
                <a:latin typeface="Menlo" panose="020B0609030804020204" pitchFamily="49" charset="0"/>
              </a:rPr>
              <a:t> = 738</a:t>
            </a:r>
            <a:endParaRPr lang="en-US" sz="1200" b="1" dirty="0"/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C1AA045-8144-16A6-E280-CFA02F77E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05" y="2280920"/>
            <a:ext cx="8720154" cy="298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077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68003-3556-6310-4731-EED1C35A4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FC02CB-2578-96D4-2DB7-BA573CCCD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34917"/>
              </p:ext>
            </p:extLst>
          </p:nvPr>
        </p:nvGraphicFramePr>
        <p:xfrm>
          <a:off x="492968" y="2107261"/>
          <a:ext cx="10515600" cy="182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27080">
                  <a:extLst>
                    <a:ext uri="{9D8B030D-6E8A-4147-A177-3AD203B41FA5}">
                      <a16:colId xmlns:a16="http://schemas.microsoft.com/office/drawing/2014/main" val="4004557804"/>
                    </a:ext>
                  </a:extLst>
                </a:gridCol>
                <a:gridCol w="980311">
                  <a:extLst>
                    <a:ext uri="{9D8B030D-6E8A-4147-A177-3AD203B41FA5}">
                      <a16:colId xmlns:a16="http://schemas.microsoft.com/office/drawing/2014/main" val="1848862857"/>
                    </a:ext>
                  </a:extLst>
                </a:gridCol>
                <a:gridCol w="1659959">
                  <a:extLst>
                    <a:ext uri="{9D8B030D-6E8A-4147-A177-3AD203B41FA5}">
                      <a16:colId xmlns:a16="http://schemas.microsoft.com/office/drawing/2014/main" val="2932160683"/>
                    </a:ext>
                  </a:extLst>
                </a:gridCol>
                <a:gridCol w="2448250">
                  <a:extLst>
                    <a:ext uri="{9D8B030D-6E8A-4147-A177-3AD203B41FA5}">
                      <a16:colId xmlns:a16="http://schemas.microsoft.com/office/drawing/2014/main" val="2520739993"/>
                    </a:ext>
                  </a:extLst>
                </a:gridCol>
              </a:tblGrid>
              <a:tr h="1440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u="none" strike="noStrike" dirty="0">
                          <a:effectLst/>
                        </a:rPr>
                        <a:t>Concatenate data and Delete this station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36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u="none" strike="noStrike">
                          <a:effectLst/>
                        </a:rPr>
                        <a:t>CRD-WS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u="none" strike="noStrike" dirty="0" err="1">
                          <a:effectLst/>
                        </a:rPr>
                        <a:t>martins_gulch</a:t>
                      </a:r>
                      <a:r>
                        <a:rPr lang="en-CA" sz="1200" u="none" strike="noStrike" dirty="0">
                          <a:effectLst/>
                        </a:rPr>
                        <a:t> -&gt; FW007</a:t>
                      </a:r>
                      <a:endParaRPr lang="en-CA" sz="1200" b="1" i="0" u="none" strike="noStrike" dirty="0">
                        <a:solidFill>
                          <a:srgbClr val="9C000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2296636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4C7E19-2A14-65B6-59B5-B489384EA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962696"/>
              </p:ext>
            </p:extLst>
          </p:nvPr>
        </p:nvGraphicFramePr>
        <p:xfrm>
          <a:off x="578498" y="814112"/>
          <a:ext cx="9769151" cy="563880"/>
        </p:xfrm>
        <a:graphic>
          <a:graphicData uri="http://schemas.openxmlformats.org/drawingml/2006/table">
            <a:tbl>
              <a:tblPr/>
              <a:tblGrid>
                <a:gridCol w="641973">
                  <a:extLst>
                    <a:ext uri="{9D8B030D-6E8A-4147-A177-3AD203B41FA5}">
                      <a16:colId xmlns:a16="http://schemas.microsoft.com/office/drawing/2014/main" val="1168855309"/>
                    </a:ext>
                  </a:extLst>
                </a:gridCol>
                <a:gridCol w="474502">
                  <a:extLst>
                    <a:ext uri="{9D8B030D-6E8A-4147-A177-3AD203B41FA5}">
                      <a16:colId xmlns:a16="http://schemas.microsoft.com/office/drawing/2014/main" val="267088214"/>
                    </a:ext>
                  </a:extLst>
                </a:gridCol>
                <a:gridCol w="2079433">
                  <a:extLst>
                    <a:ext uri="{9D8B030D-6E8A-4147-A177-3AD203B41FA5}">
                      <a16:colId xmlns:a16="http://schemas.microsoft.com/office/drawing/2014/main" val="845473876"/>
                    </a:ext>
                  </a:extLst>
                </a:gridCol>
                <a:gridCol w="3209864">
                  <a:extLst>
                    <a:ext uri="{9D8B030D-6E8A-4147-A177-3AD203B41FA5}">
                      <a16:colId xmlns:a16="http://schemas.microsoft.com/office/drawing/2014/main" val="2371770588"/>
                    </a:ext>
                  </a:extLst>
                </a:gridCol>
                <a:gridCol w="669884">
                  <a:extLst>
                    <a:ext uri="{9D8B030D-6E8A-4147-A177-3AD203B41FA5}">
                      <a16:colId xmlns:a16="http://schemas.microsoft.com/office/drawing/2014/main" val="2268830330"/>
                    </a:ext>
                  </a:extLst>
                </a:gridCol>
                <a:gridCol w="460546">
                  <a:extLst>
                    <a:ext uri="{9D8B030D-6E8A-4147-A177-3AD203B41FA5}">
                      <a16:colId xmlns:a16="http://schemas.microsoft.com/office/drawing/2014/main" val="3999397830"/>
                    </a:ext>
                  </a:extLst>
                </a:gridCol>
                <a:gridCol w="823400">
                  <a:extLst>
                    <a:ext uri="{9D8B030D-6E8A-4147-A177-3AD203B41FA5}">
                      <a16:colId xmlns:a16="http://schemas.microsoft.com/office/drawing/2014/main" val="3037675657"/>
                    </a:ext>
                  </a:extLst>
                </a:gridCol>
                <a:gridCol w="586149">
                  <a:extLst>
                    <a:ext uri="{9D8B030D-6E8A-4147-A177-3AD203B41FA5}">
                      <a16:colId xmlns:a16="http://schemas.microsoft.com/office/drawing/2014/main" val="3142363978"/>
                    </a:ext>
                  </a:extLst>
                </a:gridCol>
                <a:gridCol w="823400">
                  <a:extLst>
                    <a:ext uri="{9D8B030D-6E8A-4147-A177-3AD203B41FA5}">
                      <a16:colId xmlns:a16="http://schemas.microsoft.com/office/drawing/2014/main" val="1807903972"/>
                    </a:ext>
                  </a:extLst>
                </a:gridCol>
              </a:tblGrid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14639</a:t>
                      </a:r>
                      <a:endParaRPr lang="en-CA" sz="16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738</a:t>
                      </a:r>
                      <a:endParaRPr lang="en-CA" sz="16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Martin's Gulch</a:t>
                      </a:r>
                      <a:endParaRPr lang="en-CA" sz="16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Prec_1</a:t>
                      </a:r>
                      <a:endParaRPr lang="en-CA" sz="16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97144</a:t>
                      </a:r>
                      <a:endParaRPr lang="en-CA" sz="16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43851</a:t>
                      </a:r>
                      <a:endParaRPr lang="en-CA" sz="16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0.0108</a:t>
                      </a:r>
                      <a:endParaRPr lang="en-CA" sz="16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0.0611</a:t>
                      </a:r>
                      <a:endParaRPr lang="en-CA" sz="160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0.0503</a:t>
                      </a:r>
                      <a:endParaRPr lang="en-CA" sz="1600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761794"/>
                  </a:ext>
                </a:extLst>
              </a:tr>
            </a:tbl>
          </a:graphicData>
        </a:graphic>
      </p:graphicFrame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B338595-137F-22C5-DC8F-DBD989D32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45" y="3118498"/>
            <a:ext cx="7416800" cy="1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557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n 3">
            <a:extLst>
              <a:ext uri="{FF2B5EF4-FFF2-40B4-BE49-F238E27FC236}">
                <a16:creationId xmlns:a16="http://schemas.microsoft.com/office/drawing/2014/main" id="{52503E49-B0E0-56BD-FA70-6983E73359DA}"/>
              </a:ext>
            </a:extLst>
          </p:cNvPr>
          <p:cNvSpPr/>
          <p:nvPr/>
        </p:nvSpPr>
        <p:spPr>
          <a:xfrm>
            <a:off x="973667" y="4285168"/>
            <a:ext cx="3344333" cy="558800"/>
          </a:xfrm>
          <a:prstGeom prst="ca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PCDS raw pool</a:t>
            </a:r>
          </a:p>
        </p:txBody>
      </p:sp>
      <p:sp>
        <p:nvSpPr>
          <p:cNvPr id="5" name="Can 4">
            <a:extLst>
              <a:ext uri="{FF2B5EF4-FFF2-40B4-BE49-F238E27FC236}">
                <a16:creationId xmlns:a16="http://schemas.microsoft.com/office/drawing/2014/main" id="{A98C1822-293E-8CC8-43F1-74FFD3B477FC}"/>
              </a:ext>
            </a:extLst>
          </p:cNvPr>
          <p:cNvSpPr/>
          <p:nvPr/>
        </p:nvSpPr>
        <p:spPr>
          <a:xfrm>
            <a:off x="1502787" y="3073399"/>
            <a:ext cx="2286000" cy="668867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Good data (original)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4282C1DC-D89B-9263-F50F-B53CD2705CEA}"/>
              </a:ext>
            </a:extLst>
          </p:cNvPr>
          <p:cNvSpPr/>
          <p:nvPr/>
        </p:nvSpPr>
        <p:spPr>
          <a:xfrm rot="5400000" flipH="1" flipV="1">
            <a:off x="2307119" y="2772831"/>
            <a:ext cx="601133" cy="22013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15EE6-005A-CF4E-424B-507EF7216BCC}"/>
              </a:ext>
            </a:extLst>
          </p:cNvPr>
          <p:cNvSpPr txBox="1"/>
          <p:nvPr/>
        </p:nvSpPr>
        <p:spPr>
          <a:xfrm>
            <a:off x="224227" y="2532213"/>
            <a:ext cx="24215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Standardize </a:t>
            </a:r>
          </a:p>
          <a:p>
            <a:pPr algn="ctr"/>
            <a:r>
              <a:rPr lang="en-US" sz="1400" dirty="0"/>
              <a:t>(consistent </a:t>
            </a:r>
            <a:r>
              <a:rPr lang="en-US" sz="1400" dirty="0" err="1"/>
              <a:t>var_name</a:t>
            </a:r>
            <a:r>
              <a:rPr lang="en-US" sz="1400" dirty="0"/>
              <a:t> </a:t>
            </a:r>
            <a:r>
              <a:rPr lang="en-US" sz="1400" dirty="0" err="1"/>
              <a:t>etc</a:t>
            </a:r>
            <a:r>
              <a:rPr lang="en-US" sz="1400" dirty="0"/>
              <a:t>,…) 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B8A6EBAA-F2AF-1985-CC6B-3337E6D66409}"/>
              </a:ext>
            </a:extLst>
          </p:cNvPr>
          <p:cNvSpPr/>
          <p:nvPr/>
        </p:nvSpPr>
        <p:spPr>
          <a:xfrm>
            <a:off x="1502787" y="1895499"/>
            <a:ext cx="2286000" cy="668867"/>
          </a:xfrm>
          <a:prstGeom prst="ca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Good data (purred)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E8577DBF-E8F4-80BB-A644-A12D58B83DF9}"/>
              </a:ext>
            </a:extLst>
          </p:cNvPr>
          <p:cNvSpPr/>
          <p:nvPr/>
        </p:nvSpPr>
        <p:spPr>
          <a:xfrm rot="5400000" flipH="1" flipV="1">
            <a:off x="2307119" y="3938031"/>
            <a:ext cx="601133" cy="22013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C0FC30-FA7D-11E5-6AF6-43A2EC5ACA33}"/>
              </a:ext>
            </a:extLst>
          </p:cNvPr>
          <p:cNvSpPr txBox="1"/>
          <p:nvPr/>
        </p:nvSpPr>
        <p:spPr>
          <a:xfrm>
            <a:off x="437754" y="3842267"/>
            <a:ext cx="173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Quality control (QC)</a:t>
            </a:r>
          </a:p>
        </p:txBody>
      </p:sp>
      <p:sp>
        <p:nvSpPr>
          <p:cNvPr id="13" name="Curved Left Arrow 12">
            <a:extLst>
              <a:ext uri="{FF2B5EF4-FFF2-40B4-BE49-F238E27FC236}">
                <a16:creationId xmlns:a16="http://schemas.microsoft.com/office/drawing/2014/main" id="{9CAA86E7-D2EF-67E4-DD4E-FD4F62693F22}"/>
              </a:ext>
            </a:extLst>
          </p:cNvPr>
          <p:cNvSpPr/>
          <p:nvPr/>
        </p:nvSpPr>
        <p:spPr>
          <a:xfrm>
            <a:off x="3837448" y="2295504"/>
            <a:ext cx="495346" cy="2047894"/>
          </a:xfrm>
          <a:prstGeom prst="curvedLef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urved Left Arrow 8">
            <a:extLst>
              <a:ext uri="{FF2B5EF4-FFF2-40B4-BE49-F238E27FC236}">
                <a16:creationId xmlns:a16="http://schemas.microsoft.com/office/drawing/2014/main" id="{8CE59227-05A3-14EA-8596-64C5FC1A1487}"/>
              </a:ext>
            </a:extLst>
          </p:cNvPr>
          <p:cNvSpPr/>
          <p:nvPr/>
        </p:nvSpPr>
        <p:spPr>
          <a:xfrm>
            <a:off x="3790927" y="2295504"/>
            <a:ext cx="364066" cy="1277430"/>
          </a:xfrm>
          <a:prstGeom prst="curved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F1A234-3331-3A88-43D8-CC7630A0358B}"/>
              </a:ext>
            </a:extLst>
          </p:cNvPr>
          <p:cNvSpPr txBox="1"/>
          <p:nvPr/>
        </p:nvSpPr>
        <p:spPr>
          <a:xfrm>
            <a:off x="4226869" y="36735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4BA1CA-1295-4EF7-62E9-8E9F74BE3CA9}"/>
              </a:ext>
            </a:extLst>
          </p:cNvPr>
          <p:cNvSpPr txBox="1"/>
          <p:nvPr/>
        </p:nvSpPr>
        <p:spPr>
          <a:xfrm>
            <a:off x="4991144" y="1530395"/>
            <a:ext cx="6259007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1400" b="1" dirty="0"/>
              <a:t>When new data arrive:</a:t>
            </a:r>
            <a:endParaRPr lang="en-CA" sz="1400" dirty="0"/>
          </a:p>
          <a:p>
            <a:pPr marL="342900" indent="-342900">
              <a:buFont typeface="+mj-lt"/>
              <a:buAutoNum type="arabicPeriod"/>
            </a:pPr>
            <a:r>
              <a:rPr lang="en-CA" sz="1400" dirty="0"/>
              <a:t>Import into the </a:t>
            </a:r>
            <a:r>
              <a:rPr lang="en-CA" sz="1400" b="1" dirty="0"/>
              <a:t>PCDS raw pool</a:t>
            </a:r>
            <a:r>
              <a:rPr lang="en-CA" sz="14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1400" dirty="0"/>
              <a:t>Perform </a:t>
            </a:r>
            <a:r>
              <a:rPr lang="en-CA" sz="1400" b="1" dirty="0"/>
              <a:t>quality control (QC)</a:t>
            </a:r>
            <a:r>
              <a:rPr lang="en-CA" sz="14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1400" dirty="0"/>
              <a:t>If data pass QC → standardize variable names → move to </a:t>
            </a:r>
            <a:r>
              <a:rPr lang="en-CA" sz="1400" b="1" dirty="0"/>
              <a:t>Good Data Pool</a:t>
            </a:r>
            <a:r>
              <a:rPr lang="en-CA" sz="14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1400" dirty="0"/>
              <a:t>If data fail QC → remain in </a:t>
            </a:r>
            <a:r>
              <a:rPr lang="en-CA" sz="1400" b="1" dirty="0"/>
              <a:t>PCDS raw pool</a:t>
            </a:r>
            <a:r>
              <a:rPr lang="en-CA" sz="1400" dirty="0"/>
              <a:t> for further review.</a:t>
            </a:r>
          </a:p>
          <a:p>
            <a:pPr>
              <a:buNone/>
            </a:pPr>
            <a:br>
              <a:rPr lang="en-CA" sz="1400" dirty="0"/>
            </a:br>
            <a:endParaRPr lang="en-CA" sz="1400" dirty="0"/>
          </a:p>
          <a:p>
            <a:pPr>
              <a:buNone/>
            </a:pPr>
            <a:r>
              <a:rPr lang="en-CA" sz="1400" b="1" dirty="0"/>
              <a:t>QC 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Option 1: Immediately after data import (recommended).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Option 2: Scheduled (e.g., daily or monthly batch QC).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To be determined based on operational needs.</a:t>
            </a:r>
          </a:p>
          <a:p>
            <a:pPr>
              <a:buNone/>
            </a:pPr>
            <a:br>
              <a:rPr lang="en-CA" sz="1400" dirty="0"/>
            </a:br>
            <a:endParaRPr lang="en-CA" sz="1400" dirty="0"/>
          </a:p>
          <a:p>
            <a:pPr>
              <a:buNone/>
            </a:pPr>
            <a:r>
              <a:rPr lang="en-CA" sz="1400" b="1" dirty="0"/>
              <a:t>Periodic Re-evaluation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Conduct regular scans of the </a:t>
            </a:r>
            <a:r>
              <a:rPr lang="en-CA" sz="1400" b="1" dirty="0"/>
              <a:t>PCDS raw pool</a:t>
            </a:r>
            <a:r>
              <a:rPr lang="en-CA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If previously flagged data become complete or consistent as new data arrive → move to </a:t>
            </a:r>
            <a:r>
              <a:rPr lang="en-CA" sz="1400" b="1" dirty="0"/>
              <a:t>Good Data Pool</a:t>
            </a:r>
            <a:r>
              <a:rPr lang="en-CA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7471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2704</TotalTime>
  <Words>316</Words>
  <Application>Microsoft Macintosh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Aptos Narrow</vt:lpstr>
      <vt:lpstr>Arial</vt:lpstr>
      <vt:lpstr>Helvetica Neue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 Li</dc:creator>
  <cp:lastModifiedBy>Tong Li</cp:lastModifiedBy>
  <cp:revision>2</cp:revision>
  <dcterms:created xsi:type="dcterms:W3CDTF">2026-02-18T23:39:10Z</dcterms:created>
  <dcterms:modified xsi:type="dcterms:W3CDTF">2026-02-25T17:56:05Z</dcterms:modified>
</cp:coreProperties>
</file>