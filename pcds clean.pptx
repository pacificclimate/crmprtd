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3"/>
    <p:restoredTop sz="94708"/>
  </p:normalViewPr>
  <p:slideViewPr>
    <p:cSldViewPr snapToGrid="0">
      <p:cViewPr varScale="1">
        <p:scale>
          <a:sx n="151" d="100"/>
          <a:sy n="151" d="100"/>
        </p:scale>
        <p:origin x="9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5D405-4FFC-6272-FC74-7F32FB8F9D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5E738A-B2EB-3771-8FEF-31CF1B5855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AD781-DC42-C1AB-2E77-AA42D3BEF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2A1A-B723-AA49-8B88-75E105055E6B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A963A6-D5E9-8AA5-1413-E660FE199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2AA97-8562-06BB-FDAE-DB569E447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46C54-5DB7-0149-9C95-B974900ED3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105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DBD55-56FC-ACF8-AB91-94542124D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6FB089-299C-B44D-F4C0-D22B099763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03717F-AF7E-D2AD-E6B0-9B2F85AE6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2A1A-B723-AA49-8B88-75E105055E6B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519CA1-A8E0-2457-CD63-A0B8915AC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402EA2-667A-B583-43CE-513B030B5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46C54-5DB7-0149-9C95-B974900ED3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957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9BCB5-0EE5-7A14-0AA4-ED31EFA1D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E79D79-09B1-11B1-87BC-5EE0A5292E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69D712-8462-A2E5-B069-9B126898E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2A1A-B723-AA49-8B88-75E105055E6B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14E04F-812E-C394-1A15-A20D06339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D3F5D1-F395-825B-035F-4FD7288AF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46C54-5DB7-0149-9C95-B974900ED3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100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17338-5896-4634-4371-D28309130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A8FBF7-F85B-3878-24C0-125141C6AA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9D5B76-9A5A-2856-4F40-848DC29F32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7A6E1E-BA48-6E79-9743-0C87B1C81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2A1A-B723-AA49-8B88-75E105055E6B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9D0046-70C6-D3CA-6012-2CB8BEAAD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5E54C9-342A-C339-B510-56E666CA9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46C54-5DB7-0149-9C95-B974900ED3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95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5BB18-2DBA-2F48-A6C0-9DB903EE3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2445B1-87FF-4853-54F3-60880C4FA6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BA776B-700E-68B4-6C8D-FC454EDC27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ECA4AF-8AE4-1EFD-2CF7-4AF819EB5D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ABAA01-D26F-9421-1AF3-48088F9B96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8EE782-0EBC-B0EB-C0E5-DF696789B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2A1A-B723-AA49-8B88-75E105055E6B}" type="datetimeFigureOut">
              <a:rPr lang="en-US" smtClean="0"/>
              <a:t>2/18/26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B99643A-2D93-1712-A2D3-7E439516C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BAE8AB0-84E8-C652-6517-32B483C43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46C54-5DB7-0149-9C95-B974900ED3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420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EE888-ED73-693B-5875-F98CDEE04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558BF0-2473-213A-5572-72728A6F8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2A1A-B723-AA49-8B88-75E105055E6B}" type="datetimeFigureOut">
              <a:rPr lang="en-US" smtClean="0"/>
              <a:t>2/18/26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3BF47C-C7D7-8180-1763-DE470A5B42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D066C7-0BBC-0942-DB05-2F7D3248D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46C54-5DB7-0149-9C95-B974900ED3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081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4DCE7E-5605-964B-19A5-B60F5AAEF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2A1A-B723-AA49-8B88-75E105055E6B}" type="datetimeFigureOut">
              <a:rPr lang="en-US" smtClean="0"/>
              <a:t>2/18/26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384D9B-CCC8-E652-22EB-64BEBB0B3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C9C7ED-592F-EB9B-F997-D2EFE1785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46C54-5DB7-0149-9C95-B974900ED3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4381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89791-5848-816E-D2E1-034D26FBE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C15143-A5A1-DF76-C070-B0CA9F6C86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91473C-A7D6-4109-9FF4-5A2D58EC9B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20DCD2-AE60-0203-AB01-77F5C77F7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2A1A-B723-AA49-8B88-75E105055E6B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F0539B-6851-5D2D-E1CB-A7D2716FF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C4781F-EB94-B385-D665-A39851A2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46C54-5DB7-0149-9C95-B974900ED3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3137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E85E6-BE6C-009E-04B4-88804E810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C7E6D6-70F4-F1AE-1FE2-7DD00F3287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1415E5-A001-6988-6CDD-132F42BDDB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EF18A5-FD73-1428-D1F3-F6CF322D78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2A1A-B723-AA49-8B88-75E105055E6B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EC00BD-1CBF-9B4A-FEAD-9BF7060A9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28E2E2-5486-ED57-6C16-8A5C071DC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46C54-5DB7-0149-9C95-B974900ED3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6502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CA670-8846-471D-86CB-DA0A6AB82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3BA21F-66A2-9FF9-BA9F-F3DE59B1E8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9EAF0-5399-14D1-5E58-A8BDDA5A0F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2A1A-B723-AA49-8B88-75E105055E6B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D9B7D-45F1-5E09-96DE-F8281CFE4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C20F0A-8FF2-133A-65DF-BA3D10D4A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46C54-5DB7-0149-9C95-B974900ED3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0414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52A9E0-E5A0-BC0F-53DD-86369C9BD2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840744-7E43-AEF3-BF4C-C3566DD97E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710C0A-6884-1CF5-EE44-8B04B7D33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2A1A-B723-AA49-8B88-75E105055E6B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9EAB0A-40D9-772C-8165-5D83C5C78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897FDF-D334-D299-962E-5A655D0A5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46C54-5DB7-0149-9C95-B974900ED3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038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50A6105-C07D-FBBF-1D1D-CBBEEAA28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EF5D36-6E52-3AA3-519A-44A8C50BA2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487E99-1780-A0B8-0C81-BEBE410602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A2A1A-B723-AA49-8B88-75E105055E6B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A60F15-5AEC-E57C-CE98-FEBAC91797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BD8ECC-9852-DC89-BC5D-C361EF1C84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E46C54-5DB7-0149-9C95-B974900ED3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037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n 3">
            <a:extLst>
              <a:ext uri="{FF2B5EF4-FFF2-40B4-BE49-F238E27FC236}">
                <a16:creationId xmlns:a16="http://schemas.microsoft.com/office/drawing/2014/main" id="{52503E49-B0E0-56BD-FA70-6983E73359DA}"/>
              </a:ext>
            </a:extLst>
          </p:cNvPr>
          <p:cNvSpPr/>
          <p:nvPr/>
        </p:nvSpPr>
        <p:spPr>
          <a:xfrm>
            <a:off x="973667" y="4285168"/>
            <a:ext cx="3344333" cy="558800"/>
          </a:xfrm>
          <a:prstGeom prst="can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PCDS raw pool</a:t>
            </a:r>
          </a:p>
        </p:txBody>
      </p:sp>
      <p:sp>
        <p:nvSpPr>
          <p:cNvPr id="5" name="Can 4">
            <a:extLst>
              <a:ext uri="{FF2B5EF4-FFF2-40B4-BE49-F238E27FC236}">
                <a16:creationId xmlns:a16="http://schemas.microsoft.com/office/drawing/2014/main" id="{A98C1822-293E-8CC8-43F1-74FFD3B477FC}"/>
              </a:ext>
            </a:extLst>
          </p:cNvPr>
          <p:cNvSpPr/>
          <p:nvPr/>
        </p:nvSpPr>
        <p:spPr>
          <a:xfrm>
            <a:off x="1502787" y="3073399"/>
            <a:ext cx="2286000" cy="668867"/>
          </a:xfrm>
          <a:prstGeom prst="can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Good data (original)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4282C1DC-D89B-9263-F50F-B53CD2705CEA}"/>
              </a:ext>
            </a:extLst>
          </p:cNvPr>
          <p:cNvSpPr/>
          <p:nvPr/>
        </p:nvSpPr>
        <p:spPr>
          <a:xfrm rot="5400000" flipH="1" flipV="1">
            <a:off x="2307119" y="2772831"/>
            <a:ext cx="601133" cy="220136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F15EE6-005A-CF4E-424B-507EF7216BCC}"/>
              </a:ext>
            </a:extLst>
          </p:cNvPr>
          <p:cNvSpPr txBox="1"/>
          <p:nvPr/>
        </p:nvSpPr>
        <p:spPr>
          <a:xfrm>
            <a:off x="224227" y="2532213"/>
            <a:ext cx="24215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Standardize </a:t>
            </a:r>
          </a:p>
          <a:p>
            <a:pPr algn="ctr"/>
            <a:r>
              <a:rPr lang="en-US" sz="1400" dirty="0"/>
              <a:t>(consistent </a:t>
            </a:r>
            <a:r>
              <a:rPr lang="en-US" sz="1400" dirty="0" err="1"/>
              <a:t>var_name</a:t>
            </a:r>
            <a:r>
              <a:rPr lang="en-US" sz="1400" dirty="0"/>
              <a:t> </a:t>
            </a:r>
            <a:r>
              <a:rPr lang="en-US" sz="1400" dirty="0" err="1"/>
              <a:t>etc</a:t>
            </a:r>
            <a:r>
              <a:rPr lang="en-US" sz="1400" dirty="0"/>
              <a:t>,…) </a:t>
            </a:r>
          </a:p>
        </p:txBody>
      </p:sp>
      <p:sp>
        <p:nvSpPr>
          <p:cNvPr id="8" name="Can 7">
            <a:extLst>
              <a:ext uri="{FF2B5EF4-FFF2-40B4-BE49-F238E27FC236}">
                <a16:creationId xmlns:a16="http://schemas.microsoft.com/office/drawing/2014/main" id="{B8A6EBAA-F2AF-1985-CC6B-3337E6D66409}"/>
              </a:ext>
            </a:extLst>
          </p:cNvPr>
          <p:cNvSpPr/>
          <p:nvPr/>
        </p:nvSpPr>
        <p:spPr>
          <a:xfrm>
            <a:off x="1502787" y="1895499"/>
            <a:ext cx="2286000" cy="668867"/>
          </a:xfrm>
          <a:prstGeom prst="can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Good data (purred)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E8577DBF-E8F4-80BB-A644-A12D58B83DF9}"/>
              </a:ext>
            </a:extLst>
          </p:cNvPr>
          <p:cNvSpPr/>
          <p:nvPr/>
        </p:nvSpPr>
        <p:spPr>
          <a:xfrm rot="5400000" flipH="1" flipV="1">
            <a:off x="2307119" y="3938031"/>
            <a:ext cx="601133" cy="220136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C0FC30-FA7D-11E5-6AF6-43A2EC5ACA33}"/>
              </a:ext>
            </a:extLst>
          </p:cNvPr>
          <p:cNvSpPr txBox="1"/>
          <p:nvPr/>
        </p:nvSpPr>
        <p:spPr>
          <a:xfrm>
            <a:off x="437754" y="3842267"/>
            <a:ext cx="173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Quality control (QC)</a:t>
            </a:r>
          </a:p>
        </p:txBody>
      </p:sp>
      <p:sp>
        <p:nvSpPr>
          <p:cNvPr id="13" name="Curved Left Arrow 12">
            <a:extLst>
              <a:ext uri="{FF2B5EF4-FFF2-40B4-BE49-F238E27FC236}">
                <a16:creationId xmlns:a16="http://schemas.microsoft.com/office/drawing/2014/main" id="{9CAA86E7-D2EF-67E4-DD4E-FD4F62693F22}"/>
              </a:ext>
            </a:extLst>
          </p:cNvPr>
          <p:cNvSpPr/>
          <p:nvPr/>
        </p:nvSpPr>
        <p:spPr>
          <a:xfrm>
            <a:off x="3837448" y="2295504"/>
            <a:ext cx="495346" cy="2047894"/>
          </a:xfrm>
          <a:prstGeom prst="curvedLef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Curved Left Arrow 8">
            <a:extLst>
              <a:ext uri="{FF2B5EF4-FFF2-40B4-BE49-F238E27FC236}">
                <a16:creationId xmlns:a16="http://schemas.microsoft.com/office/drawing/2014/main" id="{8CE59227-05A3-14EA-8596-64C5FC1A1487}"/>
              </a:ext>
            </a:extLst>
          </p:cNvPr>
          <p:cNvSpPr/>
          <p:nvPr/>
        </p:nvSpPr>
        <p:spPr>
          <a:xfrm>
            <a:off x="3790927" y="2295504"/>
            <a:ext cx="364066" cy="1277430"/>
          </a:xfrm>
          <a:prstGeom prst="curvedLef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F1A234-3331-3A88-43D8-CC7630A0358B}"/>
              </a:ext>
            </a:extLst>
          </p:cNvPr>
          <p:cNvSpPr txBox="1"/>
          <p:nvPr/>
        </p:nvSpPr>
        <p:spPr>
          <a:xfrm>
            <a:off x="4226869" y="3673500"/>
            <a:ext cx="304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?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4BA1CA-1295-4EF7-62E9-8E9F74BE3CA9}"/>
              </a:ext>
            </a:extLst>
          </p:cNvPr>
          <p:cNvSpPr txBox="1"/>
          <p:nvPr/>
        </p:nvSpPr>
        <p:spPr>
          <a:xfrm>
            <a:off x="4991144" y="1530395"/>
            <a:ext cx="6259007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CA" sz="1400" b="1" dirty="0"/>
              <a:t>When new data arrive:</a:t>
            </a:r>
            <a:endParaRPr lang="en-CA" sz="1400" dirty="0"/>
          </a:p>
          <a:p>
            <a:pPr marL="342900" indent="-342900">
              <a:buFont typeface="+mj-lt"/>
              <a:buAutoNum type="arabicPeriod"/>
            </a:pPr>
            <a:r>
              <a:rPr lang="en-CA" sz="1400" dirty="0"/>
              <a:t>Import into the </a:t>
            </a:r>
            <a:r>
              <a:rPr lang="en-CA" sz="1400" b="1" dirty="0"/>
              <a:t>PCDS raw pool</a:t>
            </a:r>
            <a:r>
              <a:rPr lang="en-CA" sz="1400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1400" dirty="0"/>
              <a:t>Perform </a:t>
            </a:r>
            <a:r>
              <a:rPr lang="en-CA" sz="1400" b="1" dirty="0"/>
              <a:t>quality control (QC)</a:t>
            </a:r>
            <a:r>
              <a:rPr lang="en-CA" sz="1400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1400" dirty="0"/>
              <a:t>If data pass QC → standardize variable names → move to </a:t>
            </a:r>
            <a:r>
              <a:rPr lang="en-CA" sz="1400" b="1" dirty="0"/>
              <a:t>Good Data Pool</a:t>
            </a:r>
            <a:r>
              <a:rPr lang="en-CA" sz="1400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1400" dirty="0"/>
              <a:t>If data fail QC → remain in </a:t>
            </a:r>
            <a:r>
              <a:rPr lang="en-CA" sz="1400" b="1" dirty="0"/>
              <a:t>PCDS raw pool</a:t>
            </a:r>
            <a:r>
              <a:rPr lang="en-CA" sz="1400" dirty="0"/>
              <a:t> for further review.</a:t>
            </a:r>
          </a:p>
          <a:p>
            <a:pPr>
              <a:buNone/>
            </a:pPr>
            <a:br>
              <a:rPr lang="en-CA" sz="1400" dirty="0"/>
            </a:br>
            <a:endParaRPr lang="en-CA" sz="1400" dirty="0"/>
          </a:p>
          <a:p>
            <a:pPr>
              <a:buNone/>
            </a:pPr>
            <a:r>
              <a:rPr lang="en-CA" sz="1400" b="1" dirty="0"/>
              <a:t>QC Frequency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/>
              <a:t>Option 1: Immediately after data import (recommended).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/>
              <a:t>Option 2: Scheduled (e.g., daily or monthly batch QC).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/>
              <a:t>To be determined based on operational needs.</a:t>
            </a:r>
          </a:p>
          <a:p>
            <a:pPr>
              <a:buNone/>
            </a:pPr>
            <a:br>
              <a:rPr lang="en-CA" sz="1400" dirty="0"/>
            </a:br>
            <a:endParaRPr lang="en-CA" sz="1400" dirty="0"/>
          </a:p>
          <a:p>
            <a:pPr>
              <a:buNone/>
            </a:pPr>
            <a:r>
              <a:rPr lang="en-CA" sz="1400" b="1" dirty="0"/>
              <a:t>Periodic Re-evaluation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/>
              <a:t>Conduct regular scans of the </a:t>
            </a:r>
            <a:r>
              <a:rPr lang="en-CA" sz="1400" b="1" dirty="0"/>
              <a:t>PCDS raw pool</a:t>
            </a:r>
            <a:r>
              <a:rPr lang="en-CA" sz="14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400" dirty="0"/>
              <a:t>If previously flagged data become complete or consistent as new data arrive → move to </a:t>
            </a:r>
            <a:r>
              <a:rPr lang="en-CA" sz="1400" b="1" dirty="0"/>
              <a:t>Good Data Pool</a:t>
            </a:r>
            <a:r>
              <a:rPr lang="en-CA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74715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141</Words>
  <Application>Microsoft Macintosh PowerPoint</Application>
  <PresentationFormat>Widescreen</PresentationFormat>
  <Paragraphs>21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Tong Li</dc:creator>
  <cp:lastModifiedBy>Tong Li</cp:lastModifiedBy>
  <cp:revision>1</cp:revision>
  <dcterms:created xsi:type="dcterms:W3CDTF">2026-02-18T23:39:10Z</dcterms:created>
  <dcterms:modified xsi:type="dcterms:W3CDTF">2026-02-19T01:17:27Z</dcterms:modified>
</cp:coreProperties>
</file>