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60" r:id="rId4"/>
    <p:sldId id="259" r:id="rId5"/>
    <p:sldId id="261" r:id="rId6"/>
    <p:sldId id="291" r:id="rId7"/>
    <p:sldId id="262" r:id="rId8"/>
    <p:sldId id="266" r:id="rId9"/>
    <p:sldId id="292" r:id="rId10"/>
    <p:sldId id="267" r:id="rId11"/>
    <p:sldId id="293" r:id="rId12"/>
    <p:sldId id="289" r:id="rId13"/>
    <p:sldId id="285" r:id="rId14"/>
    <p:sldId id="277" r:id="rId15"/>
    <p:sldId id="279" r:id="rId16"/>
    <p:sldId id="294" r:id="rId17"/>
    <p:sldId id="290" r:id="rId18"/>
    <p:sldId id="28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5"/>
    <p:restoredTop sz="94910"/>
  </p:normalViewPr>
  <p:slideViewPr>
    <p:cSldViewPr snapToGrid="0">
      <p:cViewPr>
        <p:scale>
          <a:sx n="175" d="100"/>
          <a:sy n="175" d="100"/>
        </p:scale>
        <p:origin x="144"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160F-FD50-24DF-7192-6AA437EBA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DE1F3B-CC91-36EE-B1C4-4D7C7BA20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5C12A6-0F05-150C-AB1C-7C32CF8278D0}"/>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D5E37672-18E6-C571-8B6E-89913857B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BED623-C83E-9DC1-291B-549212FC0AB3}"/>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49032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4483-B4FE-B0A5-F3F0-0CBC48AD1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F784EF-891A-E104-3C90-8358B1C5B2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3E143B-D67C-0704-E9B3-549AFDA10C6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AAAE3740-9BD6-3C81-D3B5-E34C184C1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83432A-AF05-ED58-4242-8054B6C6AD1F}"/>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85818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7AB33-E776-6A40-30A0-8FF2EC1E80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C333E3-DAD0-2CEB-53A2-4DCEE5C1C7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3E76BF-74F3-CDE6-4967-31AEF4676777}"/>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BD164D7C-677A-93C7-854D-BF59812F6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BE2FB6-04A6-CC2E-EF1E-79C0505D949A}"/>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606266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B7B5-7B62-1565-42EF-286D3EE04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6F65-239D-164E-7744-B6F48098B1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A1B912-7502-6B3F-FA8A-D51B9AE325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E147E2-A8A6-D4FD-3566-6EC93BBEA639}"/>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D718D69B-7AC2-F167-BE6A-166D5840C4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A4A2A-001C-4A54-A395-CF4DCBC82FE1}"/>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34056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BC2C-5883-96B1-F8B1-1C04BBA4B6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F60E68-1413-9F57-1AEE-245FDCF935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8B295E-DD12-269F-7479-538FA4B17A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5D2FB3-0B29-FD8F-0459-CD7AC41BF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AC49C-5C31-7F10-ACBC-A10A4A0DF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FE6424-5A78-6E27-07ED-0A853E8174C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8" name="Footer Placeholder 7">
            <a:extLst>
              <a:ext uri="{FF2B5EF4-FFF2-40B4-BE49-F238E27FC236}">
                <a16:creationId xmlns:a16="http://schemas.microsoft.com/office/drawing/2014/main" id="{95B53563-9431-A247-790E-5813606D82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CE18BF-BD64-9B75-DAB4-78EEFAA1C9C5}"/>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240361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F14A-01ED-EC28-AA9E-1642B3529A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BE407F-370A-6D83-CDA0-28F2231C8DE2}"/>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4" name="Footer Placeholder 3">
            <a:extLst>
              <a:ext uri="{FF2B5EF4-FFF2-40B4-BE49-F238E27FC236}">
                <a16:creationId xmlns:a16="http://schemas.microsoft.com/office/drawing/2014/main" id="{34125113-AE7A-7703-43C7-9A463AE7EA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DDF82-5E77-10AF-B4BE-0DD999A5AA04}"/>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518893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48696C-FC9A-B609-D2D5-66B6D836C9B7}"/>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3" name="Footer Placeholder 2">
            <a:extLst>
              <a:ext uri="{FF2B5EF4-FFF2-40B4-BE49-F238E27FC236}">
                <a16:creationId xmlns:a16="http://schemas.microsoft.com/office/drawing/2014/main" id="{F6CF0B62-A8FE-678D-9672-E22131EE18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DB47AC-FA52-7604-8F70-1DBAF0F814E1}"/>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906645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6B44-8E5C-CAB0-EC42-2ABA04CE0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7324D2-BF6E-C2E7-677D-B988981945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4032CC-C34E-857A-E18F-E0124B68A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ADE09-D706-759D-4ED8-CA19B5138A1E}"/>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F8DB5A6B-DBFB-B197-081C-0092A58BC2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E5D9B2-F57B-4A4C-8905-22841FDD716F}"/>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2828228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CE99-7EF6-CE62-A5A5-0411D8A60E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DF6F95-FCAF-8401-7F6B-470C4F6474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22F057-A4B9-5291-44AE-F578C27E8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E8E58-39BD-CE9B-7274-733AE50B3145}"/>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4A599A3E-7026-547F-1FDB-80D15DFCB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34B0F-D4FD-FB86-4D6C-A09EFF8055D6}"/>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50050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6E072-B6DA-CA94-B011-1E191ED551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61D191-8ACD-260A-1497-549C3A6CE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7A30D-2772-D747-ACA0-4C2BF9B4303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A2FCBFD7-89A2-598D-E3D0-3E6D50DF5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528797-058A-3173-23A4-4AB115294F63}"/>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2422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0B2702-022A-6B8B-5346-6D05BB39B9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21FF9D-BB7A-0646-583B-FB48439287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03075-F618-66BE-208B-19AE33F50E0B}"/>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18204D19-4FAA-5B5A-7499-6B47CD9A8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4FA1C5-2795-75DF-C46D-9218C1F37767}"/>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563205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1D8C55-F8F4-5ABC-73D1-846EAC3C67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CE7884-9B38-8F85-BBC4-E6EC1DEBFF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87157-3B02-219E-C584-DFC5B30388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F01D6E07-22EC-DDBB-F8B8-A0772D1B7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374727-039D-9CBB-7F15-3CB0BE3D5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A28471-6974-8644-B089-E80323218B00}" type="slidenum">
              <a:rPr lang="en-US" smtClean="0"/>
              <a:t>‹#›</a:t>
            </a:fld>
            <a:endParaRPr lang="en-US"/>
          </a:p>
        </p:txBody>
      </p:sp>
    </p:spTree>
    <p:extLst>
      <p:ext uri="{BB962C8B-B14F-4D97-AF65-F5344CB8AC3E}">
        <p14:creationId xmlns:p14="http://schemas.microsoft.com/office/powerpoint/2010/main" val="3200804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BF87-D243-8F8E-BC01-6807FDDEA7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3048F1-97A0-EAC5-3AB0-EA156E8B4C40}"/>
              </a:ext>
            </a:extLst>
          </p:cNvPr>
          <p:cNvSpPr txBox="1"/>
          <p:nvPr/>
        </p:nvSpPr>
        <p:spPr>
          <a:xfrm>
            <a:off x="494301" y="403174"/>
            <a:ext cx="11203397" cy="5950732"/>
          </a:xfrm>
          <a:prstGeom prst="rect">
            <a:avLst/>
          </a:prstGeom>
          <a:noFill/>
        </p:spPr>
        <p:txBody>
          <a:bodyPr wrap="square" rtlCol="0">
            <a:spAutoFit/>
          </a:bodyPr>
          <a:lstStyle/>
          <a:p>
            <a:r>
              <a:rPr lang="en-US" sz="2000" b="1" dirty="0"/>
              <a:t>Next step:</a:t>
            </a:r>
          </a:p>
          <a:p>
            <a:endParaRPr lang="en-US" sz="1600" dirty="0"/>
          </a:p>
          <a:p>
            <a:r>
              <a:rPr lang="en-US" sz="1600" dirty="0"/>
              <a:t>1. Clean items not explicitly noted under “ISSUE” on the test node (basically </a:t>
            </a:r>
            <a:r>
              <a:rPr lang="en-CA" sz="1600" dirty="0"/>
              <a:t>Attribution/ ID / Name / Location updates</a:t>
            </a:r>
            <a:r>
              <a:rPr lang="en-US" sz="1600" dirty="0"/>
              <a:t>).</a:t>
            </a:r>
          </a:p>
          <a:p>
            <a:pPr marL="342900" indent="-342900">
              <a:buAutoNum type="arabicPeriod"/>
            </a:pPr>
            <a:endParaRPr lang="en-US" sz="1600" dirty="0"/>
          </a:p>
          <a:p>
            <a:r>
              <a:rPr lang="en-US" sz="1600" dirty="0"/>
              <a:t>2. Update safe issues in the production node (I would follow this order, can start early next week):</a:t>
            </a:r>
          </a:p>
          <a:p>
            <a:pPr marL="800100" lvl="1" indent="-342900">
              <a:lnSpc>
                <a:spcPct val="150000"/>
              </a:lnSpc>
              <a:buFont typeface="+mj-lt"/>
              <a:buAutoNum type="arabicPeriod"/>
            </a:pPr>
            <a:r>
              <a:rPr lang="en-CA" sz="1600" dirty="0"/>
              <a:t>Attribution rename and new networks insert;</a:t>
            </a:r>
          </a:p>
          <a:p>
            <a:pPr marL="800100" lvl="1" indent="-342900">
              <a:lnSpc>
                <a:spcPct val="150000"/>
              </a:lnSpc>
              <a:buFont typeface="+mj-lt"/>
              <a:buAutoNum type="arabicPeriod"/>
            </a:pPr>
            <a:r>
              <a:rPr lang="en-CA" sz="1600" dirty="0"/>
              <a:t>Additional/ new stations insert;</a:t>
            </a:r>
          </a:p>
          <a:p>
            <a:pPr marL="800100" lvl="1" indent="-342900">
              <a:lnSpc>
                <a:spcPct val="150000"/>
              </a:lnSpc>
              <a:buFont typeface="+mj-lt"/>
              <a:buAutoNum type="arabicPeriod"/>
            </a:pPr>
            <a:r>
              <a:rPr lang="en-CA" sz="1600" dirty="0"/>
              <a:t>ID / Name / Location updates;</a:t>
            </a:r>
          </a:p>
          <a:p>
            <a:pPr marL="800100" lvl="1" indent="-342900">
              <a:lnSpc>
                <a:spcPct val="150000"/>
              </a:lnSpc>
              <a:buFont typeface="+mj-lt"/>
              <a:buAutoNum type="arabicPeriod"/>
            </a:pPr>
            <a:r>
              <a:rPr lang="en-CA" sz="1600" dirty="0"/>
              <a:t>Items not explicitly noted under “ISSUE” (should be all related with 3)</a:t>
            </a:r>
          </a:p>
          <a:p>
            <a:pPr marL="800100" lvl="1" indent="-342900">
              <a:lnSpc>
                <a:spcPct val="150000"/>
              </a:lnSpc>
              <a:buFont typeface="+mj-lt"/>
              <a:buAutoNum type="arabicPeriod"/>
            </a:pPr>
            <a:r>
              <a:rPr lang="en-CA" sz="1600" dirty="0"/>
              <a:t>Simple delete (according to station ID)</a:t>
            </a:r>
          </a:p>
          <a:p>
            <a:pPr marL="800100" lvl="1" indent="-342900">
              <a:lnSpc>
                <a:spcPct val="150000"/>
              </a:lnSpc>
              <a:buFont typeface="+mj-lt"/>
              <a:buAutoNum type="arabicPeriod"/>
            </a:pPr>
            <a:r>
              <a:rPr lang="en-CA" sz="1600" dirty="0"/>
              <a:t>The other issues have been solved</a:t>
            </a:r>
            <a:endParaRPr lang="en-CA" altLang="zh-CN" sz="1600" dirty="0"/>
          </a:p>
          <a:p>
            <a:pPr marL="0" lvl="1">
              <a:lnSpc>
                <a:spcPct val="150000"/>
              </a:lnSpc>
              <a:spcBef>
                <a:spcPts val="600"/>
              </a:spcBef>
              <a:spcAft>
                <a:spcPts val="600"/>
              </a:spcAft>
            </a:pPr>
            <a:r>
              <a:rPr lang="en-US" altLang="zh-CN" sz="1600" dirty="0"/>
              <a:t>3.</a:t>
            </a:r>
            <a:r>
              <a:rPr lang="zh-CN" altLang="en-US" sz="1600" dirty="0"/>
              <a:t> </a:t>
            </a:r>
            <a:r>
              <a:rPr lang="en-CA" altLang="zh-CN" sz="1600" dirty="0"/>
              <a:t>Get confirmation for the other issues (listed in the following pages), then </a:t>
            </a:r>
            <a:r>
              <a:rPr lang="en-US" altLang="zh-CN" sz="1600" dirty="0"/>
              <a:t>apply them to the production node.</a:t>
            </a:r>
            <a:endParaRPr lang="en-US" sz="1600" dirty="0"/>
          </a:p>
          <a:p>
            <a:pPr marL="0" lvl="1">
              <a:lnSpc>
                <a:spcPct val="150000"/>
              </a:lnSpc>
              <a:spcBef>
                <a:spcPts val="600"/>
              </a:spcBef>
              <a:spcAft>
                <a:spcPts val="600"/>
              </a:spcAft>
            </a:pPr>
            <a:r>
              <a:rPr lang="en-US" sz="1600" dirty="0"/>
              <a:t>4. The attribution update needs more thought, will deal with it after incorporating all other changes into production. Some thoughts discussed with John have been documented in the last two pages.</a:t>
            </a:r>
          </a:p>
          <a:p>
            <a:pPr marL="0" lvl="1">
              <a:lnSpc>
                <a:spcPct val="150000"/>
              </a:lnSpc>
              <a:spcBef>
                <a:spcPts val="600"/>
              </a:spcBef>
              <a:spcAft>
                <a:spcPts val="600"/>
              </a:spcAft>
            </a:pPr>
            <a:r>
              <a:rPr lang="en-US" sz="1600" dirty="0"/>
              <a:t>5. Mid-to-long term work: Checking the missing data condition, and giving updates.</a:t>
            </a:r>
          </a:p>
          <a:p>
            <a:pPr marL="285750" lvl="1" indent="-285750">
              <a:lnSpc>
                <a:spcPct val="150000"/>
              </a:lnSpc>
              <a:spcBef>
                <a:spcPts val="600"/>
              </a:spcBef>
              <a:spcAft>
                <a:spcPts val="600"/>
              </a:spcAft>
              <a:buFont typeface="Arial" panose="020B0604020202020204" pitchFamily="34" charset="0"/>
              <a:buChar char="•"/>
            </a:pPr>
            <a:r>
              <a:rPr lang="en-CA" sz="1600" dirty="0">
                <a:solidFill>
                  <a:srgbClr val="C00000"/>
                </a:solidFill>
              </a:rPr>
              <a:t>BC </a:t>
            </a:r>
            <a:r>
              <a:rPr lang="en-CA" sz="1600" dirty="0" err="1">
                <a:solidFill>
                  <a:srgbClr val="C00000"/>
                </a:solidFill>
              </a:rPr>
              <a:t>AGRIWeather</a:t>
            </a:r>
            <a:r>
              <a:rPr lang="en-CA" sz="1600" dirty="0">
                <a:solidFill>
                  <a:srgbClr val="C00000"/>
                </a:solidFill>
              </a:rPr>
              <a:t> update, Fern inserting</a:t>
            </a:r>
          </a:p>
        </p:txBody>
      </p:sp>
    </p:spTree>
    <p:extLst>
      <p:ext uri="{BB962C8B-B14F-4D97-AF65-F5344CB8AC3E}">
        <p14:creationId xmlns:p14="http://schemas.microsoft.com/office/powerpoint/2010/main" val="119485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E9B0-286D-F3D9-C0CC-0EB6BB5E2B15}"/>
              </a:ext>
            </a:extLst>
          </p:cNvPr>
          <p:cNvSpPr>
            <a:spLocks noGrp="1"/>
          </p:cNvSpPr>
          <p:nvPr>
            <p:ph type="title"/>
          </p:nvPr>
        </p:nvSpPr>
        <p:spPr>
          <a:xfrm>
            <a:off x="636181" y="907385"/>
            <a:ext cx="10515600" cy="1325563"/>
          </a:xfrm>
        </p:spPr>
        <p:txBody>
          <a:bodyPr>
            <a:normAutofit/>
          </a:bodyPr>
          <a:lstStyle/>
          <a:p>
            <a:r>
              <a:rPr lang="en-US" sz="2800" b="1" dirty="0"/>
              <a:t>Some issues need to be double-checked, or confirm about the decisions made</a:t>
            </a:r>
          </a:p>
        </p:txBody>
      </p:sp>
      <p:sp>
        <p:nvSpPr>
          <p:cNvPr id="4" name="TextBox 3">
            <a:extLst>
              <a:ext uri="{FF2B5EF4-FFF2-40B4-BE49-F238E27FC236}">
                <a16:creationId xmlns:a16="http://schemas.microsoft.com/office/drawing/2014/main" id="{B3EC0B43-D7E2-1750-AE2D-A744B3470427}"/>
              </a:ext>
            </a:extLst>
          </p:cNvPr>
          <p:cNvSpPr txBox="1"/>
          <p:nvPr/>
        </p:nvSpPr>
        <p:spPr>
          <a:xfrm>
            <a:off x="1117600" y="2887133"/>
            <a:ext cx="4924618" cy="2233753"/>
          </a:xfrm>
          <a:prstGeom prst="rect">
            <a:avLst/>
          </a:prstGeom>
          <a:noFill/>
        </p:spPr>
        <p:txBody>
          <a:bodyPr wrap="none" rtlCol="0">
            <a:spAutoFit/>
          </a:bodyPr>
          <a:lstStyle/>
          <a:p>
            <a:pPr>
              <a:lnSpc>
                <a:spcPct val="200000"/>
              </a:lnSpc>
            </a:pPr>
            <a:r>
              <a:rPr lang="en-US" dirty="0">
                <a:highlight>
                  <a:srgbClr val="FF00FF"/>
                </a:highlight>
              </a:rPr>
              <a:t>Purple</a:t>
            </a:r>
            <a:r>
              <a:rPr lang="en-US" dirty="0"/>
              <a:t>: Questions</a:t>
            </a:r>
          </a:p>
          <a:p>
            <a:pPr>
              <a:lnSpc>
                <a:spcPct val="200000"/>
              </a:lnSpc>
            </a:pPr>
            <a:r>
              <a:rPr lang="en-US" dirty="0">
                <a:highlight>
                  <a:srgbClr val="00FF00"/>
                </a:highlight>
              </a:rPr>
              <a:t>Green</a:t>
            </a:r>
            <a:r>
              <a:rPr lang="en-US" dirty="0"/>
              <a:t>: Feedback from Ted</a:t>
            </a:r>
          </a:p>
          <a:p>
            <a:pPr>
              <a:lnSpc>
                <a:spcPct val="200000"/>
              </a:lnSpc>
            </a:pPr>
            <a:r>
              <a:rPr lang="en-US" dirty="0">
                <a:highlight>
                  <a:srgbClr val="00FFFF"/>
                </a:highlight>
              </a:rPr>
              <a:t>Blue</a:t>
            </a:r>
            <a:r>
              <a:rPr lang="en-US" dirty="0"/>
              <a:t>: My post-meeting thoughts and action plan</a:t>
            </a:r>
          </a:p>
          <a:p>
            <a:pPr>
              <a:lnSpc>
                <a:spcPct val="200000"/>
              </a:lnSpc>
            </a:pPr>
            <a:r>
              <a:rPr lang="en-US" dirty="0">
                <a:solidFill>
                  <a:srgbClr val="FF0000"/>
                </a:solidFill>
                <a:highlight>
                  <a:srgbClr val="00FFFF"/>
                </a:highlight>
              </a:rPr>
              <a:t>Red sentences: </a:t>
            </a:r>
            <a:r>
              <a:rPr lang="en-US" dirty="0"/>
              <a:t>Need follow-up from Ted</a:t>
            </a:r>
          </a:p>
        </p:txBody>
      </p:sp>
    </p:spTree>
    <p:extLst>
      <p:ext uri="{BB962C8B-B14F-4D97-AF65-F5344CB8AC3E}">
        <p14:creationId xmlns:p14="http://schemas.microsoft.com/office/powerpoint/2010/main" val="138030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D710-7354-F91E-3853-FA204D560C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6FFBE-3957-C4B1-934B-212BBE01050A}"/>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(129 stations)</a:t>
            </a:r>
          </a:p>
        </p:txBody>
      </p:sp>
      <p:sp>
        <p:nvSpPr>
          <p:cNvPr id="7" name="TextBox 6">
            <a:extLst>
              <a:ext uri="{FF2B5EF4-FFF2-40B4-BE49-F238E27FC236}">
                <a16:creationId xmlns:a16="http://schemas.microsoft.com/office/drawing/2014/main" id="{8ADD6A02-5756-6E9B-24C3-24867F830368}"/>
              </a:ext>
            </a:extLst>
          </p:cNvPr>
          <p:cNvSpPr txBox="1"/>
          <p:nvPr/>
        </p:nvSpPr>
        <p:spPr>
          <a:xfrm>
            <a:off x="1058331" y="973667"/>
            <a:ext cx="10083801" cy="1231106"/>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I used the summarized information to update the </a:t>
            </a:r>
            <a:r>
              <a:rPr lang="en-US" sz="1600" b="1" dirty="0" err="1"/>
              <a:t>meta_station</a:t>
            </a:r>
            <a:r>
              <a:rPr lang="en-US" sz="1600" b="1" dirty="0"/>
              <a:t> </a:t>
            </a:r>
            <a:r>
              <a:rPr lang="en-US" sz="1600" dirty="0"/>
              <a:t>and </a:t>
            </a:r>
            <a:r>
              <a:rPr lang="en-US" sz="1600" b="1" dirty="0" err="1"/>
              <a:t>meta_history</a:t>
            </a:r>
            <a:r>
              <a:rPr lang="en-US" sz="1600" b="1" dirty="0"/>
              <a:t> </a:t>
            </a:r>
            <a:r>
              <a:rPr lang="en-US" sz="1600" dirty="0"/>
              <a:t>tables. </a:t>
            </a:r>
          </a:p>
          <a:p>
            <a:pPr marL="285750" indent="-285750">
              <a:spcBef>
                <a:spcPts val="600"/>
              </a:spcBef>
              <a:spcAft>
                <a:spcPts val="600"/>
              </a:spcAft>
              <a:buFont typeface="Arial" panose="020B0604020202020204" pitchFamily="34" charset="0"/>
              <a:buChar char="•"/>
            </a:pPr>
            <a:r>
              <a:rPr lang="en-US" sz="1600" dirty="0"/>
              <a:t>After comparing the information in the PCDS form with Ted’s spreadsheet, </a:t>
            </a:r>
            <a:r>
              <a:rPr lang="en-US" sz="1600" dirty="0">
                <a:highlight>
                  <a:srgbClr val="FF00FF"/>
                </a:highlight>
              </a:rPr>
              <a:t>I found 44 items that did not match. For these cases, I used the information from the PCDS form to insert the stations (see Sheet1_Addtional_mismatch_44items).</a:t>
            </a:r>
          </a:p>
        </p:txBody>
      </p:sp>
      <p:sp>
        <p:nvSpPr>
          <p:cNvPr id="2" name="TextBox 1">
            <a:extLst>
              <a:ext uri="{FF2B5EF4-FFF2-40B4-BE49-F238E27FC236}">
                <a16:creationId xmlns:a16="http://schemas.microsoft.com/office/drawing/2014/main" id="{C53DEDE0-0000-ED54-1769-E55D2840D460}"/>
              </a:ext>
            </a:extLst>
          </p:cNvPr>
          <p:cNvSpPr txBox="1"/>
          <p:nvPr/>
        </p:nvSpPr>
        <p:spPr>
          <a:xfrm>
            <a:off x="1235167" y="2511174"/>
            <a:ext cx="6695630" cy="923330"/>
          </a:xfrm>
          <a:prstGeom prst="rect">
            <a:avLst/>
          </a:prstGeom>
          <a:noFill/>
        </p:spPr>
        <p:txBody>
          <a:bodyPr wrap="square" rtlCol="0">
            <a:spAutoFit/>
          </a:bodyPr>
          <a:lstStyle/>
          <a:p>
            <a:r>
              <a:rPr lang="en-CA" dirty="0">
                <a:highlight>
                  <a:srgbClr val="00FF00"/>
                </a:highlight>
              </a:rPr>
              <a:t>EJW - I have noted the required changes.  Some have been made in my spreadsheet, others I still have questions about and am following up with MoF.  Corrected values are highlighted in green</a:t>
            </a:r>
          </a:p>
        </p:txBody>
      </p:sp>
      <p:sp>
        <p:nvSpPr>
          <p:cNvPr id="5" name="TextBox 4">
            <a:extLst>
              <a:ext uri="{FF2B5EF4-FFF2-40B4-BE49-F238E27FC236}">
                <a16:creationId xmlns:a16="http://schemas.microsoft.com/office/drawing/2014/main" id="{03D70C3D-2097-61A9-4F36-5C3CD8BBC16D}"/>
              </a:ext>
            </a:extLst>
          </p:cNvPr>
          <p:cNvSpPr txBox="1"/>
          <p:nvPr/>
        </p:nvSpPr>
        <p:spPr>
          <a:xfrm>
            <a:off x="1235167" y="3740905"/>
            <a:ext cx="9134265" cy="646331"/>
          </a:xfrm>
          <a:prstGeom prst="rect">
            <a:avLst/>
          </a:prstGeom>
          <a:noFill/>
        </p:spPr>
        <p:txBody>
          <a:bodyPr wrap="square" rtlCol="0">
            <a:spAutoFit/>
          </a:bodyPr>
          <a:lstStyle/>
          <a:p>
            <a:r>
              <a:rPr lang="en-US" dirty="0">
                <a:highlight>
                  <a:srgbClr val="00FFFF"/>
                </a:highlight>
              </a:rPr>
              <a:t>Double check Ted’s new summary sheet, incorporate the new change into next round, in the production knot</a:t>
            </a:r>
          </a:p>
        </p:txBody>
      </p:sp>
    </p:spTree>
    <p:extLst>
      <p:ext uri="{BB962C8B-B14F-4D97-AF65-F5344CB8AC3E}">
        <p14:creationId xmlns:p14="http://schemas.microsoft.com/office/powerpoint/2010/main" val="149828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411E-5774-7612-3E23-60E9B2AD6F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A36E40-7C26-74E5-C4B4-9015855605DB}"/>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b="1" dirty="0"/>
              <a:t>Concatenate</a:t>
            </a:r>
          </a:p>
        </p:txBody>
      </p:sp>
      <p:sp>
        <p:nvSpPr>
          <p:cNvPr id="5" name="TextBox 4">
            <a:extLst>
              <a:ext uri="{FF2B5EF4-FFF2-40B4-BE49-F238E27FC236}">
                <a16:creationId xmlns:a16="http://schemas.microsoft.com/office/drawing/2014/main" id="{20F55E8F-67FA-ED3D-9F6D-82D4BEEC906D}"/>
              </a:ext>
            </a:extLst>
          </p:cNvPr>
          <p:cNvSpPr txBox="1"/>
          <p:nvPr/>
        </p:nvSpPr>
        <p:spPr>
          <a:xfrm>
            <a:off x="418011" y="963930"/>
            <a:ext cx="9310779" cy="3139321"/>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Concatenate old stations to new ones based on </a:t>
            </a:r>
            <a:r>
              <a:rPr lang="en-US" sz="1600" dirty="0" err="1"/>
              <a:t>native_id</a:t>
            </a:r>
            <a:r>
              <a:rPr lang="en-US" sz="1600" dirty="0"/>
              <a:t>.</a:t>
            </a:r>
          </a:p>
          <a:p>
            <a:pPr marL="742950" lvl="1" indent="-285750">
              <a:spcBef>
                <a:spcPts val="600"/>
              </a:spcBef>
              <a:spcAft>
                <a:spcPts val="600"/>
              </a:spcAft>
              <a:buFont typeface="Arial" panose="020B0604020202020204" pitchFamily="34" charset="0"/>
              <a:buChar char="•"/>
            </a:pPr>
            <a:r>
              <a:rPr lang="en-US" sz="1600" dirty="0"/>
              <a:t>Checks before concatenation: overlaps by variable/time, identical data points.</a:t>
            </a:r>
          </a:p>
          <a:p>
            <a:pPr marL="742950" lvl="1" indent="-285750">
              <a:spcBef>
                <a:spcPts val="600"/>
              </a:spcBef>
              <a:spcAft>
                <a:spcPts val="600"/>
              </a:spcAft>
              <a:buFont typeface="Arial" panose="020B0604020202020204" pitchFamily="34" charset="0"/>
              <a:buChar char="•"/>
            </a:pPr>
            <a:r>
              <a:rPr lang="en-US" sz="1600" dirty="0"/>
              <a:t>Concatenation: update </a:t>
            </a:r>
            <a:r>
              <a:rPr lang="en-US" sz="1600" dirty="0" err="1"/>
              <a:t>history_id</a:t>
            </a:r>
            <a:r>
              <a:rPr lang="en-US" sz="1600" dirty="0"/>
              <a:t> for non-overlapping entries only.</a:t>
            </a:r>
          </a:p>
          <a:p>
            <a:pPr marL="285750" indent="-285750">
              <a:spcBef>
                <a:spcPts val="600"/>
              </a:spcBef>
              <a:spcAft>
                <a:spcPts val="600"/>
              </a:spcAft>
              <a:buFont typeface="Arial" panose="020B0604020202020204" pitchFamily="34" charset="0"/>
              <a:buChar char="•"/>
            </a:pPr>
            <a:r>
              <a:rPr lang="en-US" sz="1600" dirty="0">
                <a:highlight>
                  <a:srgbClr val="FF00FF"/>
                </a:highlight>
              </a:rPr>
              <a:t>Cannot concatenate: </a:t>
            </a:r>
            <a:r>
              <a:rPr lang="en-US" sz="1600" dirty="0" err="1">
                <a:highlight>
                  <a:srgbClr val="FF00FF"/>
                </a:highlight>
              </a:rPr>
              <a:t>new_native_id</a:t>
            </a:r>
            <a:r>
              <a:rPr lang="en-US" sz="1600" dirty="0">
                <a:highlight>
                  <a:srgbClr val="FF00FF"/>
                </a:highlight>
              </a:rPr>
              <a:t> 452, T035, 77, E271963, E238705, 543 missing in DB.</a:t>
            </a:r>
          </a:p>
          <a:p>
            <a:pPr marL="285750" indent="-285750">
              <a:spcBef>
                <a:spcPts val="600"/>
              </a:spcBef>
              <a:spcAft>
                <a:spcPts val="600"/>
              </a:spcAft>
              <a:buFont typeface="Arial" panose="020B0604020202020204" pitchFamily="34" charset="0"/>
              <a:buChar char="•"/>
            </a:pPr>
            <a:r>
              <a:rPr lang="en-US" sz="1600" dirty="0">
                <a:highlight>
                  <a:srgbClr val="FF00FF"/>
                </a:highlight>
              </a:rPr>
              <a:t>Seems old stations summarized in the table on the right have metadata but  no data records.</a:t>
            </a:r>
          </a:p>
          <a:p>
            <a:pPr marL="285750" indent="-285750">
              <a:spcBef>
                <a:spcPts val="600"/>
              </a:spcBef>
              <a:spcAft>
                <a:spcPts val="600"/>
              </a:spcAft>
              <a:buFont typeface="Arial" panose="020B0604020202020204" pitchFamily="34" charset="0"/>
              <a:buChar char="•"/>
            </a:pPr>
            <a:r>
              <a:rPr lang="en-US" sz="1600" dirty="0"/>
              <a:t>Next steps/questions:</a:t>
            </a:r>
          </a:p>
          <a:p>
            <a:pPr marL="742950" lvl="1" indent="-285750">
              <a:spcBef>
                <a:spcPts val="600"/>
              </a:spcBef>
              <a:spcAft>
                <a:spcPts val="600"/>
              </a:spcAft>
              <a:buFont typeface="Arial" panose="020B0604020202020204" pitchFamily="34" charset="0"/>
              <a:buChar char="•"/>
            </a:pPr>
            <a:r>
              <a:rPr lang="en-US" sz="1600" dirty="0">
                <a:highlight>
                  <a:srgbClr val="FF00FF"/>
                </a:highlight>
              </a:rPr>
              <a:t>Delete old stations after concatenation? </a:t>
            </a:r>
            <a:r>
              <a:rPr lang="en-US" sz="1600" dirty="0">
                <a:highlight>
                  <a:srgbClr val="00FFFF"/>
                </a:highlight>
              </a:rPr>
              <a:t>Yes, delete the old ones are the default option.</a:t>
            </a:r>
          </a:p>
          <a:p>
            <a:pPr marL="742950" lvl="1" indent="-285750">
              <a:spcBef>
                <a:spcPts val="600"/>
              </a:spcBef>
              <a:spcAft>
                <a:spcPts val="600"/>
              </a:spcAft>
              <a:buFont typeface="Arial" panose="020B0604020202020204" pitchFamily="34" charset="0"/>
              <a:buChar char="•"/>
            </a:pPr>
            <a:r>
              <a:rPr lang="en-US" sz="1600" dirty="0">
                <a:highlight>
                  <a:srgbClr val="FF00FF"/>
                </a:highlight>
              </a:rPr>
              <a:t>Update station names to the new </a:t>
            </a:r>
            <a:r>
              <a:rPr lang="en-US" sz="1600" dirty="0" err="1">
                <a:highlight>
                  <a:srgbClr val="FF00FF"/>
                </a:highlight>
              </a:rPr>
              <a:t>native_id</a:t>
            </a:r>
            <a:r>
              <a:rPr lang="en-US" sz="1600" dirty="0">
                <a:highlight>
                  <a:srgbClr val="FF00FF"/>
                </a:highlight>
              </a:rPr>
              <a:t> (new station)? </a:t>
            </a:r>
            <a:r>
              <a:rPr lang="en-US" sz="1600" dirty="0">
                <a:highlight>
                  <a:srgbClr val="00FFFF"/>
                </a:highlight>
              </a:rPr>
              <a:t>Yes</a:t>
            </a:r>
          </a:p>
        </p:txBody>
      </p:sp>
      <p:graphicFrame>
        <p:nvGraphicFramePr>
          <p:cNvPr id="3" name="Table 2">
            <a:extLst>
              <a:ext uri="{FF2B5EF4-FFF2-40B4-BE49-F238E27FC236}">
                <a16:creationId xmlns:a16="http://schemas.microsoft.com/office/drawing/2014/main" id="{21D1C7C6-3474-5FEA-C84B-51EAF5376638}"/>
              </a:ext>
            </a:extLst>
          </p:cNvPr>
          <p:cNvGraphicFramePr>
            <a:graphicFrameLocks noGrp="1"/>
          </p:cNvGraphicFramePr>
          <p:nvPr>
            <p:extLst>
              <p:ext uri="{D42A27DB-BD31-4B8C-83A1-F6EECF244321}">
                <p14:modId xmlns:p14="http://schemas.microsoft.com/office/powerpoint/2010/main" val="4159192628"/>
              </p:ext>
            </p:extLst>
          </p:nvPr>
        </p:nvGraphicFramePr>
        <p:xfrm>
          <a:off x="682078" y="4399915"/>
          <a:ext cx="4391322" cy="213360"/>
        </p:xfrm>
        <a:graphic>
          <a:graphicData uri="http://schemas.openxmlformats.org/drawingml/2006/table">
            <a:tbl>
              <a:tblPr>
                <a:tableStyleId>{5C22544A-7EE6-4342-B048-85BDC9FD1C3A}</a:tableStyleId>
              </a:tblPr>
              <a:tblGrid>
                <a:gridCol w="4391322">
                  <a:extLst>
                    <a:ext uri="{9D8B030D-6E8A-4147-A177-3AD203B41FA5}">
                      <a16:colId xmlns:a16="http://schemas.microsoft.com/office/drawing/2014/main" val="3759877344"/>
                    </a:ext>
                  </a:extLst>
                </a:gridCol>
              </a:tblGrid>
              <a:tr h="180975">
                <a:tc>
                  <a:txBody>
                    <a:bodyPr/>
                    <a:lstStyle/>
                    <a:p>
                      <a:pPr algn="l" fontAlgn="b">
                        <a:buNone/>
                      </a:pPr>
                      <a:r>
                        <a:rPr lang="en-CA" sz="1400" u="none" strike="noStrike" dirty="0">
                          <a:solidFill>
                            <a:srgbClr val="FF0000"/>
                          </a:solidFill>
                          <a:effectLst/>
                        </a:rPr>
                        <a:t>M102038 -&gt; 60 -&gt; 294; </a:t>
                      </a:r>
                      <a:r>
                        <a:rPr lang="en-US" sz="1400" dirty="0">
                          <a:highlight>
                            <a:srgbClr val="00FFFF"/>
                          </a:highlight>
                        </a:rPr>
                        <a:t>Combining these three stations; </a:t>
                      </a:r>
                      <a:endParaRPr lang="en-CA" sz="1400" b="1" i="0" u="none" strike="noStrike" dirty="0">
                        <a:solidFill>
                          <a:srgbClr val="FF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69781576"/>
                  </a:ext>
                </a:extLst>
              </a:tr>
            </a:tbl>
          </a:graphicData>
        </a:graphic>
      </p:graphicFrame>
      <p:graphicFrame>
        <p:nvGraphicFramePr>
          <p:cNvPr id="4" name="Table 3">
            <a:extLst>
              <a:ext uri="{FF2B5EF4-FFF2-40B4-BE49-F238E27FC236}">
                <a16:creationId xmlns:a16="http://schemas.microsoft.com/office/drawing/2014/main" id="{F977889B-89D7-B803-0D5A-76D544644568}"/>
              </a:ext>
            </a:extLst>
          </p:cNvPr>
          <p:cNvGraphicFramePr>
            <a:graphicFrameLocks noGrp="1"/>
          </p:cNvGraphicFramePr>
          <p:nvPr>
            <p:extLst>
              <p:ext uri="{D42A27DB-BD31-4B8C-83A1-F6EECF244321}">
                <p14:modId xmlns:p14="http://schemas.microsoft.com/office/powerpoint/2010/main" val="1040102452"/>
              </p:ext>
            </p:extLst>
          </p:nvPr>
        </p:nvGraphicFramePr>
        <p:xfrm>
          <a:off x="682078" y="4735088"/>
          <a:ext cx="4291566" cy="213360"/>
        </p:xfrm>
        <a:graphic>
          <a:graphicData uri="http://schemas.openxmlformats.org/drawingml/2006/table">
            <a:tbl>
              <a:tblPr>
                <a:tableStyleId>{5C22544A-7EE6-4342-B048-85BDC9FD1C3A}</a:tableStyleId>
              </a:tblPr>
              <a:tblGrid>
                <a:gridCol w="4291566">
                  <a:extLst>
                    <a:ext uri="{9D8B030D-6E8A-4147-A177-3AD203B41FA5}">
                      <a16:colId xmlns:a16="http://schemas.microsoft.com/office/drawing/2014/main" val="2747523739"/>
                    </a:ext>
                  </a:extLst>
                </a:gridCol>
              </a:tblGrid>
              <a:tr h="1809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400" u="none" strike="noStrike" dirty="0">
                          <a:solidFill>
                            <a:srgbClr val="FF0000"/>
                          </a:solidFill>
                          <a:effectLst/>
                        </a:rPr>
                        <a:t>Kamloops Federal Building -?&gt; 267; </a:t>
                      </a:r>
                      <a:r>
                        <a:rPr lang="en-US" sz="1400" dirty="0">
                          <a:highlight>
                            <a:srgbClr val="00FFFF"/>
                          </a:highlight>
                        </a:rPr>
                        <a:t>neglect -?&gt;</a:t>
                      </a:r>
                    </a:p>
                  </a:txBody>
                  <a:tcPr marL="0" marR="0" marT="0" marB="0" anchor="b"/>
                </a:tc>
                <a:extLst>
                  <a:ext uri="{0D108BD9-81ED-4DB2-BD59-A6C34878D82A}">
                    <a16:rowId xmlns:a16="http://schemas.microsoft.com/office/drawing/2014/main" val="2428362422"/>
                  </a:ext>
                </a:extLst>
              </a:tr>
            </a:tbl>
          </a:graphicData>
        </a:graphic>
      </p:graphicFrame>
      <p:sp>
        <p:nvSpPr>
          <p:cNvPr id="13" name="TextBox 12">
            <a:extLst>
              <a:ext uri="{FF2B5EF4-FFF2-40B4-BE49-F238E27FC236}">
                <a16:creationId xmlns:a16="http://schemas.microsoft.com/office/drawing/2014/main" id="{E5218B02-AA2E-ADF4-6337-475C4CFCB370}"/>
              </a:ext>
            </a:extLst>
          </p:cNvPr>
          <p:cNvSpPr txBox="1"/>
          <p:nvPr/>
        </p:nvSpPr>
        <p:spPr>
          <a:xfrm>
            <a:off x="8863868" y="2071925"/>
            <a:ext cx="864922" cy="923330"/>
          </a:xfrm>
          <a:prstGeom prst="rect">
            <a:avLst/>
          </a:prstGeom>
          <a:noFill/>
        </p:spPr>
        <p:txBody>
          <a:bodyPr wrap="square" rtlCol="0">
            <a:spAutoFit/>
          </a:bodyPr>
          <a:lstStyle/>
          <a:p>
            <a:r>
              <a:rPr lang="en-US" dirty="0">
                <a:highlight>
                  <a:srgbClr val="00FFFF"/>
                </a:highlight>
              </a:rPr>
              <a:t>See next page</a:t>
            </a:r>
          </a:p>
        </p:txBody>
      </p:sp>
    </p:spTree>
    <p:extLst>
      <p:ext uri="{BB962C8B-B14F-4D97-AF65-F5344CB8AC3E}">
        <p14:creationId xmlns:p14="http://schemas.microsoft.com/office/powerpoint/2010/main" val="698270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554346-9EB5-2F4C-9638-A2112C6CB576}"/>
              </a:ext>
            </a:extLst>
          </p:cNvPr>
          <p:cNvSpPr txBox="1"/>
          <p:nvPr/>
        </p:nvSpPr>
        <p:spPr>
          <a:xfrm>
            <a:off x="142286" y="622628"/>
            <a:ext cx="6964992" cy="1600438"/>
          </a:xfrm>
          <a:prstGeom prst="rect">
            <a:avLst/>
          </a:prstGeom>
          <a:noFill/>
        </p:spPr>
        <p:txBody>
          <a:bodyPr wrap="square" rtlCol="0">
            <a:spAutoFit/>
          </a:bodyPr>
          <a:lstStyle/>
          <a:p>
            <a:pPr marL="285750" indent="-285750">
              <a:buFont typeface="Arial" panose="020B0604020202020204" pitchFamily="34" charset="0"/>
              <a:buChar char="•"/>
            </a:pPr>
            <a:r>
              <a:rPr lang="en-CA" sz="1400" dirty="0">
                <a:highlight>
                  <a:srgbClr val="00FF00"/>
                </a:highlight>
              </a:rPr>
              <a:t>452 and 543 – likely crappy data – delete from the record for now, if data is recoverable over the long term they will be added to ENV’s database.</a:t>
            </a:r>
          </a:p>
          <a:p>
            <a:pPr marL="285750" indent="-285750">
              <a:buFont typeface="Arial" panose="020B0604020202020204" pitchFamily="34" charset="0"/>
              <a:buChar char="•"/>
            </a:pPr>
            <a:r>
              <a:rPr lang="en-CA" sz="1400" dirty="0">
                <a:highlight>
                  <a:srgbClr val="00FF00"/>
                </a:highlight>
              </a:rPr>
              <a:t>T035 – If no data, seek download from MVRD-AIR rep.  This is likely a good idea for this station anyway as M104271 and </a:t>
            </a:r>
            <a:r>
              <a:rPr lang="en-CA" sz="1400" dirty="0" err="1">
                <a:highlight>
                  <a:srgbClr val="00FF00"/>
                </a:highlight>
              </a:rPr>
              <a:t>Horeshoe</a:t>
            </a:r>
            <a:r>
              <a:rPr lang="en-CA" sz="1400" dirty="0">
                <a:highlight>
                  <a:srgbClr val="00FF00"/>
                </a:highlight>
              </a:rPr>
              <a:t> Bay look like they had partial records</a:t>
            </a:r>
          </a:p>
          <a:p>
            <a:pPr marL="285750" indent="-285750">
              <a:buFont typeface="Arial" panose="020B0604020202020204" pitchFamily="34" charset="0"/>
              <a:buChar char="•"/>
            </a:pPr>
            <a:r>
              <a:rPr lang="en-CA" sz="1400" dirty="0">
                <a:highlight>
                  <a:srgbClr val="00FF00"/>
                </a:highlight>
              </a:rPr>
              <a:t>I don’t see a 77 in the data sheet I gave you.</a:t>
            </a:r>
          </a:p>
          <a:p>
            <a:pPr marL="285750" indent="-285750">
              <a:buFont typeface="Arial" panose="020B0604020202020204" pitchFamily="34" charset="0"/>
              <a:buChar char="•"/>
            </a:pPr>
            <a:r>
              <a:rPr lang="en-CA" sz="1400" dirty="0">
                <a:highlight>
                  <a:srgbClr val="00FF00"/>
                </a:highlight>
              </a:rPr>
              <a:t>E271963 is Powell River  James Thomson School – has met data</a:t>
            </a:r>
          </a:p>
          <a:p>
            <a:pPr marL="285750" indent="-285750">
              <a:buFont typeface="Arial" panose="020B0604020202020204" pitchFamily="34" charset="0"/>
              <a:buChar char="•"/>
            </a:pPr>
            <a:r>
              <a:rPr lang="en-CA" sz="1400" dirty="0">
                <a:highlight>
                  <a:srgbClr val="00FF00"/>
                </a:highlight>
              </a:rPr>
              <a:t>E238705 is Powell River Pacifica – has met data.</a:t>
            </a:r>
          </a:p>
        </p:txBody>
      </p:sp>
      <p:sp>
        <p:nvSpPr>
          <p:cNvPr id="5" name="TextBox 4">
            <a:extLst>
              <a:ext uri="{FF2B5EF4-FFF2-40B4-BE49-F238E27FC236}">
                <a16:creationId xmlns:a16="http://schemas.microsoft.com/office/drawing/2014/main" id="{DF30096F-5E7D-460E-4C62-F5D60238C97D}"/>
              </a:ext>
            </a:extLst>
          </p:cNvPr>
          <p:cNvSpPr txBox="1"/>
          <p:nvPr/>
        </p:nvSpPr>
        <p:spPr>
          <a:xfrm>
            <a:off x="438089" y="3742382"/>
            <a:ext cx="6097771" cy="2862322"/>
          </a:xfrm>
          <a:prstGeom prst="rect">
            <a:avLst/>
          </a:prstGeom>
          <a:noFill/>
        </p:spPr>
        <p:txBody>
          <a:bodyPr wrap="square" rtlCol="0">
            <a:spAutoFit/>
          </a:bodyPr>
          <a:lstStyle/>
          <a:p>
            <a:pPr marL="171450" indent="-171450">
              <a:buFont typeface="Arial" panose="020B0604020202020204" pitchFamily="34" charset="0"/>
              <a:buChar char="•"/>
            </a:pPr>
            <a:r>
              <a:rPr lang="en-CA" sz="1200" dirty="0">
                <a:highlight>
                  <a:srgbClr val="00FF00"/>
                </a:highlight>
              </a:rPr>
              <a:t>Pine River Gas Plant_60: contains met data – Time issues – Tree growth around the site</a:t>
            </a:r>
          </a:p>
          <a:p>
            <a:pPr marL="171450" indent="-171450">
              <a:buFont typeface="Arial" panose="020B0604020202020204" pitchFamily="34" charset="0"/>
              <a:buChar char="•"/>
            </a:pPr>
            <a:r>
              <a:rPr lang="en-CA" sz="1200" dirty="0">
                <a:highlight>
                  <a:srgbClr val="00FF00"/>
                </a:highlight>
              </a:rPr>
              <a:t>M102038 </a:t>
            </a:r>
            <a:r>
              <a:rPr lang="en-CA" sz="1200" dirty="0" err="1">
                <a:highlight>
                  <a:srgbClr val="00FF00"/>
                </a:highlight>
              </a:rPr>
              <a:t>Harmac</a:t>
            </a:r>
            <a:r>
              <a:rPr lang="en-CA" sz="1200" dirty="0">
                <a:highlight>
                  <a:srgbClr val="00FF00"/>
                </a:highlight>
              </a:rPr>
              <a:t> Pacific Met_60: contains met data</a:t>
            </a:r>
          </a:p>
          <a:p>
            <a:pPr marL="171450" indent="-171450">
              <a:buFont typeface="Arial" panose="020B0604020202020204" pitchFamily="34" charset="0"/>
              <a:buChar char="•"/>
            </a:pPr>
            <a:r>
              <a:rPr lang="en-CA" sz="1200" dirty="0" err="1">
                <a:highlight>
                  <a:srgbClr val="00FF00"/>
                </a:highlight>
              </a:rPr>
              <a:t>Birchbank</a:t>
            </a:r>
            <a:r>
              <a:rPr lang="en-CA" sz="1200" dirty="0">
                <a:highlight>
                  <a:srgbClr val="00FF00"/>
                </a:highlight>
              </a:rPr>
              <a:t> Golf Course_60: contains met data</a:t>
            </a:r>
          </a:p>
          <a:p>
            <a:pPr marL="171450" indent="-171450">
              <a:buFont typeface="Arial" panose="020B0604020202020204" pitchFamily="34" charset="0"/>
              <a:buChar char="•"/>
            </a:pPr>
            <a:r>
              <a:rPr lang="en-CA" sz="1200" dirty="0">
                <a:highlight>
                  <a:srgbClr val="00FF00"/>
                </a:highlight>
              </a:rPr>
              <a:t>Burns Lake Fire Center_60: contains met data</a:t>
            </a:r>
          </a:p>
          <a:p>
            <a:pPr marL="171450" indent="-171450">
              <a:buFont typeface="Arial" panose="020B0604020202020204" pitchFamily="34" charset="0"/>
              <a:buChar char="•"/>
            </a:pPr>
            <a:r>
              <a:rPr lang="en-CA" sz="1200" dirty="0">
                <a:highlight>
                  <a:srgbClr val="00FF00"/>
                </a:highlight>
              </a:rPr>
              <a:t>Courtenay Elementary School: contains met data</a:t>
            </a:r>
          </a:p>
          <a:p>
            <a:pPr marL="171450" indent="-171450">
              <a:buFont typeface="Arial" panose="020B0604020202020204" pitchFamily="34" charset="0"/>
              <a:buChar char="•"/>
            </a:pPr>
            <a:r>
              <a:rPr lang="en-CA" sz="1200" b="1" dirty="0">
                <a:highlight>
                  <a:srgbClr val="00FF00"/>
                </a:highlight>
              </a:rPr>
              <a:t>Delete from list: </a:t>
            </a:r>
            <a:r>
              <a:rPr lang="en-CA" sz="1200" dirty="0" err="1">
                <a:highlight>
                  <a:srgbClr val="00FF00"/>
                </a:highlight>
              </a:rPr>
              <a:t>Harmac</a:t>
            </a:r>
            <a:r>
              <a:rPr lang="en-CA" sz="1200" dirty="0">
                <a:highlight>
                  <a:srgbClr val="00FF00"/>
                </a:highlight>
              </a:rPr>
              <a:t> Pacific: no met data, only TRS and Trail Columbia Gardens Airport: only TRS, met data are available in Trail Columbia Gardens Airport_60 (E237758) for this site</a:t>
            </a:r>
          </a:p>
          <a:p>
            <a:pPr marL="171450" indent="-171450">
              <a:buFont typeface="Arial" panose="020B0604020202020204" pitchFamily="34" charset="0"/>
              <a:buChar char="•"/>
            </a:pPr>
            <a:r>
              <a:rPr lang="en-CA" sz="1200" dirty="0">
                <a:highlight>
                  <a:srgbClr val="00FF00"/>
                </a:highlight>
              </a:rPr>
              <a:t>PG </a:t>
            </a:r>
            <a:r>
              <a:rPr lang="en-CA" sz="1200" dirty="0" err="1">
                <a:highlight>
                  <a:srgbClr val="00FF00"/>
                </a:highlight>
              </a:rPr>
              <a:t>Marsulex</a:t>
            </a:r>
            <a:r>
              <a:rPr lang="en-CA" sz="1200" dirty="0">
                <a:highlight>
                  <a:srgbClr val="00FF00"/>
                </a:highlight>
              </a:rPr>
              <a:t>: PG </a:t>
            </a:r>
            <a:r>
              <a:rPr lang="en-CA" sz="1200" dirty="0" err="1">
                <a:highlight>
                  <a:srgbClr val="00FF00"/>
                </a:highlight>
              </a:rPr>
              <a:t>Marsulex</a:t>
            </a:r>
            <a:r>
              <a:rPr lang="en-CA" sz="1200" dirty="0">
                <a:highlight>
                  <a:srgbClr val="00FF00"/>
                </a:highlight>
              </a:rPr>
              <a:t> Met_60 (E278829) contains met data, </a:t>
            </a:r>
          </a:p>
          <a:p>
            <a:pPr marL="171450" indent="-171450">
              <a:buFont typeface="Arial" panose="020B0604020202020204" pitchFamily="34" charset="0"/>
              <a:buChar char="•"/>
            </a:pPr>
            <a:r>
              <a:rPr lang="en-CA" sz="1200" b="1" dirty="0">
                <a:highlight>
                  <a:srgbClr val="00FF00"/>
                </a:highlight>
              </a:rPr>
              <a:t>Delete: </a:t>
            </a:r>
            <a:r>
              <a:rPr lang="en-CA" sz="1200" dirty="0">
                <a:highlight>
                  <a:srgbClr val="00FF00"/>
                </a:highlight>
              </a:rPr>
              <a:t>Prince George </a:t>
            </a:r>
            <a:r>
              <a:rPr lang="en-CA" sz="1200" dirty="0" err="1">
                <a:highlight>
                  <a:srgbClr val="00FF00"/>
                </a:highlight>
              </a:rPr>
              <a:t>Marsulex</a:t>
            </a:r>
            <a:r>
              <a:rPr lang="en-CA" sz="1200" dirty="0">
                <a:highlight>
                  <a:srgbClr val="00FF00"/>
                </a:highlight>
              </a:rPr>
              <a:t> Acid Plant (E270963) only contains SO2 data</a:t>
            </a:r>
          </a:p>
          <a:p>
            <a:pPr marL="171450" indent="-171450">
              <a:buFont typeface="Arial" panose="020B0604020202020204" pitchFamily="34" charset="0"/>
              <a:buChar char="•"/>
            </a:pPr>
            <a:r>
              <a:rPr lang="en-CA" sz="1200" dirty="0">
                <a:highlight>
                  <a:srgbClr val="00FF00"/>
                </a:highlight>
              </a:rPr>
              <a:t>Prince Rupert Roosevelt Park School Met_60 (E288469): contains met data – some concerns about quality</a:t>
            </a:r>
          </a:p>
          <a:p>
            <a:pPr marL="171450" indent="-171450">
              <a:buFont typeface="Arial" panose="020B0604020202020204" pitchFamily="34" charset="0"/>
              <a:buChar char="•"/>
            </a:pPr>
            <a:r>
              <a:rPr lang="en-CA" sz="1200" dirty="0" err="1">
                <a:highlight>
                  <a:srgbClr val="00FF00"/>
                </a:highlight>
              </a:rPr>
              <a:t>Valemount</a:t>
            </a:r>
            <a:r>
              <a:rPr lang="en-CA" sz="1200" dirty="0">
                <a:highlight>
                  <a:srgbClr val="00FF00"/>
                </a:highlight>
              </a:rPr>
              <a:t> Met_60: contains met data</a:t>
            </a:r>
          </a:p>
          <a:p>
            <a:pPr marL="171450" indent="-171450">
              <a:buFont typeface="Arial" panose="020B0604020202020204" pitchFamily="34" charset="0"/>
              <a:buChar char="•"/>
            </a:pPr>
            <a:r>
              <a:rPr lang="en-CA" sz="1200" dirty="0">
                <a:highlight>
                  <a:srgbClr val="00FF00"/>
                </a:highlight>
              </a:rPr>
              <a:t>E237758 Trail Columbia Gardens Airport_60: contains met data</a:t>
            </a:r>
          </a:p>
          <a:p>
            <a:endParaRPr lang="en-CA" sz="1200" dirty="0">
              <a:highlight>
                <a:srgbClr val="00FF00"/>
              </a:highlight>
            </a:endParaRPr>
          </a:p>
        </p:txBody>
      </p:sp>
      <p:sp>
        <p:nvSpPr>
          <p:cNvPr id="7" name="TextBox 6">
            <a:extLst>
              <a:ext uri="{FF2B5EF4-FFF2-40B4-BE49-F238E27FC236}">
                <a16:creationId xmlns:a16="http://schemas.microsoft.com/office/drawing/2014/main" id="{30573EE4-8EA3-1A61-8ECB-363C6D1A25B6}"/>
              </a:ext>
            </a:extLst>
          </p:cNvPr>
          <p:cNvSpPr txBox="1"/>
          <p:nvPr/>
        </p:nvSpPr>
        <p:spPr>
          <a:xfrm>
            <a:off x="505824" y="253296"/>
            <a:ext cx="4495461" cy="369332"/>
          </a:xfrm>
          <a:prstGeom prst="rect">
            <a:avLst/>
          </a:prstGeom>
          <a:noFill/>
        </p:spPr>
        <p:txBody>
          <a:bodyPr wrap="none" rtlCol="0">
            <a:spAutoFit/>
          </a:bodyPr>
          <a:lstStyle/>
          <a:p>
            <a:r>
              <a:rPr lang="en-US" dirty="0">
                <a:highlight>
                  <a:srgbClr val="FF00FF"/>
                </a:highlight>
              </a:rPr>
              <a:t>These new stations are missing in the PCDS</a:t>
            </a:r>
          </a:p>
        </p:txBody>
      </p:sp>
      <p:sp>
        <p:nvSpPr>
          <p:cNvPr id="9" name="TextBox 8">
            <a:extLst>
              <a:ext uri="{FF2B5EF4-FFF2-40B4-BE49-F238E27FC236}">
                <a16:creationId xmlns:a16="http://schemas.microsoft.com/office/drawing/2014/main" id="{E741AF6F-F359-397F-34ED-99F3CFAEF759}"/>
              </a:ext>
            </a:extLst>
          </p:cNvPr>
          <p:cNvSpPr txBox="1"/>
          <p:nvPr/>
        </p:nvSpPr>
        <p:spPr>
          <a:xfrm>
            <a:off x="333645" y="3264823"/>
            <a:ext cx="6097772" cy="369332"/>
          </a:xfrm>
          <a:prstGeom prst="rect">
            <a:avLst/>
          </a:prstGeom>
          <a:noFill/>
        </p:spPr>
        <p:txBody>
          <a:bodyPr wrap="square">
            <a:spAutoFit/>
          </a:bodyPr>
          <a:lstStyle/>
          <a:p>
            <a:pPr>
              <a:spcBef>
                <a:spcPts val="600"/>
              </a:spcBef>
              <a:spcAft>
                <a:spcPts val="600"/>
              </a:spcAft>
            </a:pPr>
            <a:r>
              <a:rPr lang="en-US" sz="1800" dirty="0">
                <a:highlight>
                  <a:srgbClr val="FF00FF"/>
                </a:highlight>
              </a:rPr>
              <a:t>This old stations have metadata but  no data records.</a:t>
            </a:r>
          </a:p>
        </p:txBody>
      </p:sp>
      <p:sp>
        <p:nvSpPr>
          <p:cNvPr id="10" name="TextBox 9">
            <a:extLst>
              <a:ext uri="{FF2B5EF4-FFF2-40B4-BE49-F238E27FC236}">
                <a16:creationId xmlns:a16="http://schemas.microsoft.com/office/drawing/2014/main" id="{8D8632B8-F03C-EEC7-29D5-27050C4CDA83}"/>
              </a:ext>
            </a:extLst>
          </p:cNvPr>
          <p:cNvSpPr txBox="1"/>
          <p:nvPr/>
        </p:nvSpPr>
        <p:spPr>
          <a:xfrm>
            <a:off x="6967132" y="582125"/>
            <a:ext cx="5082582" cy="1815882"/>
          </a:xfrm>
          <a:prstGeom prst="rect">
            <a:avLst/>
          </a:prstGeom>
          <a:noFill/>
        </p:spPr>
        <p:txBody>
          <a:bodyPr wrap="square" rtlCol="0">
            <a:spAutoFit/>
          </a:bodyPr>
          <a:lstStyle/>
          <a:p>
            <a:r>
              <a:rPr lang="en-US" sz="1600" dirty="0">
                <a:solidFill>
                  <a:srgbClr val="FF0000"/>
                </a:solidFill>
                <a:highlight>
                  <a:srgbClr val="00FFFF"/>
                </a:highlight>
              </a:rPr>
              <a:t>We want to get the metadata information of 452, 543, T035, 77. </a:t>
            </a:r>
            <a:r>
              <a:rPr lang="en-US" sz="1600" dirty="0">
                <a:highlight>
                  <a:srgbClr val="00FFFF"/>
                </a:highlight>
              </a:rPr>
              <a:t>Then conducting concatenating;</a:t>
            </a:r>
          </a:p>
          <a:p>
            <a:endParaRPr lang="en-US" sz="1600" dirty="0">
              <a:highlight>
                <a:srgbClr val="00FFFF"/>
              </a:highlight>
            </a:endParaRPr>
          </a:p>
          <a:p>
            <a:r>
              <a:rPr lang="en-US" sz="1600" dirty="0">
                <a:highlight>
                  <a:srgbClr val="00FFFF"/>
                </a:highlight>
              </a:rPr>
              <a:t> </a:t>
            </a:r>
            <a:r>
              <a:rPr lang="en-CA" sz="1600" dirty="0">
                <a:highlight>
                  <a:srgbClr val="00FFFF"/>
                </a:highlight>
              </a:rPr>
              <a:t>Powell River  James Thomson School’s </a:t>
            </a:r>
            <a:r>
              <a:rPr lang="en-CA" sz="1600" dirty="0" err="1">
                <a:highlight>
                  <a:srgbClr val="00FFFF"/>
                </a:highlight>
              </a:rPr>
              <a:t>native_id</a:t>
            </a:r>
            <a:r>
              <a:rPr lang="en-CA" sz="1600" dirty="0">
                <a:highlight>
                  <a:srgbClr val="00FFFF"/>
                </a:highlight>
              </a:rPr>
              <a:t> is 122 (12238); Powell River Pacifica’s native id is 126 (1587). So we use 122 and 126 replacing E271963 and E238705, then concatenate old stations to the new ones   </a:t>
            </a:r>
            <a:endParaRPr lang="en-US" sz="1600" dirty="0">
              <a:highlight>
                <a:srgbClr val="00FFFF"/>
              </a:highlight>
            </a:endParaRPr>
          </a:p>
        </p:txBody>
      </p:sp>
      <p:sp>
        <p:nvSpPr>
          <p:cNvPr id="11" name="TextBox 10">
            <a:extLst>
              <a:ext uri="{FF2B5EF4-FFF2-40B4-BE49-F238E27FC236}">
                <a16:creationId xmlns:a16="http://schemas.microsoft.com/office/drawing/2014/main" id="{F60EBEF1-EEE5-AC20-8145-F38527D1361C}"/>
              </a:ext>
            </a:extLst>
          </p:cNvPr>
          <p:cNvSpPr txBox="1"/>
          <p:nvPr/>
        </p:nvSpPr>
        <p:spPr>
          <a:xfrm>
            <a:off x="7107278" y="4927690"/>
            <a:ext cx="4064000" cy="830997"/>
          </a:xfrm>
          <a:prstGeom prst="rect">
            <a:avLst/>
          </a:prstGeom>
          <a:noFill/>
        </p:spPr>
        <p:txBody>
          <a:bodyPr wrap="square" rtlCol="0">
            <a:spAutoFit/>
          </a:bodyPr>
          <a:lstStyle/>
          <a:p>
            <a:r>
              <a:rPr lang="en-US" sz="1600" dirty="0">
                <a:highlight>
                  <a:srgbClr val="00FFFF"/>
                </a:highlight>
              </a:rPr>
              <a:t>This means no data record will be concatenated into the new station, that’s fine. Delete these stations.</a:t>
            </a:r>
          </a:p>
        </p:txBody>
      </p:sp>
      <p:sp>
        <p:nvSpPr>
          <p:cNvPr id="2" name="TextBox 1">
            <a:extLst>
              <a:ext uri="{FF2B5EF4-FFF2-40B4-BE49-F238E27FC236}">
                <a16:creationId xmlns:a16="http://schemas.microsoft.com/office/drawing/2014/main" id="{6AAF98A8-C5AF-8C49-6416-6E5F827FE4F0}"/>
              </a:ext>
            </a:extLst>
          </p:cNvPr>
          <p:cNvSpPr txBox="1"/>
          <p:nvPr/>
        </p:nvSpPr>
        <p:spPr>
          <a:xfrm>
            <a:off x="6967132" y="2690336"/>
            <a:ext cx="4600042" cy="1323439"/>
          </a:xfrm>
          <a:prstGeom prst="rect">
            <a:avLst/>
          </a:prstGeom>
          <a:noFill/>
        </p:spPr>
        <p:txBody>
          <a:bodyPr wrap="none" rtlCol="0">
            <a:spAutoFit/>
          </a:bodyPr>
          <a:lstStyle/>
          <a:p>
            <a:r>
              <a:rPr lang="en-US" sz="1600" dirty="0">
                <a:solidFill>
                  <a:srgbClr val="FF0000"/>
                </a:solidFill>
                <a:highlight>
                  <a:srgbClr val="00FFFF"/>
                </a:highlight>
              </a:rPr>
              <a:t>Remind us which networks will be available on the</a:t>
            </a:r>
          </a:p>
          <a:p>
            <a:r>
              <a:rPr lang="en-US" sz="1600" dirty="0">
                <a:solidFill>
                  <a:srgbClr val="FF0000"/>
                </a:solidFill>
                <a:highlight>
                  <a:srgbClr val="00FFFF"/>
                </a:highlight>
              </a:rPr>
              <a:t>Data mart in the near future </a:t>
            </a:r>
            <a:r>
              <a:rPr lang="en-US" sz="1600" dirty="0">
                <a:highlight>
                  <a:srgbClr val="00FFFF"/>
                </a:highlight>
              </a:rPr>
              <a:t>(I remember </a:t>
            </a:r>
          </a:p>
          <a:p>
            <a:r>
              <a:rPr lang="en-US" sz="1600" dirty="0">
                <a:highlight>
                  <a:srgbClr val="00FFFF"/>
                </a:highlight>
              </a:rPr>
              <a:t>BC-</a:t>
            </a:r>
            <a:r>
              <a:rPr lang="en-US" sz="1600" dirty="0" err="1">
                <a:highlight>
                  <a:srgbClr val="00FFFF"/>
                </a:highlight>
              </a:rPr>
              <a:t>Agriweather</a:t>
            </a:r>
            <a:r>
              <a:rPr lang="en-US" sz="1600" dirty="0">
                <a:highlight>
                  <a:srgbClr val="00FFFF"/>
                </a:highlight>
              </a:rPr>
              <a:t> but I’m sure a second was </a:t>
            </a:r>
          </a:p>
          <a:p>
            <a:r>
              <a:rPr lang="en-US" sz="1600" dirty="0">
                <a:highlight>
                  <a:srgbClr val="00FFFF"/>
                </a:highlight>
              </a:rPr>
              <a:t>mentioned. Is it the three mentioned by email:</a:t>
            </a:r>
          </a:p>
          <a:p>
            <a:r>
              <a:rPr lang="en-CA" sz="1600" dirty="0">
                <a:highlight>
                  <a:srgbClr val="00FFFF"/>
                </a:highlight>
              </a:rPr>
              <a:t>MVRD-WS, BC-AIR, and BC </a:t>
            </a:r>
            <a:r>
              <a:rPr lang="en-CA" sz="1600" dirty="0" err="1">
                <a:highlight>
                  <a:srgbClr val="00FFFF"/>
                </a:highlight>
              </a:rPr>
              <a:t>AGRIWeather</a:t>
            </a:r>
            <a:r>
              <a:rPr lang="en-CA" sz="1600" dirty="0">
                <a:highlight>
                  <a:srgbClr val="00FFFF"/>
                </a:highlight>
              </a:rPr>
              <a:t>?</a:t>
            </a:r>
            <a:r>
              <a:rPr lang="en-US" sz="1600" dirty="0">
                <a:highlight>
                  <a:srgbClr val="00FFFF"/>
                </a:highlight>
              </a:rPr>
              <a:t>)</a:t>
            </a:r>
          </a:p>
        </p:txBody>
      </p:sp>
    </p:spTree>
    <p:extLst>
      <p:ext uri="{BB962C8B-B14F-4D97-AF65-F5344CB8AC3E}">
        <p14:creationId xmlns:p14="http://schemas.microsoft.com/office/powerpoint/2010/main" val="350880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A8CC5DD-1B53-24A7-C146-69593B9FD0A6}"/>
              </a:ext>
            </a:extLst>
          </p:cNvPr>
          <p:cNvGraphicFramePr>
            <a:graphicFrameLocks noGrp="1"/>
          </p:cNvGraphicFramePr>
          <p:nvPr>
            <p:extLst>
              <p:ext uri="{D42A27DB-BD31-4B8C-83A1-F6EECF244321}">
                <p14:modId xmlns:p14="http://schemas.microsoft.com/office/powerpoint/2010/main" val="1162116367"/>
              </p:ext>
            </p:extLst>
          </p:nvPr>
        </p:nvGraphicFramePr>
        <p:xfrm>
          <a:off x="979715" y="985951"/>
          <a:ext cx="10515600" cy="4053840"/>
        </p:xfrm>
        <a:graphic>
          <a:graphicData uri="http://schemas.openxmlformats.org/drawingml/2006/table">
            <a:tbl>
              <a:tblPr firstRow="1" firstCol="1" bandRow="1">
                <a:tableStyleId>{3B4B98B0-60AC-42C2-AFA5-B58CD77FA1E5}</a:tableStyleId>
              </a:tblPr>
              <a:tblGrid>
                <a:gridCol w="2122714">
                  <a:extLst>
                    <a:ext uri="{9D8B030D-6E8A-4147-A177-3AD203B41FA5}">
                      <a16:colId xmlns:a16="http://schemas.microsoft.com/office/drawing/2014/main" val="1166908659"/>
                    </a:ext>
                  </a:extLst>
                </a:gridCol>
                <a:gridCol w="8392886">
                  <a:extLst>
                    <a:ext uri="{9D8B030D-6E8A-4147-A177-3AD203B41FA5}">
                      <a16:colId xmlns:a16="http://schemas.microsoft.com/office/drawing/2014/main" val="1960824348"/>
                    </a:ext>
                  </a:extLst>
                </a:gridCol>
              </a:tblGrid>
              <a:tr h="1646507">
                <a:tc>
                  <a:txBody>
                    <a:bodyPr/>
                    <a:lstStyle/>
                    <a:p>
                      <a:pPr marL="342900" lvl="0" indent="-342900">
                        <a:buFont typeface="+mj-lt"/>
                        <a:buAutoNum type="arabicPeriod"/>
                      </a:pPr>
                      <a:r>
                        <a:rPr lang="en-US" sz="1400" b="0" dirty="0">
                          <a:effectLst/>
                        </a:rPr>
                        <a:t>Slide 5 - We want to get the metadata information of 452, 543, T035, 77. Then conducting concatenating;</a:t>
                      </a:r>
                      <a:endParaRPr lang="en-CA" sz="14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400" b="0" dirty="0">
                          <a:effectLst/>
                        </a:rPr>
                        <a:t>452 – Fraser Lake </a:t>
                      </a:r>
                      <a:r>
                        <a:rPr lang="en-US" sz="1400" b="0" dirty="0" err="1">
                          <a:effectLst/>
                        </a:rPr>
                        <a:t>Endako</a:t>
                      </a:r>
                      <a:r>
                        <a:rPr lang="en-US" sz="1400" b="0" dirty="0">
                          <a:effectLst/>
                        </a:rPr>
                        <a:t> Mines (_60), 1</a:t>
                      </a:r>
                      <a:r>
                        <a:rPr lang="en-CA" sz="1400" b="0" dirty="0">
                          <a:effectLst/>
                        </a:rPr>
                        <a:t>25.095833 W, 54.034444 N, Elev. 1005 m, Network BC-AIR</a:t>
                      </a:r>
                    </a:p>
                    <a:p>
                      <a:pPr>
                        <a:buNone/>
                      </a:pPr>
                      <a:r>
                        <a:rPr lang="en-CA" sz="1400" b="0" dirty="0">
                          <a:effectLst/>
                        </a:rPr>
                        <a:t>543 – </a:t>
                      </a:r>
                      <a:r>
                        <a:rPr lang="en-CA" sz="1400" b="0" dirty="0" err="1">
                          <a:effectLst/>
                        </a:rPr>
                        <a:t>Skookumchuk</a:t>
                      </a:r>
                      <a:r>
                        <a:rPr lang="en-CA" sz="1400" b="0" dirty="0">
                          <a:effectLst/>
                        </a:rPr>
                        <a:t> Farstad Way(_60) – just went through a hardware upgrade (July 2025).  Prior to that period, the data was not continuous.  My recommendation is to delete the data up to August 1</a:t>
                      </a:r>
                      <a:r>
                        <a:rPr lang="en-CA" sz="1400" b="0" baseline="30000" dirty="0">
                          <a:effectLst/>
                        </a:rPr>
                        <a:t>st</a:t>
                      </a:r>
                      <a:r>
                        <a:rPr lang="en-CA" sz="1400" b="0" dirty="0">
                          <a:effectLst/>
                        </a:rPr>
                        <a:t>, 2025.  Metadata: 115.755613 W, 49.905404 N, Elev. 746 m Network BC-AIR</a:t>
                      </a:r>
                    </a:p>
                    <a:p>
                      <a:pPr>
                        <a:buNone/>
                      </a:pPr>
                      <a:r>
                        <a:rPr lang="en-CA" sz="1400" b="0" dirty="0">
                          <a:effectLst/>
                        </a:rPr>
                        <a:t>T035 – Horseshoe Bay -  Network is MVRD-AIR,  This is one of the stations where meteorological  data and air quality data were likely collected by separate loggers, and then – at some point in time, merged to one logger. Go with he information under PCIC station ID 12160 amalgamating any non-overlapping data in 2634. Metadata: 123.2766 W, 49.3686 N, Elev. 65 m</a:t>
                      </a:r>
                    </a:p>
                    <a:p>
                      <a:pPr>
                        <a:buNone/>
                      </a:pPr>
                      <a:r>
                        <a:rPr lang="en-CA" sz="1400" b="0" dirty="0">
                          <a:effectLst/>
                        </a:rPr>
                        <a:t>77 – I don’t see the reference in the Change spreadsheet posted to Google Drive to this native ID. Nor in my active station list. </a:t>
                      </a:r>
                      <a:endParaRPr lang="en-CA" sz="14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1819146821"/>
                  </a:ext>
                </a:extLst>
              </a:tr>
              <a:tr h="1457563">
                <a:tc>
                  <a:txBody>
                    <a:bodyPr/>
                    <a:lstStyle/>
                    <a:p>
                      <a:pPr marL="342900" lvl="0" indent="-342900">
                        <a:buFont typeface="+mj-lt"/>
                        <a:buAutoNum type="arabicPeriod"/>
                      </a:pPr>
                      <a:r>
                        <a:rPr lang="en-US" sz="1400" b="0">
                          <a:effectLst/>
                        </a:rPr>
                        <a:t>Slide 5 - Remind us which networks will be available on the Data mart in the near future</a:t>
                      </a:r>
                      <a:endParaRPr lang="en-CA" sz="14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400" b="0" dirty="0">
                          <a:effectLst/>
                        </a:rPr>
                        <a:t>Networks currently on Datamart – </a:t>
                      </a:r>
                      <a:r>
                        <a:rPr lang="en-CA" sz="1400" b="0" dirty="0" err="1">
                          <a:effectLst/>
                        </a:rPr>
                        <a:t>bc-RioTinto</a:t>
                      </a:r>
                      <a:r>
                        <a:rPr lang="en-CA" sz="1400" b="0" dirty="0">
                          <a:effectLst/>
                        </a:rPr>
                        <a:t>, </a:t>
                      </a:r>
                      <a:r>
                        <a:rPr lang="en-CA" sz="1400" b="0" dirty="0" err="1">
                          <a:effectLst/>
                        </a:rPr>
                        <a:t>bc-crd</a:t>
                      </a:r>
                      <a:r>
                        <a:rPr lang="en-CA" sz="1400" b="0" dirty="0">
                          <a:effectLst/>
                        </a:rPr>
                        <a:t>, </a:t>
                      </a:r>
                      <a:r>
                        <a:rPr lang="en-CA" sz="1400" b="0" dirty="0" err="1">
                          <a:effectLst/>
                        </a:rPr>
                        <a:t>bc</a:t>
                      </a:r>
                      <a:r>
                        <a:rPr lang="en-CA" sz="1400" b="0" dirty="0">
                          <a:effectLst/>
                        </a:rPr>
                        <a:t>-env-</a:t>
                      </a:r>
                      <a:r>
                        <a:rPr lang="en-CA" sz="1400" b="0" dirty="0" err="1">
                          <a:effectLst/>
                        </a:rPr>
                        <a:t>aq</a:t>
                      </a:r>
                      <a:r>
                        <a:rPr lang="en-CA" sz="1400" b="0" dirty="0">
                          <a:effectLst/>
                        </a:rPr>
                        <a:t>, </a:t>
                      </a:r>
                      <a:r>
                        <a:rPr lang="en-CA" sz="1400" b="0" dirty="0" err="1">
                          <a:effectLst/>
                        </a:rPr>
                        <a:t>bc</a:t>
                      </a:r>
                      <a:r>
                        <a:rPr lang="en-CA" sz="1400" b="0" dirty="0">
                          <a:effectLst/>
                        </a:rPr>
                        <a:t>-env-snow, </a:t>
                      </a:r>
                      <a:r>
                        <a:rPr lang="en-CA" sz="1400" b="0" dirty="0" err="1">
                          <a:effectLst/>
                        </a:rPr>
                        <a:t>bc</a:t>
                      </a:r>
                      <a:r>
                        <a:rPr lang="en-CA" sz="1400" b="0" dirty="0">
                          <a:effectLst/>
                        </a:rPr>
                        <a:t>-forestry, </a:t>
                      </a:r>
                      <a:r>
                        <a:rPr lang="en-CA" sz="1400" b="0" dirty="0" err="1">
                          <a:effectLst/>
                        </a:rPr>
                        <a:t>bc-mvrd</a:t>
                      </a:r>
                      <a:r>
                        <a:rPr lang="en-CA" sz="1400" b="0" dirty="0">
                          <a:effectLst/>
                        </a:rPr>
                        <a:t> (air), </a:t>
                      </a:r>
                      <a:r>
                        <a:rPr lang="en-CA" sz="1400" b="0" dirty="0" err="1">
                          <a:effectLst/>
                        </a:rPr>
                        <a:t>bc-tran</a:t>
                      </a:r>
                      <a:r>
                        <a:rPr lang="en-CA" sz="1400" b="0" dirty="0">
                          <a:effectLst/>
                        </a:rPr>
                        <a:t> (so much for my attempt to standardize between ECCC, PCIC, BC Gov  ☹)  I will add this to the </a:t>
                      </a:r>
                      <a:r>
                        <a:rPr lang="en-CA" sz="1400" b="0" dirty="0" err="1">
                          <a:effectLst/>
                        </a:rPr>
                        <a:t>todo</a:t>
                      </a:r>
                      <a:r>
                        <a:rPr lang="en-CA" sz="1400" b="0" dirty="0">
                          <a:effectLst/>
                        </a:rPr>
                        <a:t> list for the person replacing me.</a:t>
                      </a:r>
                    </a:p>
                    <a:p>
                      <a:pPr>
                        <a:buNone/>
                      </a:pPr>
                      <a:r>
                        <a:rPr lang="en-US" sz="1400" b="0" dirty="0">
                          <a:effectLst/>
                        </a:rPr>
                        <a:t>Networks expected on Datamart – </a:t>
                      </a:r>
                      <a:endParaRPr lang="en-CA" sz="1400" b="0" dirty="0">
                        <a:effectLst/>
                      </a:endParaRPr>
                    </a:p>
                    <a:p>
                      <a:pPr marL="342900" lvl="0" indent="-342900">
                        <a:buFont typeface="Symbol" pitchFamily="2" charset="2"/>
                        <a:buChar char=""/>
                      </a:pPr>
                      <a:r>
                        <a:rPr lang="en-US" sz="1400" b="0" dirty="0">
                          <a:effectLst/>
                        </a:rPr>
                        <a:t>BC Hydro – spring 2026?</a:t>
                      </a:r>
                      <a:endParaRPr lang="en-CA" sz="1400" b="0" dirty="0">
                        <a:effectLst/>
                      </a:endParaRPr>
                    </a:p>
                    <a:p>
                      <a:pPr marL="342900" lvl="0" indent="-342900">
                        <a:buFont typeface="Symbol" pitchFamily="2" charset="2"/>
                        <a:buChar char=""/>
                      </a:pPr>
                      <a:r>
                        <a:rPr lang="en-US" sz="1400" b="0" dirty="0">
                          <a:effectLst/>
                        </a:rPr>
                        <a:t>BC AGRI Weather Fall 2027/28?</a:t>
                      </a:r>
                      <a:endParaRPr lang="en-CA" sz="1400" b="0" dirty="0">
                        <a:effectLst/>
                      </a:endParaRPr>
                    </a:p>
                    <a:p>
                      <a:pPr marL="342900" lvl="0" indent="-342900">
                        <a:buFont typeface="Symbol" pitchFamily="2" charset="2"/>
                        <a:buChar char=""/>
                      </a:pPr>
                      <a:r>
                        <a:rPr lang="en-US" sz="1400" b="0" dirty="0">
                          <a:effectLst/>
                        </a:rPr>
                        <a:t>MVRD-WS Fall 2027/28?</a:t>
                      </a:r>
                      <a:endParaRPr lang="en-CA" sz="1400" b="0" dirty="0">
                        <a:effectLst/>
                      </a:endParaRPr>
                    </a:p>
                    <a:p>
                      <a:pPr>
                        <a:buNone/>
                      </a:pPr>
                      <a:r>
                        <a:rPr lang="en-US" sz="1400" b="0" dirty="0">
                          <a:effectLst/>
                        </a:rPr>
                        <a:t>Networks with no plan as yet </a:t>
                      </a:r>
                      <a:endParaRPr lang="en-CA" sz="1400" b="0" dirty="0">
                        <a:effectLst/>
                      </a:endParaRPr>
                    </a:p>
                    <a:p>
                      <a:pPr marL="342900" lvl="0" indent="-342900">
                        <a:buFont typeface="Symbol" pitchFamily="2" charset="2"/>
                        <a:buChar char=""/>
                      </a:pPr>
                      <a:r>
                        <a:rPr lang="en-US" sz="1400" b="0" dirty="0">
                          <a:effectLst/>
                        </a:rPr>
                        <a:t>BC-FERN</a:t>
                      </a:r>
                      <a:endParaRPr lang="en-CA" sz="14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882625175"/>
                  </a:ext>
                </a:extLst>
              </a:tr>
            </a:tbl>
          </a:graphicData>
        </a:graphic>
      </p:graphicFrame>
    </p:spTree>
    <p:extLst>
      <p:ext uri="{BB962C8B-B14F-4D97-AF65-F5344CB8AC3E}">
        <p14:creationId xmlns:p14="http://schemas.microsoft.com/office/powerpoint/2010/main" val="342462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5A62-55ED-A137-5D72-85C1A84FDC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B08677-932D-ECF4-AC59-024FBC3886D7}"/>
              </a:ext>
            </a:extLst>
          </p:cNvPr>
          <p:cNvSpPr txBox="1"/>
          <p:nvPr/>
        </p:nvSpPr>
        <p:spPr>
          <a:xfrm>
            <a:off x="440266" y="314867"/>
            <a:ext cx="7103533"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Replaces </a:t>
            </a:r>
            <a:r>
              <a:rPr lang="en-CA" b="1" dirty="0"/>
              <a:t>(a station)</a:t>
            </a:r>
            <a:r>
              <a:rPr lang="en-CA" sz="1800" b="1" dirty="0"/>
              <a:t> </a:t>
            </a:r>
            <a:r>
              <a:rPr lang="en-CA" b="1" dirty="0"/>
              <a:t>with</a:t>
            </a:r>
            <a:r>
              <a:rPr lang="en-CA" sz="1800" b="1" dirty="0"/>
              <a:t> </a:t>
            </a:r>
            <a:r>
              <a:rPr lang="en-CA" b="1" dirty="0"/>
              <a:t>c</a:t>
            </a:r>
            <a:r>
              <a:rPr lang="en-CA" sz="1800" b="1" dirty="0"/>
              <a:t>oncatenated data record</a:t>
            </a:r>
            <a:endParaRPr lang="en-US" b="1" dirty="0"/>
          </a:p>
        </p:txBody>
      </p:sp>
      <p:sp>
        <p:nvSpPr>
          <p:cNvPr id="6" name="TextBox 5">
            <a:extLst>
              <a:ext uri="{FF2B5EF4-FFF2-40B4-BE49-F238E27FC236}">
                <a16:creationId xmlns:a16="http://schemas.microsoft.com/office/drawing/2014/main" id="{500E6FA2-6AD2-880B-5CC4-F231BF82E1DE}"/>
              </a:ext>
            </a:extLst>
          </p:cNvPr>
          <p:cNvSpPr txBox="1"/>
          <p:nvPr/>
        </p:nvSpPr>
        <p:spPr>
          <a:xfrm>
            <a:off x="758567" y="888274"/>
            <a:ext cx="10329335" cy="2185214"/>
          </a:xfrm>
          <a:prstGeom prst="rect">
            <a:avLst/>
          </a:prstGeom>
          <a:solidFill>
            <a:srgbClr val="F2F2F2"/>
          </a:solidFill>
        </p:spPr>
        <p:txBody>
          <a:bodyPr wrap="square" rtlCol="0">
            <a:spAutoFit/>
          </a:bodyPr>
          <a:lstStyle>
            <a:defPPr>
              <a:defRPr lang="en-US"/>
            </a:defPPr>
            <a:lvl1pPr marL="285750" indent="-285750">
              <a:spcBef>
                <a:spcPts val="600"/>
              </a:spcBef>
              <a:spcAft>
                <a:spcPts val="600"/>
              </a:spcAft>
              <a:buFont typeface="Arial" panose="020B0604020202020204" pitchFamily="34" charset="0"/>
              <a:buChar char="•"/>
              <a:defRPr sz="1600"/>
            </a:lvl1pPr>
            <a:lvl2pPr marL="742950" lvl="1" indent="-285750">
              <a:spcBef>
                <a:spcPts val="600"/>
              </a:spcBef>
              <a:spcAft>
                <a:spcPts val="600"/>
              </a:spcAft>
              <a:buFont typeface="Arial" panose="020B0604020202020204" pitchFamily="34" charset="0"/>
              <a:buChar char="•"/>
              <a:defRPr sz="1600"/>
            </a:lvl2pPr>
            <a:lvl3pPr marL="1200150" lvl="2" indent="-285750">
              <a:spcBef>
                <a:spcPts val="600"/>
              </a:spcBef>
              <a:spcAft>
                <a:spcPts val="600"/>
              </a:spcAft>
              <a:buFont typeface="Arial" panose="020B0604020202020204" pitchFamily="34" charset="0"/>
              <a:buChar char="•"/>
              <a:defRPr sz="1600"/>
            </a:lvl3pPr>
          </a:lstStyle>
          <a:p>
            <a:r>
              <a:rPr lang="en-CA" dirty="0"/>
              <a:t>All new stations have been inserted into the database.</a:t>
            </a:r>
          </a:p>
          <a:p>
            <a:r>
              <a:rPr lang="en-CA" dirty="0">
                <a:highlight>
                  <a:srgbClr val="FF00FF"/>
                </a:highlight>
              </a:rPr>
              <a:t>Most old stations do not exist (no meta data) in the database (18 of 22 cases). </a:t>
            </a:r>
            <a:r>
              <a:rPr lang="en-CA" dirty="0">
                <a:highlight>
                  <a:srgbClr val="00FFFF"/>
                </a:highlight>
              </a:rPr>
              <a:t>Just treated them as “has been replaced”, so no action needed.</a:t>
            </a:r>
          </a:p>
          <a:p>
            <a:r>
              <a:rPr lang="en-CA" dirty="0"/>
              <a:t>For the existing old stations: SBC19, 24547, bc65, SBC35 (</a:t>
            </a:r>
            <a:r>
              <a:rPr lang="en-CA" dirty="0" err="1"/>
              <a:t>native_id</a:t>
            </a:r>
            <a:r>
              <a:rPr lang="en-CA" dirty="0"/>
              <a:t>), </a:t>
            </a:r>
          </a:p>
          <a:p>
            <a:pPr marL="457200" lvl="1" indent="0">
              <a:buNone/>
            </a:pPr>
            <a:r>
              <a:rPr lang="en-CA" dirty="0"/>
              <a:t>- Updated their </a:t>
            </a:r>
            <a:r>
              <a:rPr lang="en-CA" dirty="0" err="1"/>
              <a:t>history_id</a:t>
            </a:r>
            <a:r>
              <a:rPr lang="en-CA" dirty="0"/>
              <a:t> to point to the corresponding new stations.</a:t>
            </a:r>
          </a:p>
          <a:p>
            <a:pPr marL="457200" lvl="1" indent="0">
              <a:buNone/>
            </a:pPr>
            <a:r>
              <a:rPr lang="en-CA" dirty="0"/>
              <a:t>- Deleted the old station records after successful update.</a:t>
            </a:r>
          </a:p>
        </p:txBody>
      </p:sp>
      <p:sp>
        <p:nvSpPr>
          <p:cNvPr id="4" name="Rectangle 1">
            <a:extLst>
              <a:ext uri="{FF2B5EF4-FFF2-40B4-BE49-F238E27FC236}">
                <a16:creationId xmlns:a16="http://schemas.microsoft.com/office/drawing/2014/main" id="{80142FFF-E3F8-5130-DAF9-CCA4EDA99B32}"/>
              </a:ext>
            </a:extLst>
          </p:cNvPr>
          <p:cNvSpPr>
            <a:spLocks noChangeArrowheads="1"/>
          </p:cNvSpPr>
          <p:nvPr/>
        </p:nvSpPr>
        <p:spPr bwMode="auto">
          <a:xfrm>
            <a:off x="838200" y="382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523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276370D-6AA2-9406-28AA-097E4EBA34B2}"/>
              </a:ext>
            </a:extLst>
          </p:cNvPr>
          <p:cNvGraphicFramePr>
            <a:graphicFrameLocks noGrp="1"/>
          </p:cNvGraphicFramePr>
          <p:nvPr>
            <p:extLst>
              <p:ext uri="{D42A27DB-BD31-4B8C-83A1-F6EECF244321}">
                <p14:modId xmlns:p14="http://schemas.microsoft.com/office/powerpoint/2010/main" val="4240769280"/>
              </p:ext>
            </p:extLst>
          </p:nvPr>
        </p:nvGraphicFramePr>
        <p:xfrm>
          <a:off x="872067" y="2276738"/>
          <a:ext cx="9799321" cy="1490653"/>
        </p:xfrm>
        <a:graphic>
          <a:graphicData uri="http://schemas.openxmlformats.org/drawingml/2006/table">
            <a:tbl>
              <a:tblPr>
                <a:tableStyleId>{5C22544A-7EE6-4342-B048-85BDC9FD1C3A}</a:tableStyleId>
              </a:tblPr>
              <a:tblGrid>
                <a:gridCol w="3865880">
                  <a:extLst>
                    <a:ext uri="{9D8B030D-6E8A-4147-A177-3AD203B41FA5}">
                      <a16:colId xmlns:a16="http://schemas.microsoft.com/office/drawing/2014/main" val="4268654447"/>
                    </a:ext>
                  </a:extLst>
                </a:gridCol>
                <a:gridCol w="2834640">
                  <a:extLst>
                    <a:ext uri="{9D8B030D-6E8A-4147-A177-3AD203B41FA5}">
                      <a16:colId xmlns:a16="http://schemas.microsoft.com/office/drawing/2014/main" val="2640467659"/>
                    </a:ext>
                  </a:extLst>
                </a:gridCol>
                <a:gridCol w="3098801">
                  <a:extLst>
                    <a:ext uri="{9D8B030D-6E8A-4147-A177-3AD203B41FA5}">
                      <a16:colId xmlns:a16="http://schemas.microsoft.com/office/drawing/2014/main" val="1274435818"/>
                    </a:ext>
                  </a:extLst>
                </a:gridCol>
              </a:tblGrid>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200" u="none" strike="noStrike" dirty="0">
                          <a:effectLst/>
                        </a:rPr>
                        <a:t>Data needs concatenating with 12170</a:t>
                      </a:r>
                      <a:endParaRPr lang="en-CA" sz="12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200" u="none" strike="noStrike" dirty="0">
                          <a:effectLst/>
                        </a:rPr>
                        <a:t>M106010 </a:t>
                      </a:r>
                      <a:r>
                        <a:rPr lang="en-CA" sz="1200" u="none" strike="noStrike" dirty="0">
                          <a:solidFill>
                            <a:srgbClr val="FF0000"/>
                          </a:solidFill>
                          <a:effectLst/>
                        </a:rPr>
                        <a:t>-&gt; 80</a:t>
                      </a:r>
                      <a:endParaRPr lang="en-CA" sz="1200" b="1"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200" b="0" i="0" u="none" strike="noStrike" dirty="0">
                          <a:solidFill>
                            <a:schemeClr val="tx1"/>
                          </a:solidFill>
                          <a:effectLst/>
                          <a:latin typeface="Aptos Narrow" panose="020B0004020202020204" pitchFamily="34" charset="0"/>
                        </a:rPr>
                        <a:t>New station: 12170 (102), rather than 80. So update the new station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to 80? Or concatenate them into the new native id 80?? The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80 has the same </a:t>
                      </a:r>
                      <a:r>
                        <a:rPr lang="en-CA" sz="1200" b="0" i="0" u="none" strike="noStrike" dirty="0" err="1">
                          <a:solidFill>
                            <a:schemeClr val="tx1"/>
                          </a:solidFill>
                          <a:effectLst/>
                          <a:latin typeface="Aptos Narrow" panose="020B0004020202020204" pitchFamily="34" charset="0"/>
                        </a:rPr>
                        <a:t>station_name</a:t>
                      </a:r>
                      <a:r>
                        <a:rPr lang="en-CA" sz="1200" b="0" i="0" u="none" strike="noStrike" dirty="0">
                          <a:solidFill>
                            <a:schemeClr val="tx1"/>
                          </a:solidFill>
                          <a:effectLst/>
                          <a:latin typeface="Aptos Narrow" panose="020B0004020202020204" pitchFamily="34" charset="0"/>
                        </a:rPr>
                        <a:t> in the table</a:t>
                      </a:r>
                    </a:p>
                  </a:txBody>
                  <a:tcPr marL="0" marR="0" marT="0" marB="0" anchor="ctr"/>
                </a:tc>
                <a:extLst>
                  <a:ext uri="{0D108BD9-81ED-4DB2-BD59-A6C34878D82A}">
                    <a16:rowId xmlns:a16="http://schemas.microsoft.com/office/drawing/2014/main" val="1505349282"/>
                  </a:ext>
                </a:extLst>
              </a:tr>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200" u="none" strike="noStrike" dirty="0">
                          <a:effectLst/>
                        </a:rPr>
                        <a:t>Data should be concatenated into one record</a:t>
                      </a:r>
                      <a:endParaRPr lang="en-CA" sz="12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200" u="none" strike="noStrike" dirty="0">
                          <a:solidFill>
                            <a:srgbClr val="FF0000"/>
                          </a:solidFill>
                          <a:effectLst/>
                        </a:rPr>
                        <a:t>M109912 -&gt; 144</a:t>
                      </a:r>
                      <a:endParaRPr lang="en-CA" sz="1200" b="1" i="0" u="none" strike="noStrike" dirty="0">
                        <a:solidFill>
                          <a:srgbClr val="FF0000"/>
                        </a:solidFill>
                        <a:effectLst/>
                        <a:latin typeface="Aptos Narrow" panose="020B0004020202020204" pitchFamily="34" charset="0"/>
                      </a:endParaRPr>
                    </a:p>
                  </a:txBody>
                  <a:tcPr marL="0" marR="0" marT="0" marB="0" anchor="ct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CA" sz="1200" b="0" i="0" u="none" strike="noStrike" dirty="0">
                          <a:solidFill>
                            <a:schemeClr val="tx1"/>
                          </a:solidFill>
                          <a:effectLst/>
                          <a:latin typeface="Aptos Narrow" panose="020B0004020202020204" pitchFamily="34" charset="0"/>
                        </a:rPr>
                        <a:t>Only new station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(144) provided, the new </a:t>
                      </a:r>
                      <a:r>
                        <a:rPr lang="en-CA" sz="1200" b="0" i="0" u="none" strike="noStrike" dirty="0" err="1">
                          <a:solidFill>
                            <a:schemeClr val="tx1"/>
                          </a:solidFill>
                          <a:effectLst/>
                          <a:latin typeface="Aptos Narrow" panose="020B0004020202020204" pitchFamily="34" charset="0"/>
                        </a:rPr>
                        <a:t>station_id</a:t>
                      </a:r>
                      <a:r>
                        <a:rPr lang="en-CA" sz="1200" b="0" i="0" u="none" strike="noStrike" dirty="0">
                          <a:solidFill>
                            <a:schemeClr val="tx1"/>
                          </a:solidFill>
                          <a:effectLst/>
                          <a:latin typeface="Aptos Narrow" panose="020B0004020202020204" pitchFamily="34" charset="0"/>
                        </a:rPr>
                        <a:t> is 12254.</a:t>
                      </a:r>
                    </a:p>
                  </a:txBody>
                  <a:tcPr marL="0" marR="0" marT="0" marB="0" anchor="ctr"/>
                </a:tc>
                <a:extLst>
                  <a:ext uri="{0D108BD9-81ED-4DB2-BD59-A6C34878D82A}">
                    <a16:rowId xmlns:a16="http://schemas.microsoft.com/office/drawing/2014/main" val="3908007829"/>
                  </a:ext>
                </a:extLst>
              </a:tr>
            </a:tbl>
          </a:graphicData>
        </a:graphic>
      </p:graphicFrame>
      <p:sp>
        <p:nvSpPr>
          <p:cNvPr id="5" name="TextBox 4">
            <a:extLst>
              <a:ext uri="{FF2B5EF4-FFF2-40B4-BE49-F238E27FC236}">
                <a16:creationId xmlns:a16="http://schemas.microsoft.com/office/drawing/2014/main" id="{276DBEBC-1866-8B58-7381-EBBD77746D85}"/>
              </a:ext>
            </a:extLst>
          </p:cNvPr>
          <p:cNvSpPr txBox="1"/>
          <p:nvPr/>
        </p:nvSpPr>
        <p:spPr>
          <a:xfrm>
            <a:off x="821266" y="491230"/>
            <a:ext cx="9799321" cy="1200329"/>
          </a:xfrm>
          <a:prstGeom prst="rect">
            <a:avLst/>
          </a:prstGeom>
          <a:noFill/>
        </p:spPr>
        <p:txBody>
          <a:bodyPr wrap="square" rtlCol="0">
            <a:spAutoFit/>
          </a:bodyPr>
          <a:lstStyle/>
          <a:p>
            <a:r>
              <a:rPr lang="en-US" dirty="0">
                <a:highlight>
                  <a:srgbClr val="00FFFF"/>
                </a:highlight>
              </a:rPr>
              <a:t>We based on new </a:t>
            </a:r>
            <a:r>
              <a:rPr lang="en-US" dirty="0" err="1">
                <a:highlight>
                  <a:srgbClr val="00FFFF"/>
                </a:highlight>
              </a:rPr>
              <a:t>station_id</a:t>
            </a:r>
            <a:r>
              <a:rPr lang="en-US" dirty="0">
                <a:highlight>
                  <a:srgbClr val="00FFFF"/>
                </a:highlight>
              </a:rPr>
              <a:t> to concatenate stations, then update the new stations’ </a:t>
            </a:r>
            <a:r>
              <a:rPr lang="en-US" dirty="0" err="1">
                <a:highlight>
                  <a:srgbClr val="00FFFF"/>
                </a:highlight>
              </a:rPr>
              <a:t>native_id</a:t>
            </a:r>
            <a:r>
              <a:rPr lang="en-US" dirty="0">
                <a:highlight>
                  <a:srgbClr val="00FFFF"/>
                </a:highlight>
              </a:rPr>
              <a:t>, new station’s name if has;</a:t>
            </a:r>
          </a:p>
          <a:p>
            <a:endParaRPr lang="en-US" dirty="0">
              <a:highlight>
                <a:srgbClr val="00FFFF"/>
              </a:highlight>
            </a:endParaRPr>
          </a:p>
          <a:p>
            <a:r>
              <a:rPr lang="en-US" dirty="0" err="1">
                <a:highlight>
                  <a:srgbClr val="00FFFF"/>
                </a:highlight>
              </a:rPr>
              <a:t>Native_id</a:t>
            </a:r>
            <a:r>
              <a:rPr lang="en-US" dirty="0">
                <a:highlight>
                  <a:srgbClr val="00FFFF"/>
                </a:highlight>
              </a:rPr>
              <a:t> can be the same under different network, where they represent different stations.</a:t>
            </a:r>
          </a:p>
        </p:txBody>
      </p:sp>
      <p:pic>
        <p:nvPicPr>
          <p:cNvPr id="6" name="table">
            <a:extLst>
              <a:ext uri="{FF2B5EF4-FFF2-40B4-BE49-F238E27FC236}">
                <a16:creationId xmlns:a16="http://schemas.microsoft.com/office/drawing/2014/main" id="{4A41C08D-44AB-2B4F-B0FA-494EB612CE5A}"/>
              </a:ext>
            </a:extLst>
          </p:cNvPr>
          <p:cNvPicPr>
            <a:picLocks noChangeAspect="1"/>
          </p:cNvPicPr>
          <p:nvPr/>
        </p:nvPicPr>
        <p:blipFill>
          <a:blip r:embed="rId2"/>
          <a:stretch>
            <a:fillRect/>
          </a:stretch>
        </p:blipFill>
        <p:spPr>
          <a:xfrm>
            <a:off x="872066" y="4156995"/>
            <a:ext cx="9799321" cy="474409"/>
          </a:xfrm>
          <a:prstGeom prst="rect">
            <a:avLst/>
          </a:prstGeom>
        </p:spPr>
      </p:pic>
      <p:sp>
        <p:nvSpPr>
          <p:cNvPr id="8" name="TextBox 7">
            <a:extLst>
              <a:ext uri="{FF2B5EF4-FFF2-40B4-BE49-F238E27FC236}">
                <a16:creationId xmlns:a16="http://schemas.microsoft.com/office/drawing/2014/main" id="{FA6D62ED-0057-1DBC-04B9-AE08617EB2D2}"/>
              </a:ext>
            </a:extLst>
          </p:cNvPr>
          <p:cNvSpPr txBox="1"/>
          <p:nvPr/>
        </p:nvSpPr>
        <p:spPr>
          <a:xfrm>
            <a:off x="761999" y="4965137"/>
            <a:ext cx="10210800" cy="830997"/>
          </a:xfrm>
          <a:prstGeom prst="rect">
            <a:avLst/>
          </a:prstGeom>
          <a:noFill/>
        </p:spPr>
        <p:txBody>
          <a:bodyPr wrap="square">
            <a:spAutoFit/>
          </a:bodyPr>
          <a:lstStyle/>
          <a:p>
            <a:r>
              <a:rPr lang="en-CA" sz="1600" b="1" dirty="0"/>
              <a:t>Amalgamated with 12559, then Delete</a:t>
            </a:r>
          </a:p>
          <a:p>
            <a:endParaRPr lang="en-CA" sz="1600" dirty="0"/>
          </a:p>
          <a:p>
            <a:pPr marL="285750" indent="-285750">
              <a:buFont typeface="Arial" panose="020B0604020202020204" pitchFamily="34" charset="0"/>
              <a:buChar char="•"/>
            </a:pPr>
            <a:r>
              <a:rPr lang="en-CA" sz="1600" dirty="0"/>
              <a:t>Info: E304453 -&gt; AFU, Peace Valley </a:t>
            </a:r>
            <a:r>
              <a:rPr lang="en-CA" sz="1600" dirty="0" err="1"/>
              <a:t>Attachie</a:t>
            </a:r>
            <a:r>
              <a:rPr lang="en-CA" sz="1600" dirty="0"/>
              <a:t> Flat Upper Terrace_60 -&gt; Peace Valley </a:t>
            </a:r>
            <a:r>
              <a:rPr lang="en-CA" sz="1600" dirty="0" err="1"/>
              <a:t>Attachie</a:t>
            </a:r>
            <a:r>
              <a:rPr lang="en-CA" sz="1600" dirty="0"/>
              <a:t> Flat Upper Terrace</a:t>
            </a:r>
          </a:p>
        </p:txBody>
      </p:sp>
    </p:spTree>
    <p:extLst>
      <p:ext uri="{BB962C8B-B14F-4D97-AF65-F5344CB8AC3E}">
        <p14:creationId xmlns:p14="http://schemas.microsoft.com/office/powerpoint/2010/main" val="2187833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27501B-E53C-C826-6CA1-7DB7A9228CAA}"/>
              </a:ext>
            </a:extLst>
          </p:cNvPr>
          <p:cNvGraphicFramePr>
            <a:graphicFrameLocks noGrp="1"/>
          </p:cNvGraphicFramePr>
          <p:nvPr>
            <p:extLst>
              <p:ext uri="{D42A27DB-BD31-4B8C-83A1-F6EECF244321}">
                <p14:modId xmlns:p14="http://schemas.microsoft.com/office/powerpoint/2010/main" val="2581677233"/>
              </p:ext>
            </p:extLst>
          </p:nvPr>
        </p:nvGraphicFramePr>
        <p:xfrm>
          <a:off x="838200" y="1519351"/>
          <a:ext cx="10515600" cy="3169920"/>
        </p:xfrm>
        <a:graphic>
          <a:graphicData uri="http://schemas.openxmlformats.org/drawingml/2006/table">
            <a:tbl>
              <a:tblPr firstRow="1" firstCol="1" bandRow="1">
                <a:tableStyleId>{3B4B98B0-60AC-42C2-AFA5-B58CD77FA1E5}</a:tableStyleId>
              </a:tblPr>
              <a:tblGrid>
                <a:gridCol w="4169229">
                  <a:extLst>
                    <a:ext uri="{9D8B030D-6E8A-4147-A177-3AD203B41FA5}">
                      <a16:colId xmlns:a16="http://schemas.microsoft.com/office/drawing/2014/main" val="3307167494"/>
                    </a:ext>
                  </a:extLst>
                </a:gridCol>
                <a:gridCol w="6346371">
                  <a:extLst>
                    <a:ext uri="{9D8B030D-6E8A-4147-A177-3AD203B41FA5}">
                      <a16:colId xmlns:a16="http://schemas.microsoft.com/office/drawing/2014/main" val="1418657151"/>
                    </a:ext>
                  </a:extLst>
                </a:gridCol>
              </a:tblGrid>
              <a:tr h="647806">
                <a:tc>
                  <a:txBody>
                    <a:bodyPr/>
                    <a:lstStyle/>
                    <a:p>
                      <a:pPr marL="342900" lvl="0" indent="-342900">
                        <a:buFont typeface="+mj-lt"/>
                        <a:buAutoNum type="arabicPeriod"/>
                      </a:pPr>
                      <a:r>
                        <a:rPr lang="en-US" sz="1600" b="0" dirty="0">
                          <a:effectLst/>
                        </a:rPr>
                        <a:t>Slide 7 – M106010 -&gt; 80 - </a:t>
                      </a:r>
                      <a:r>
                        <a:rPr lang="en-CA" sz="1600" b="0" dirty="0">
                          <a:effectLst/>
                        </a:rPr>
                        <a:t>New station: 12170 (102), rather than 80. So update the new station </a:t>
                      </a:r>
                      <a:r>
                        <a:rPr lang="en-CA" sz="1600" b="0" dirty="0" err="1">
                          <a:effectLst/>
                        </a:rPr>
                        <a:t>native_id</a:t>
                      </a:r>
                      <a:r>
                        <a:rPr lang="en-CA" sz="1600" b="0" dirty="0">
                          <a:effectLst/>
                        </a:rPr>
                        <a:t> to 80? Or concatenate them into the new native id 80?? The </a:t>
                      </a:r>
                      <a:r>
                        <a:rPr lang="en-CA" sz="1600" b="0" dirty="0" err="1">
                          <a:effectLst/>
                        </a:rPr>
                        <a:t>native_id</a:t>
                      </a:r>
                      <a:r>
                        <a:rPr lang="en-CA" sz="1600" b="0" dirty="0">
                          <a:effectLst/>
                        </a:rPr>
                        <a:t> 80 has the same </a:t>
                      </a:r>
                      <a:r>
                        <a:rPr lang="en-CA" sz="1600" b="0" dirty="0" err="1">
                          <a:effectLst/>
                        </a:rPr>
                        <a:t>station_name</a:t>
                      </a:r>
                      <a:r>
                        <a:rPr lang="en-CA" sz="1600" b="0" dirty="0">
                          <a:effectLst/>
                        </a:rPr>
                        <a:t> in the table</a:t>
                      </a:r>
                      <a:endParaRPr lang="en-CA" sz="16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600" b="0" dirty="0">
                          <a:effectLst/>
                        </a:rPr>
                        <a:t>I think this again is a transition between logger types – 2 loggers -&gt; 1 logger -&gt; new technology each making a unique native ID.  My recommendation is to amalgamate all to Native ID 80 and go with the metadata reported in the SWOBML and in my spread sheet under station ID 12185. Metadata </a:t>
                      </a:r>
                      <a:r>
                        <a:rPr lang="en-CA" sz="1600" b="0" dirty="0">
                          <a:effectLst/>
                        </a:rPr>
                        <a:t>128.639131 W, 54.066909 N, Elev. 94 m, Network BC-AIR</a:t>
                      </a:r>
                      <a:endParaRPr lang="en-CA" sz="16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963623658"/>
                  </a:ext>
                </a:extLst>
              </a:tr>
              <a:tr h="485854">
                <a:tc>
                  <a:txBody>
                    <a:bodyPr/>
                    <a:lstStyle/>
                    <a:p>
                      <a:pPr marL="342900" lvl="0" indent="-342900">
                        <a:buFont typeface="+mj-lt"/>
                        <a:buAutoNum type="arabicPeriod"/>
                      </a:pPr>
                      <a:r>
                        <a:rPr lang="en-CA" sz="1600" b="0" dirty="0">
                          <a:effectLst/>
                        </a:rPr>
                        <a:t>Slide 7 M109912 -&gt; 144 only new station native ID (144) provided, the new station ID is 12254</a:t>
                      </a:r>
                      <a:endParaRPr lang="en-CA" sz="16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600" b="0">
                          <a:effectLst/>
                        </a:rPr>
                        <a:t>Good eyes – I see one that I missed for amalgamation</a:t>
                      </a:r>
                      <a:br>
                        <a:rPr lang="en-CA" sz="1600" b="0">
                          <a:effectLst/>
                        </a:rPr>
                      </a:br>
                      <a:r>
                        <a:rPr lang="en-CA" sz="1600" b="0">
                          <a:effectLst/>
                        </a:rPr>
                        <a:t>please include data from Station 2601 with 12254.  </a:t>
                      </a:r>
                    </a:p>
                    <a:p>
                      <a:pPr>
                        <a:buNone/>
                      </a:pPr>
                      <a:r>
                        <a:rPr lang="en-CA" sz="1600" b="0">
                          <a:effectLst/>
                        </a:rPr>
                        <a:t>122.7419W, 53.9147N, Elev. 588 m, Network BC-AIR</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852073862"/>
                  </a:ext>
                </a:extLst>
              </a:tr>
              <a:tr h="485854">
                <a:tc>
                  <a:txBody>
                    <a:bodyPr/>
                    <a:lstStyle/>
                    <a:p>
                      <a:pPr marL="342900" lvl="0" indent="-342900">
                        <a:buFont typeface="+mj-lt"/>
                        <a:buAutoNum type="arabicPeriod"/>
                      </a:pPr>
                      <a:r>
                        <a:rPr lang="en-CA" sz="1600" b="0">
                          <a:effectLst/>
                        </a:rPr>
                        <a:t>Slide 7 E316370 –&gt; T050</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600" b="0" dirty="0">
                          <a:effectLst/>
                        </a:rPr>
                        <a:t>Not sure what the question is here – the data is from T050 Vancouver Clark Drive   </a:t>
                      </a:r>
                      <a:br>
                        <a:rPr lang="en-CA" sz="1600" b="0" dirty="0">
                          <a:effectLst/>
                        </a:rPr>
                      </a:br>
                      <a:r>
                        <a:rPr lang="en-CA" sz="1600" b="0" dirty="0">
                          <a:effectLst/>
                        </a:rPr>
                        <a:t>I would amalgamate the data from station ID 12582 with data from 12949 and then delete 12582</a:t>
                      </a:r>
                      <a:endParaRPr lang="en-CA" sz="16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7218150"/>
                  </a:ext>
                </a:extLst>
              </a:tr>
            </a:tbl>
          </a:graphicData>
        </a:graphic>
      </p:graphicFrame>
    </p:spTree>
    <p:extLst>
      <p:ext uri="{BB962C8B-B14F-4D97-AF65-F5344CB8AC3E}">
        <p14:creationId xmlns:p14="http://schemas.microsoft.com/office/powerpoint/2010/main" val="3328256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AACC-D554-F8C1-139E-5325442176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46698-6607-13C8-DA76-7E50493B2089}"/>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Missing data</a:t>
            </a:r>
          </a:p>
        </p:txBody>
      </p:sp>
      <p:sp>
        <p:nvSpPr>
          <p:cNvPr id="8" name="TextBox 7">
            <a:extLst>
              <a:ext uri="{FF2B5EF4-FFF2-40B4-BE49-F238E27FC236}">
                <a16:creationId xmlns:a16="http://schemas.microsoft.com/office/drawing/2014/main" id="{91C0B7EC-CA0C-1983-995E-12A8F6919B1E}"/>
              </a:ext>
            </a:extLst>
          </p:cNvPr>
          <p:cNvSpPr txBox="1"/>
          <p:nvPr/>
        </p:nvSpPr>
        <p:spPr>
          <a:xfrm>
            <a:off x="1075317" y="4203995"/>
            <a:ext cx="10329335" cy="338554"/>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The Missing data, anything we should or can do?</a:t>
            </a:r>
          </a:p>
        </p:txBody>
      </p:sp>
      <p:sp>
        <p:nvSpPr>
          <p:cNvPr id="4" name="TextBox 3">
            <a:extLst>
              <a:ext uri="{FF2B5EF4-FFF2-40B4-BE49-F238E27FC236}">
                <a16:creationId xmlns:a16="http://schemas.microsoft.com/office/drawing/2014/main" id="{219FF110-DF07-80D7-0C8F-86C155C71381}"/>
              </a:ext>
            </a:extLst>
          </p:cNvPr>
          <p:cNvSpPr txBox="1"/>
          <p:nvPr/>
        </p:nvSpPr>
        <p:spPr>
          <a:xfrm>
            <a:off x="651983" y="4912005"/>
            <a:ext cx="6330152" cy="1169551"/>
          </a:xfrm>
          <a:prstGeom prst="rect">
            <a:avLst/>
          </a:prstGeom>
          <a:noFill/>
        </p:spPr>
        <p:txBody>
          <a:bodyPr wrap="square" rtlCol="0">
            <a:spAutoFit/>
          </a:bodyPr>
          <a:lstStyle/>
          <a:p>
            <a:r>
              <a:rPr lang="en-CA" sz="1400" dirty="0">
                <a:highlight>
                  <a:srgbClr val="00FF00"/>
                </a:highlight>
              </a:rPr>
              <a:t>I think the best way to go is to make the attribution changes, then outline the stations where you have no data – this should be communicated to my replacement with a timeline attached for when the data should be reported and when it could be appended into the PCDS – they would then communicate this to the Network Coordinators.</a:t>
            </a:r>
          </a:p>
        </p:txBody>
      </p:sp>
      <p:pic>
        <p:nvPicPr>
          <p:cNvPr id="5" name="Picture 4" descr="A screenshot of a computer&#10;&#10;AI-generated content may be incorrect.">
            <a:extLst>
              <a:ext uri="{FF2B5EF4-FFF2-40B4-BE49-F238E27FC236}">
                <a16:creationId xmlns:a16="http://schemas.microsoft.com/office/drawing/2014/main" id="{893FD335-93D7-F081-15A0-3529187B765A}"/>
              </a:ext>
            </a:extLst>
          </p:cNvPr>
          <p:cNvPicPr>
            <a:picLocks noChangeAspect="1"/>
          </p:cNvPicPr>
          <p:nvPr/>
        </p:nvPicPr>
        <p:blipFill>
          <a:blip r:embed="rId2"/>
          <a:stretch>
            <a:fillRect/>
          </a:stretch>
        </p:blipFill>
        <p:spPr>
          <a:xfrm>
            <a:off x="2769809" y="374134"/>
            <a:ext cx="7772400" cy="3566238"/>
          </a:xfrm>
          <a:prstGeom prst="rect">
            <a:avLst/>
          </a:prstGeom>
        </p:spPr>
      </p:pic>
      <p:sp>
        <p:nvSpPr>
          <p:cNvPr id="11" name="TextBox 10">
            <a:extLst>
              <a:ext uri="{FF2B5EF4-FFF2-40B4-BE49-F238E27FC236}">
                <a16:creationId xmlns:a16="http://schemas.microsoft.com/office/drawing/2014/main" id="{4631A258-8398-AE3A-30B9-BA4E76F20EB9}"/>
              </a:ext>
            </a:extLst>
          </p:cNvPr>
          <p:cNvSpPr txBox="1"/>
          <p:nvPr/>
        </p:nvSpPr>
        <p:spPr>
          <a:xfrm>
            <a:off x="7678148" y="4767233"/>
            <a:ext cx="3726504" cy="523220"/>
          </a:xfrm>
          <a:prstGeom prst="rect">
            <a:avLst/>
          </a:prstGeom>
          <a:noFill/>
        </p:spPr>
        <p:txBody>
          <a:bodyPr wrap="square" rtlCol="0">
            <a:spAutoFit/>
          </a:bodyPr>
          <a:lstStyle/>
          <a:p>
            <a:r>
              <a:rPr lang="en-US" sz="1400" dirty="0">
                <a:solidFill>
                  <a:srgbClr val="FF0000"/>
                </a:solidFill>
                <a:highlight>
                  <a:srgbClr val="00FFFF"/>
                </a:highlight>
              </a:rPr>
              <a:t>For these stations, maybe we wait for the updating of new records?</a:t>
            </a:r>
          </a:p>
        </p:txBody>
      </p:sp>
      <p:sp>
        <p:nvSpPr>
          <p:cNvPr id="12" name="TextBox 11">
            <a:extLst>
              <a:ext uri="{FF2B5EF4-FFF2-40B4-BE49-F238E27FC236}">
                <a16:creationId xmlns:a16="http://schemas.microsoft.com/office/drawing/2014/main" id="{82D82612-96A1-AEDC-2569-3F6E384C89C9}"/>
              </a:ext>
            </a:extLst>
          </p:cNvPr>
          <p:cNvSpPr txBox="1"/>
          <p:nvPr/>
        </p:nvSpPr>
        <p:spPr>
          <a:xfrm>
            <a:off x="7678148" y="5389842"/>
            <a:ext cx="4120924" cy="738664"/>
          </a:xfrm>
          <a:prstGeom prst="rect">
            <a:avLst/>
          </a:prstGeom>
          <a:noFill/>
        </p:spPr>
        <p:txBody>
          <a:bodyPr wrap="square" rtlCol="0">
            <a:spAutoFit/>
          </a:bodyPr>
          <a:lstStyle/>
          <a:p>
            <a:r>
              <a:rPr lang="en-US" sz="1400" dirty="0">
                <a:highlight>
                  <a:srgbClr val="00FFFF"/>
                </a:highlight>
              </a:rPr>
              <a:t>For all stations, we want to record the gap each year</a:t>
            </a:r>
            <a:r>
              <a:rPr lang="en-CA" sz="1400" dirty="0">
                <a:highlight>
                  <a:srgbClr val="00FFFF"/>
                </a:highlight>
              </a:rPr>
              <a:t>.</a:t>
            </a:r>
            <a:r>
              <a:rPr lang="en-US" sz="1400" dirty="0">
                <a:highlight>
                  <a:srgbClr val="00FFFF"/>
                </a:highlight>
              </a:rPr>
              <a:t> Take it as s data quality control routine in the future.</a:t>
            </a:r>
          </a:p>
        </p:txBody>
      </p:sp>
      <p:sp>
        <p:nvSpPr>
          <p:cNvPr id="2" name="TextBox 1">
            <a:extLst>
              <a:ext uri="{FF2B5EF4-FFF2-40B4-BE49-F238E27FC236}">
                <a16:creationId xmlns:a16="http://schemas.microsoft.com/office/drawing/2014/main" id="{E357DA86-07B1-7384-4DAA-05EC471D76F6}"/>
              </a:ext>
            </a:extLst>
          </p:cNvPr>
          <p:cNvSpPr txBox="1"/>
          <p:nvPr/>
        </p:nvSpPr>
        <p:spPr>
          <a:xfrm>
            <a:off x="7630886" y="6313714"/>
            <a:ext cx="2797241" cy="369332"/>
          </a:xfrm>
          <a:prstGeom prst="rect">
            <a:avLst/>
          </a:prstGeom>
          <a:noFill/>
        </p:spPr>
        <p:txBody>
          <a:bodyPr wrap="none" rtlCol="0">
            <a:spAutoFit/>
          </a:bodyPr>
          <a:lstStyle/>
          <a:p>
            <a:r>
              <a:rPr lang="en-US" dirty="0">
                <a:highlight>
                  <a:srgbClr val="00FFFF"/>
                </a:highlight>
              </a:rPr>
              <a:t>Might be automated later?</a:t>
            </a:r>
          </a:p>
        </p:txBody>
      </p:sp>
    </p:spTree>
    <p:extLst>
      <p:ext uri="{BB962C8B-B14F-4D97-AF65-F5344CB8AC3E}">
        <p14:creationId xmlns:p14="http://schemas.microsoft.com/office/powerpoint/2010/main" val="304662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90073C-7A77-AFDE-227F-865BF2CAEC15}"/>
              </a:ext>
            </a:extLst>
          </p:cNvPr>
          <p:cNvGraphicFramePr>
            <a:graphicFrameLocks noGrp="1"/>
          </p:cNvGraphicFramePr>
          <p:nvPr>
            <p:extLst>
              <p:ext uri="{D42A27DB-BD31-4B8C-83A1-F6EECF244321}">
                <p14:modId xmlns:p14="http://schemas.microsoft.com/office/powerpoint/2010/main" val="784060735"/>
              </p:ext>
            </p:extLst>
          </p:nvPr>
        </p:nvGraphicFramePr>
        <p:xfrm>
          <a:off x="653143" y="1790405"/>
          <a:ext cx="10515600" cy="1097280"/>
        </p:xfrm>
        <a:graphic>
          <a:graphicData uri="http://schemas.openxmlformats.org/drawingml/2006/table">
            <a:tbl>
              <a:tblPr firstRow="1" firstCol="1" bandRow="1">
                <a:tableStyleId>{5C22544A-7EE6-4342-B048-85BDC9FD1C3A}</a:tableStyleId>
              </a:tblPr>
              <a:tblGrid>
                <a:gridCol w="4408714">
                  <a:extLst>
                    <a:ext uri="{9D8B030D-6E8A-4147-A177-3AD203B41FA5}">
                      <a16:colId xmlns:a16="http://schemas.microsoft.com/office/drawing/2014/main" val="4191277198"/>
                    </a:ext>
                  </a:extLst>
                </a:gridCol>
                <a:gridCol w="6106886">
                  <a:extLst>
                    <a:ext uri="{9D8B030D-6E8A-4147-A177-3AD203B41FA5}">
                      <a16:colId xmlns:a16="http://schemas.microsoft.com/office/drawing/2014/main" val="4227459775"/>
                    </a:ext>
                  </a:extLst>
                </a:gridCol>
              </a:tblGrid>
              <a:tr h="485854">
                <a:tc>
                  <a:txBody>
                    <a:bodyPr/>
                    <a:lstStyle/>
                    <a:p>
                      <a:pPr marL="342900" lvl="0" indent="-342900">
                        <a:buFont typeface="+mj-lt"/>
                        <a:buAutoNum type="arabicPeriod"/>
                      </a:pPr>
                      <a:r>
                        <a:rPr lang="en-US" sz="1800" b="0">
                          <a:effectLst/>
                        </a:rPr>
                        <a:t>Slide 8 - For these stations, maybe we wait for the updating of new records?</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800" b="0" dirty="0">
                          <a:effectLst/>
                        </a:rPr>
                        <a:t>Yes – absolutely!  This will wait until </a:t>
                      </a:r>
                      <a:r>
                        <a:rPr lang="en-US" sz="1800" b="0" dirty="0" err="1">
                          <a:effectLst/>
                        </a:rPr>
                        <a:t>datamart</a:t>
                      </a:r>
                      <a:r>
                        <a:rPr lang="en-US" sz="1800" b="0" dirty="0">
                          <a:effectLst/>
                        </a:rPr>
                        <a:t> starts publishing BC </a:t>
                      </a:r>
                      <a:r>
                        <a:rPr lang="en-US" sz="1800" b="0" dirty="0" err="1">
                          <a:effectLst/>
                        </a:rPr>
                        <a:t>AGRIWeather</a:t>
                      </a:r>
                      <a:r>
                        <a:rPr lang="en-US" sz="1800" b="0" dirty="0">
                          <a:effectLst/>
                        </a:rPr>
                        <a:t> data and then PCIC and </a:t>
                      </a:r>
                      <a:r>
                        <a:rPr lang="en-US" sz="1800" b="0" dirty="0" err="1">
                          <a:effectLst/>
                        </a:rPr>
                        <a:t>AGRIWeather</a:t>
                      </a:r>
                      <a:r>
                        <a:rPr lang="en-US" sz="1800" b="0" dirty="0">
                          <a:effectLst/>
                        </a:rPr>
                        <a:t> can agree on a bulk download end date (somewhat aligned with the </a:t>
                      </a:r>
                      <a:r>
                        <a:rPr lang="en-US" sz="1800" b="0" dirty="0" err="1">
                          <a:effectLst/>
                        </a:rPr>
                        <a:t>datamart</a:t>
                      </a:r>
                      <a:r>
                        <a:rPr lang="en-US" sz="1800" b="0" dirty="0">
                          <a:effectLst/>
                        </a:rPr>
                        <a:t> publication start date.</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1589412848"/>
                  </a:ext>
                </a:extLst>
              </a:tr>
            </a:tbl>
          </a:graphicData>
        </a:graphic>
      </p:graphicFrame>
    </p:spTree>
    <p:extLst>
      <p:ext uri="{BB962C8B-B14F-4D97-AF65-F5344CB8AC3E}">
        <p14:creationId xmlns:p14="http://schemas.microsoft.com/office/powerpoint/2010/main" val="2776178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75C1F48-AE18-79CB-E881-15983FBB7D64}"/>
              </a:ext>
            </a:extLst>
          </p:cNvPr>
          <p:cNvPicPr>
            <a:picLocks noChangeAspect="1"/>
          </p:cNvPicPr>
          <p:nvPr/>
        </p:nvPicPr>
        <p:blipFill>
          <a:blip r:embed="rId2"/>
          <a:stretch>
            <a:fillRect/>
          </a:stretch>
        </p:blipFill>
        <p:spPr>
          <a:xfrm>
            <a:off x="2413024" y="431800"/>
            <a:ext cx="6954089" cy="6239933"/>
          </a:xfrm>
          <a:prstGeom prst="rect">
            <a:avLst/>
          </a:prstGeom>
        </p:spPr>
      </p:pic>
    </p:spTree>
    <p:extLst>
      <p:ext uri="{BB962C8B-B14F-4D97-AF65-F5344CB8AC3E}">
        <p14:creationId xmlns:p14="http://schemas.microsoft.com/office/powerpoint/2010/main" val="3600475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38BEE4-C8BC-EAE4-2834-71A4C8CE3287}"/>
              </a:ext>
            </a:extLst>
          </p:cNvPr>
          <p:cNvSpPr txBox="1"/>
          <p:nvPr/>
        </p:nvSpPr>
        <p:spPr>
          <a:xfrm>
            <a:off x="536713" y="971402"/>
            <a:ext cx="8840946" cy="738664"/>
          </a:xfrm>
          <a:prstGeom prst="rect">
            <a:avLst/>
          </a:prstGeom>
          <a:noFill/>
        </p:spPr>
        <p:txBody>
          <a:bodyPr wrap="none" rtlCol="0">
            <a:spAutoFit/>
          </a:bodyPr>
          <a:lstStyle/>
          <a:p>
            <a:pPr marL="285750" indent="-285750">
              <a:buFont typeface="Arial" panose="020B0604020202020204" pitchFamily="34" charset="0"/>
              <a:buChar char="•"/>
            </a:pPr>
            <a:r>
              <a:rPr lang="en-CA" sz="1400" dirty="0"/>
              <a:t>"Additional - Responsibility Change - move any data from 2436 collected from Octo0ber 1, 2022 to this site",</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dirty="0"/>
              <a:t>'Site CLOSED - Move all data collected post October 1, 2022 to new ENV-ASP site "Breanda Mines" Line 1718'</a:t>
            </a:r>
          </a:p>
        </p:txBody>
      </p:sp>
      <p:sp>
        <p:nvSpPr>
          <p:cNvPr id="5" name="TextBox 4">
            <a:extLst>
              <a:ext uri="{FF2B5EF4-FFF2-40B4-BE49-F238E27FC236}">
                <a16:creationId xmlns:a16="http://schemas.microsoft.com/office/drawing/2014/main" id="{EB2BBE6B-EC16-6857-A5D3-94F8CF7FFBCB}"/>
              </a:ext>
            </a:extLst>
          </p:cNvPr>
          <p:cNvSpPr txBox="1"/>
          <p:nvPr/>
        </p:nvSpPr>
        <p:spPr>
          <a:xfrm>
            <a:off x="679174" y="1948071"/>
            <a:ext cx="10833651" cy="523220"/>
          </a:xfrm>
          <a:prstGeom prst="rect">
            <a:avLst/>
          </a:prstGeom>
          <a:solidFill>
            <a:schemeClr val="bg1">
              <a:lumMod val="85000"/>
            </a:schemeClr>
          </a:solidFill>
        </p:spPr>
        <p:txBody>
          <a:bodyPr wrap="square" rtlCol="0">
            <a:spAutoFit/>
          </a:bodyPr>
          <a:lstStyle/>
          <a:p>
            <a:pPr marL="285750" indent="-285750">
              <a:buFontTx/>
              <a:buChar char="-"/>
            </a:pPr>
            <a:r>
              <a:rPr lang="en-US" sz="1400" dirty="0"/>
              <a:t>I’ve built the new station </a:t>
            </a:r>
            <a:r>
              <a:rPr lang="en-CA" sz="1400" dirty="0"/>
              <a:t>"Breanda Mines"</a:t>
            </a:r>
            <a:r>
              <a:rPr lang="en-US" sz="1400" dirty="0"/>
              <a:t>, and moved all data after Oct 1 of the closed station to the new station. </a:t>
            </a:r>
            <a:r>
              <a:rPr lang="en-US" sz="1400" dirty="0">
                <a:highlight>
                  <a:srgbClr val="00FFFF"/>
                </a:highlight>
              </a:rPr>
              <a:t>We might want to leave the old station there.</a:t>
            </a:r>
          </a:p>
        </p:txBody>
      </p:sp>
      <p:graphicFrame>
        <p:nvGraphicFramePr>
          <p:cNvPr id="6" name="Table 5">
            <a:extLst>
              <a:ext uri="{FF2B5EF4-FFF2-40B4-BE49-F238E27FC236}">
                <a16:creationId xmlns:a16="http://schemas.microsoft.com/office/drawing/2014/main" id="{96D66DF4-4308-B37C-69E4-0C2D2056162D}"/>
              </a:ext>
            </a:extLst>
          </p:cNvPr>
          <p:cNvGraphicFramePr>
            <a:graphicFrameLocks noGrp="1"/>
          </p:cNvGraphicFramePr>
          <p:nvPr/>
        </p:nvGraphicFramePr>
        <p:xfrm>
          <a:off x="679174" y="3514196"/>
          <a:ext cx="10515600" cy="213360"/>
        </p:xfrm>
        <a:graphic>
          <a:graphicData uri="http://schemas.openxmlformats.org/drawingml/2006/table">
            <a:tbl>
              <a:tblPr>
                <a:tableStyleId>{5C22544A-7EE6-4342-B048-85BDC9FD1C3A}</a:tableStyleId>
              </a:tblPr>
              <a:tblGrid>
                <a:gridCol w="6316910">
                  <a:extLst>
                    <a:ext uri="{9D8B030D-6E8A-4147-A177-3AD203B41FA5}">
                      <a16:colId xmlns:a16="http://schemas.microsoft.com/office/drawing/2014/main" val="721916529"/>
                    </a:ext>
                  </a:extLst>
                </a:gridCol>
                <a:gridCol w="813732">
                  <a:extLst>
                    <a:ext uri="{9D8B030D-6E8A-4147-A177-3AD203B41FA5}">
                      <a16:colId xmlns:a16="http://schemas.microsoft.com/office/drawing/2014/main" val="2577262931"/>
                    </a:ext>
                  </a:extLst>
                </a:gridCol>
                <a:gridCol w="1377892">
                  <a:extLst>
                    <a:ext uri="{9D8B030D-6E8A-4147-A177-3AD203B41FA5}">
                      <a16:colId xmlns:a16="http://schemas.microsoft.com/office/drawing/2014/main" val="3091653698"/>
                    </a:ext>
                  </a:extLst>
                </a:gridCol>
                <a:gridCol w="2007066">
                  <a:extLst>
                    <a:ext uri="{9D8B030D-6E8A-4147-A177-3AD203B41FA5}">
                      <a16:colId xmlns:a16="http://schemas.microsoft.com/office/drawing/2014/main" val="3297818718"/>
                    </a:ext>
                  </a:extLst>
                </a:gridCol>
              </a:tblGrid>
              <a:tr h="119591">
                <a:tc>
                  <a:txBody>
                    <a:bodyPr/>
                    <a:lstStyle/>
                    <a:p>
                      <a:pPr algn="l" fontAlgn="b">
                        <a:buNone/>
                      </a:pPr>
                      <a:r>
                        <a:rPr lang="en-CA" sz="1400" u="none" strike="noStrike" dirty="0">
                          <a:effectLst/>
                        </a:rPr>
                        <a:t>CLOSED - Possibly Trail Butler park pre 2010</a:t>
                      </a:r>
                      <a:endParaRPr lang="en-CA" sz="1400" b="0" i="0" u="none" strike="noStrike" dirty="0">
                        <a:solidFill>
                          <a:srgbClr val="000000"/>
                        </a:solidFill>
                        <a:effectLst/>
                        <a:latin typeface="Aptos Narrow" panose="020B0004020202020204" pitchFamily="34" charset="0"/>
                      </a:endParaRPr>
                    </a:p>
                  </a:txBody>
                  <a:tcPr marL="0" marR="0" marT="0" marB="0" anchor="b"/>
                </a:tc>
                <a:tc>
                  <a:txBody>
                    <a:bodyPr/>
                    <a:lstStyle/>
                    <a:p>
                      <a:pPr algn="r" fontAlgn="b">
                        <a:buNone/>
                      </a:pPr>
                      <a:r>
                        <a:rPr lang="en-CA" sz="1400" u="none" strike="noStrike">
                          <a:effectLst/>
                        </a:rPr>
                        <a:t>9</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a:effectLst/>
                        </a:rPr>
                        <a:t>BC-Air</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dirty="0">
                          <a:effectLst/>
                        </a:rPr>
                        <a:t>M114902</a:t>
                      </a:r>
                      <a:endParaRPr lang="en-CA" sz="14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73024593"/>
                  </a:ext>
                </a:extLst>
              </a:tr>
            </a:tbl>
          </a:graphicData>
        </a:graphic>
      </p:graphicFrame>
      <p:sp>
        <p:nvSpPr>
          <p:cNvPr id="7" name="TextBox 6">
            <a:extLst>
              <a:ext uri="{FF2B5EF4-FFF2-40B4-BE49-F238E27FC236}">
                <a16:creationId xmlns:a16="http://schemas.microsoft.com/office/drawing/2014/main" id="{1722C4C5-293D-328F-E84F-9222896CED32}"/>
              </a:ext>
            </a:extLst>
          </p:cNvPr>
          <p:cNvSpPr txBox="1"/>
          <p:nvPr/>
        </p:nvSpPr>
        <p:spPr>
          <a:xfrm>
            <a:off x="599617" y="4009162"/>
            <a:ext cx="7337502" cy="1754326"/>
          </a:xfrm>
          <a:prstGeom prst="rect">
            <a:avLst/>
          </a:prstGeom>
          <a:noFill/>
        </p:spPr>
        <p:txBody>
          <a:bodyPr wrap="square" rtlCol="0">
            <a:spAutoFit/>
          </a:bodyPr>
          <a:lstStyle/>
          <a:p>
            <a:r>
              <a:rPr lang="en-US" dirty="0"/>
              <a:t>Found </a:t>
            </a:r>
            <a:r>
              <a:rPr lang="en-CA" dirty="0"/>
              <a:t>Trail Butler Park (12579)</a:t>
            </a:r>
            <a:r>
              <a:rPr lang="en-US" dirty="0"/>
              <a:t> as </a:t>
            </a:r>
            <a:r>
              <a:rPr lang="en-US" dirty="0" err="1"/>
              <a:t>native_id</a:t>
            </a:r>
            <a:r>
              <a:rPr lang="en-US" dirty="0"/>
              <a:t> in network 9.</a:t>
            </a:r>
          </a:p>
          <a:p>
            <a:endParaRPr lang="en-US" dirty="0"/>
          </a:p>
          <a:p>
            <a:endParaRPr lang="en-US" dirty="0">
              <a:highlight>
                <a:srgbClr val="00FFFF"/>
              </a:highlight>
            </a:endParaRPr>
          </a:p>
          <a:p>
            <a:r>
              <a:rPr lang="en-US" dirty="0">
                <a:highlight>
                  <a:srgbClr val="00FFFF"/>
                </a:highlight>
              </a:rPr>
              <a:t>I think we want to keep both the new and old station meta data?</a:t>
            </a:r>
          </a:p>
          <a:p>
            <a:endParaRPr lang="en-US" dirty="0"/>
          </a:p>
          <a:p>
            <a:endParaRPr lang="en-US" dirty="0"/>
          </a:p>
        </p:txBody>
      </p:sp>
      <p:pic>
        <p:nvPicPr>
          <p:cNvPr id="11" name="Picture 10" descr="A computer screen with numbers and numbers&#10;&#10;AI-generated content may be incorrect.">
            <a:extLst>
              <a:ext uri="{FF2B5EF4-FFF2-40B4-BE49-F238E27FC236}">
                <a16:creationId xmlns:a16="http://schemas.microsoft.com/office/drawing/2014/main" id="{3DE04AAB-0FA4-735D-1ED7-6C088E025306}"/>
              </a:ext>
            </a:extLst>
          </p:cNvPr>
          <p:cNvPicPr>
            <a:picLocks noChangeAspect="1"/>
          </p:cNvPicPr>
          <p:nvPr/>
        </p:nvPicPr>
        <p:blipFill>
          <a:blip r:embed="rId2"/>
          <a:stretch>
            <a:fillRect/>
          </a:stretch>
        </p:blipFill>
        <p:spPr>
          <a:xfrm>
            <a:off x="7405330" y="4131471"/>
            <a:ext cx="4108174" cy="2310848"/>
          </a:xfrm>
          <a:prstGeom prst="rect">
            <a:avLst/>
          </a:prstGeom>
        </p:spPr>
      </p:pic>
      <p:sp>
        <p:nvSpPr>
          <p:cNvPr id="12" name="TextBox 11">
            <a:extLst>
              <a:ext uri="{FF2B5EF4-FFF2-40B4-BE49-F238E27FC236}">
                <a16:creationId xmlns:a16="http://schemas.microsoft.com/office/drawing/2014/main" id="{A35F0A2A-ECF7-4414-92C8-757CB786D258}"/>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BA892559-9003-FEDF-57DB-42DD869E0EFF}"/>
              </a:ext>
            </a:extLst>
          </p:cNvPr>
          <p:cNvSpPr txBox="1"/>
          <p:nvPr/>
        </p:nvSpPr>
        <p:spPr>
          <a:xfrm>
            <a:off x="599617" y="5394156"/>
            <a:ext cx="6142707" cy="369332"/>
          </a:xfrm>
          <a:prstGeom prst="rect">
            <a:avLst/>
          </a:prstGeom>
          <a:noFill/>
        </p:spPr>
        <p:txBody>
          <a:bodyPr wrap="none" rtlCol="0">
            <a:spAutoFit/>
          </a:bodyPr>
          <a:lstStyle/>
          <a:p>
            <a:r>
              <a:rPr lang="en-US" dirty="0">
                <a:highlight>
                  <a:srgbClr val="00FFFF"/>
                </a:highlight>
              </a:rPr>
              <a:t>Might be automated later? In this case, we delete the station</a:t>
            </a:r>
          </a:p>
        </p:txBody>
      </p:sp>
    </p:spTree>
    <p:extLst>
      <p:ext uri="{BB962C8B-B14F-4D97-AF65-F5344CB8AC3E}">
        <p14:creationId xmlns:p14="http://schemas.microsoft.com/office/powerpoint/2010/main" val="2294193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254BA0-2CBE-E5CC-3680-FDBE3099BF60}"/>
              </a:ext>
            </a:extLst>
          </p:cNvPr>
          <p:cNvSpPr txBox="1"/>
          <p:nvPr/>
        </p:nvSpPr>
        <p:spPr>
          <a:xfrm>
            <a:off x="442332" y="880574"/>
            <a:ext cx="10719312" cy="3108543"/>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en-CA" sz="1400" dirty="0"/>
              <a:t>CLOSED - responsibility change - Move any data from this site collected from October 1, 2022 on to New </a:t>
            </a:r>
            <a:r>
              <a:rPr lang="en-CA" sz="1400" dirty="0" err="1"/>
              <a:t>addditional</a:t>
            </a:r>
            <a:r>
              <a:rPr lang="en-CA" sz="1400" dirty="0"/>
              <a:t> station (line 1932 - "Moyie Mountain", BC H)</a:t>
            </a:r>
          </a:p>
          <a:p>
            <a:r>
              <a:rPr lang="en-CA" sz="1400" dirty="0"/>
              <a:t>	14 BC-Snow </a:t>
            </a:r>
            <a:r>
              <a:rPr lang="en-CA" sz="1400" i="1" dirty="0"/>
              <a:t>2C10P</a:t>
            </a:r>
            <a:r>
              <a:rPr lang="en-CA" sz="1400" dirty="0"/>
              <a:t> 2549 Moyie Mountain 115.767 W, 49.25 N, Elev. 1930 m</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Additional - Responsibility Transfer - </a:t>
            </a:r>
            <a:r>
              <a:rPr lang="en-US" sz="1400" u="sng" dirty="0"/>
              <a:t>Move any data from 35092 </a:t>
            </a:r>
            <a:r>
              <a:rPr lang="en-US" sz="1400" dirty="0"/>
              <a:t>collected post October 1, 2022 to this record.</a:t>
            </a:r>
          </a:p>
          <a:p>
            <a:endParaRPr lang="en-US" sz="1400" dirty="0"/>
          </a:p>
          <a:p>
            <a:endParaRPr lang="en-US" sz="1400" dirty="0"/>
          </a:p>
          <a:p>
            <a:r>
              <a:rPr lang="en-US" sz="1400" dirty="0"/>
              <a:t>First insert the new station;</a:t>
            </a:r>
          </a:p>
          <a:p>
            <a:endParaRPr lang="en-US" sz="1400" dirty="0"/>
          </a:p>
          <a:p>
            <a:r>
              <a:rPr lang="en-US" sz="1400" dirty="0">
                <a:highlight>
                  <a:srgbClr val="FF00FF"/>
                </a:highlight>
              </a:rPr>
              <a:t>Then founds old station 2C10P has 0 observation records </a:t>
            </a:r>
          </a:p>
          <a:p>
            <a:endParaRPr lang="en-US" sz="1400" dirty="0">
              <a:highlight>
                <a:srgbClr val="FF00FF"/>
              </a:highlight>
            </a:endParaRPr>
          </a:p>
          <a:p>
            <a:r>
              <a:rPr lang="en-US" sz="1400" dirty="0">
                <a:highlight>
                  <a:srgbClr val="FF00FF"/>
                </a:highlight>
              </a:rPr>
              <a:t>Also seems no station with id 35092 (no meta data)</a:t>
            </a:r>
          </a:p>
          <a:p>
            <a:endParaRPr lang="en-US" sz="1400" dirty="0"/>
          </a:p>
          <a:p>
            <a:endParaRPr lang="en-US" sz="1400" dirty="0"/>
          </a:p>
        </p:txBody>
      </p:sp>
      <p:sp>
        <p:nvSpPr>
          <p:cNvPr id="11" name="TextBox 10">
            <a:extLst>
              <a:ext uri="{FF2B5EF4-FFF2-40B4-BE49-F238E27FC236}">
                <a16:creationId xmlns:a16="http://schemas.microsoft.com/office/drawing/2014/main" id="{9210367D-CB3C-88AC-A161-9FCEB7BA4660}"/>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DE7F8445-7AF9-06C3-988A-B117215C1535}"/>
              </a:ext>
            </a:extLst>
          </p:cNvPr>
          <p:cNvSpPr txBox="1"/>
          <p:nvPr/>
        </p:nvSpPr>
        <p:spPr>
          <a:xfrm>
            <a:off x="550333" y="4258733"/>
            <a:ext cx="7318991" cy="369332"/>
          </a:xfrm>
          <a:prstGeom prst="rect">
            <a:avLst/>
          </a:prstGeom>
          <a:noFill/>
        </p:spPr>
        <p:txBody>
          <a:bodyPr wrap="none" rtlCol="0">
            <a:spAutoFit/>
          </a:bodyPr>
          <a:lstStyle/>
          <a:p>
            <a:r>
              <a:rPr lang="en-US" dirty="0">
                <a:highlight>
                  <a:srgbClr val="00FFFF"/>
                </a:highlight>
              </a:rPr>
              <a:t>I’ve added the new station, seems don’t need to move any data. So done.</a:t>
            </a:r>
          </a:p>
        </p:txBody>
      </p:sp>
    </p:spTree>
    <p:extLst>
      <p:ext uri="{BB962C8B-B14F-4D97-AF65-F5344CB8AC3E}">
        <p14:creationId xmlns:p14="http://schemas.microsoft.com/office/powerpoint/2010/main" val="2688043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F9B38B3-D138-6C76-D90D-5AC77CC0DF3E}"/>
              </a:ext>
            </a:extLst>
          </p:cNvPr>
          <p:cNvGraphicFramePr>
            <a:graphicFrameLocks noGrp="1"/>
          </p:cNvGraphicFramePr>
          <p:nvPr>
            <p:extLst>
              <p:ext uri="{D42A27DB-BD31-4B8C-83A1-F6EECF244321}">
                <p14:modId xmlns:p14="http://schemas.microsoft.com/office/powerpoint/2010/main" val="1336151630"/>
              </p:ext>
            </p:extLst>
          </p:nvPr>
        </p:nvGraphicFramePr>
        <p:xfrm>
          <a:off x="778933" y="3537561"/>
          <a:ext cx="10515600" cy="504000"/>
        </p:xfrm>
        <a:graphic>
          <a:graphicData uri="http://schemas.openxmlformats.org/drawingml/2006/table">
            <a:tbl>
              <a:tblPr>
                <a:tableStyleId>{5C22544A-7EE6-4342-B048-85BDC9FD1C3A}</a:tableStyleId>
              </a:tblPr>
              <a:tblGrid>
                <a:gridCol w="1752600">
                  <a:extLst>
                    <a:ext uri="{9D8B030D-6E8A-4147-A177-3AD203B41FA5}">
                      <a16:colId xmlns:a16="http://schemas.microsoft.com/office/drawing/2014/main" val="4172751357"/>
                    </a:ext>
                  </a:extLst>
                </a:gridCol>
                <a:gridCol w="685800">
                  <a:extLst>
                    <a:ext uri="{9D8B030D-6E8A-4147-A177-3AD203B41FA5}">
                      <a16:colId xmlns:a16="http://schemas.microsoft.com/office/drawing/2014/main" val="1614884677"/>
                    </a:ext>
                  </a:extLst>
                </a:gridCol>
                <a:gridCol w="2019300">
                  <a:extLst>
                    <a:ext uri="{9D8B030D-6E8A-4147-A177-3AD203B41FA5}">
                      <a16:colId xmlns:a16="http://schemas.microsoft.com/office/drawing/2014/main" val="3121469174"/>
                    </a:ext>
                  </a:extLst>
                </a:gridCol>
                <a:gridCol w="2019300">
                  <a:extLst>
                    <a:ext uri="{9D8B030D-6E8A-4147-A177-3AD203B41FA5}">
                      <a16:colId xmlns:a16="http://schemas.microsoft.com/office/drawing/2014/main" val="2606551220"/>
                    </a:ext>
                  </a:extLst>
                </a:gridCol>
                <a:gridCol w="756920">
                  <a:extLst>
                    <a:ext uri="{9D8B030D-6E8A-4147-A177-3AD203B41FA5}">
                      <a16:colId xmlns:a16="http://schemas.microsoft.com/office/drawing/2014/main" val="176993398"/>
                    </a:ext>
                  </a:extLst>
                </a:gridCol>
                <a:gridCol w="3281680">
                  <a:extLst>
                    <a:ext uri="{9D8B030D-6E8A-4147-A177-3AD203B41FA5}">
                      <a16:colId xmlns:a16="http://schemas.microsoft.com/office/drawing/2014/main" val="1747845894"/>
                    </a:ext>
                  </a:extLst>
                </a:gridCol>
              </a:tblGrid>
              <a:tr h="504000">
                <a:tc>
                  <a:txBody>
                    <a:bodyPr/>
                    <a:lstStyle/>
                    <a:p>
                      <a:pPr algn="l" fontAlgn="b">
                        <a:buNone/>
                      </a:pPr>
                      <a:r>
                        <a:rPr lang="en-CA" sz="1400" u="none" strike="noStrike" dirty="0">
                          <a:effectLst/>
                        </a:rPr>
                        <a:t>Name, ID, </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5</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BCH-GSO-HMP</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solidFill>
                            <a:srgbClr val="FF0000"/>
                          </a:solidFill>
                          <a:effectLst/>
                        </a:rPr>
                        <a:t>DBC -&gt; DBC2?</a:t>
                      </a:r>
                      <a:endParaRPr lang="en-CA" sz="1400" b="0"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2452</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Duncan R. </a:t>
                      </a:r>
                      <a:r>
                        <a:rPr lang="en-CA" sz="1400" u="none" strike="noStrike" dirty="0" err="1">
                          <a:effectLst/>
                        </a:rPr>
                        <a:t>blw</a:t>
                      </a:r>
                      <a:r>
                        <a:rPr lang="en-CA" sz="1400" u="none" strike="noStrike" dirty="0">
                          <a:effectLst/>
                        </a:rPr>
                        <a:t> BB Ck -&gt; Duncan River Below Blue Berry Creek 2</a:t>
                      </a:r>
                      <a:endParaRPr lang="en-CA" sz="1400" b="1" i="0" u="none" strike="noStrike" dirty="0">
                        <a:solidFill>
                          <a:srgbClr val="9C0006"/>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2864344170"/>
                  </a:ext>
                </a:extLst>
              </a:tr>
            </a:tbl>
          </a:graphicData>
        </a:graphic>
      </p:graphicFrame>
      <p:graphicFrame>
        <p:nvGraphicFramePr>
          <p:cNvPr id="3" name="Table 2">
            <a:extLst>
              <a:ext uri="{FF2B5EF4-FFF2-40B4-BE49-F238E27FC236}">
                <a16:creationId xmlns:a16="http://schemas.microsoft.com/office/drawing/2014/main" id="{6B2D3ACA-9BDE-35E2-D687-85AF78D06F7E}"/>
              </a:ext>
            </a:extLst>
          </p:cNvPr>
          <p:cNvGraphicFramePr>
            <a:graphicFrameLocks noGrp="1"/>
          </p:cNvGraphicFramePr>
          <p:nvPr>
            <p:extLst>
              <p:ext uri="{D42A27DB-BD31-4B8C-83A1-F6EECF244321}">
                <p14:modId xmlns:p14="http://schemas.microsoft.com/office/powerpoint/2010/main" val="1984401258"/>
              </p:ext>
            </p:extLst>
          </p:nvPr>
        </p:nvGraphicFramePr>
        <p:xfrm>
          <a:off x="778932" y="4264731"/>
          <a:ext cx="10515601" cy="213360"/>
        </p:xfrm>
        <a:graphic>
          <a:graphicData uri="http://schemas.openxmlformats.org/drawingml/2006/table">
            <a:tbl>
              <a:tblPr>
                <a:tableStyleId>{5C22544A-7EE6-4342-B048-85BDC9FD1C3A}</a:tableStyleId>
              </a:tblPr>
              <a:tblGrid>
                <a:gridCol w="1986280">
                  <a:extLst>
                    <a:ext uri="{9D8B030D-6E8A-4147-A177-3AD203B41FA5}">
                      <a16:colId xmlns:a16="http://schemas.microsoft.com/office/drawing/2014/main" val="1853256533"/>
                    </a:ext>
                  </a:extLst>
                </a:gridCol>
                <a:gridCol w="518160">
                  <a:extLst>
                    <a:ext uri="{9D8B030D-6E8A-4147-A177-3AD203B41FA5}">
                      <a16:colId xmlns:a16="http://schemas.microsoft.com/office/drawing/2014/main" val="2160192770"/>
                    </a:ext>
                  </a:extLst>
                </a:gridCol>
                <a:gridCol w="1493520">
                  <a:extLst>
                    <a:ext uri="{9D8B030D-6E8A-4147-A177-3AD203B41FA5}">
                      <a16:colId xmlns:a16="http://schemas.microsoft.com/office/drawing/2014/main" val="1126891242"/>
                    </a:ext>
                  </a:extLst>
                </a:gridCol>
                <a:gridCol w="1442720">
                  <a:extLst>
                    <a:ext uri="{9D8B030D-6E8A-4147-A177-3AD203B41FA5}">
                      <a16:colId xmlns:a16="http://schemas.microsoft.com/office/drawing/2014/main" val="2800357047"/>
                    </a:ext>
                  </a:extLst>
                </a:gridCol>
                <a:gridCol w="812800">
                  <a:extLst>
                    <a:ext uri="{9D8B030D-6E8A-4147-A177-3AD203B41FA5}">
                      <a16:colId xmlns:a16="http://schemas.microsoft.com/office/drawing/2014/main" val="3193739177"/>
                    </a:ext>
                  </a:extLst>
                </a:gridCol>
                <a:gridCol w="1999094">
                  <a:extLst>
                    <a:ext uri="{9D8B030D-6E8A-4147-A177-3AD203B41FA5}">
                      <a16:colId xmlns:a16="http://schemas.microsoft.com/office/drawing/2014/main" val="1133128954"/>
                    </a:ext>
                  </a:extLst>
                </a:gridCol>
                <a:gridCol w="2263027">
                  <a:extLst>
                    <a:ext uri="{9D8B030D-6E8A-4147-A177-3AD203B41FA5}">
                      <a16:colId xmlns:a16="http://schemas.microsoft.com/office/drawing/2014/main" val="3401152719"/>
                    </a:ext>
                  </a:extLst>
                </a:gridCol>
              </a:tblGrid>
              <a:tr h="66070">
                <a:tc>
                  <a:txBody>
                    <a:bodyPr/>
                    <a:lstStyle/>
                    <a:p>
                      <a:pPr algn="l" fontAlgn="b">
                        <a:buNone/>
                      </a:pPr>
                      <a:r>
                        <a:rPr lang="en-CA" sz="1400" u="none" strike="noStrike">
                          <a:effectLst/>
                        </a:rPr>
                        <a:t>Name, Location?</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BCH-GSO-HMP</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2455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 R. ab Campbell Lk</a:t>
                      </a:r>
                      <a:endParaRPr lang="en-CA" sz="1400" b="1" i="0" u="none" strike="noStrike">
                        <a:solidFill>
                          <a:srgbClr val="9C0006"/>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 </a:t>
                      </a:r>
                      <a:r>
                        <a:rPr lang="en-CA" sz="1400" u="none" strike="noStrike" dirty="0">
                          <a:solidFill>
                            <a:srgbClr val="FF0000"/>
                          </a:solidFill>
                          <a:effectLst/>
                        </a:rPr>
                        <a:t>BLANK</a:t>
                      </a:r>
                      <a:endParaRPr lang="en-CA" sz="1400" b="0" i="0" u="none" strike="noStrike" dirty="0">
                        <a:solidFill>
                          <a:srgbClr val="FF0000"/>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1733459560"/>
                  </a:ext>
                </a:extLst>
              </a:tr>
            </a:tbl>
          </a:graphicData>
        </a:graphic>
      </p:graphicFrame>
      <p:sp>
        <p:nvSpPr>
          <p:cNvPr id="4" name="TextBox 3">
            <a:extLst>
              <a:ext uri="{FF2B5EF4-FFF2-40B4-BE49-F238E27FC236}">
                <a16:creationId xmlns:a16="http://schemas.microsoft.com/office/drawing/2014/main" id="{551C1A35-5443-47E1-BB4B-8D368F381DCE}"/>
              </a:ext>
            </a:extLst>
          </p:cNvPr>
          <p:cNvSpPr txBox="1"/>
          <p:nvPr/>
        </p:nvSpPr>
        <p:spPr>
          <a:xfrm>
            <a:off x="690217" y="4796472"/>
            <a:ext cx="4140621" cy="369332"/>
          </a:xfrm>
          <a:prstGeom prst="rect">
            <a:avLst/>
          </a:prstGeom>
          <a:noFill/>
        </p:spPr>
        <p:txBody>
          <a:bodyPr wrap="none" rtlCol="0">
            <a:spAutoFit/>
          </a:bodyPr>
          <a:lstStyle/>
          <a:p>
            <a:r>
              <a:rPr lang="en-US" dirty="0">
                <a:solidFill>
                  <a:srgbClr val="FF0000"/>
                </a:solidFill>
                <a:highlight>
                  <a:srgbClr val="00FFFF"/>
                </a:highlight>
              </a:rPr>
              <a:t>The red part need to hear back from Ted </a:t>
            </a:r>
          </a:p>
        </p:txBody>
      </p:sp>
      <p:sp>
        <p:nvSpPr>
          <p:cNvPr id="8" name="TextBox 7">
            <a:extLst>
              <a:ext uri="{FF2B5EF4-FFF2-40B4-BE49-F238E27FC236}">
                <a16:creationId xmlns:a16="http://schemas.microsoft.com/office/drawing/2014/main" id="{3ABBE4A5-64A9-2783-EDE3-09F6CB53C4DD}"/>
              </a:ext>
            </a:extLst>
          </p:cNvPr>
          <p:cNvSpPr txBox="1"/>
          <p:nvPr/>
        </p:nvSpPr>
        <p:spPr>
          <a:xfrm>
            <a:off x="690217" y="2117258"/>
            <a:ext cx="10097957" cy="369332"/>
          </a:xfrm>
          <a:prstGeom prst="rect">
            <a:avLst/>
          </a:prstGeom>
          <a:noFill/>
        </p:spPr>
        <p:txBody>
          <a:bodyPr wrap="none" rtlCol="0">
            <a:spAutoFit/>
          </a:bodyPr>
          <a:lstStyle/>
          <a:p>
            <a:r>
              <a:rPr lang="en-US" dirty="0">
                <a:highlight>
                  <a:srgbClr val="00FFFF"/>
                </a:highlight>
              </a:rPr>
              <a:t>I</a:t>
            </a:r>
            <a:r>
              <a:rPr lang="zh-CN" altLang="en-US" dirty="0">
                <a:highlight>
                  <a:srgbClr val="00FFFF"/>
                </a:highlight>
              </a:rPr>
              <a:t> </a:t>
            </a:r>
            <a:r>
              <a:rPr lang="en-US" altLang="zh-CN" dirty="0">
                <a:highlight>
                  <a:srgbClr val="00FFFF"/>
                </a:highlight>
              </a:rPr>
              <a:t>think I need to update the </a:t>
            </a:r>
            <a:r>
              <a:rPr lang="en-US" altLang="zh-CN" dirty="0" err="1">
                <a:highlight>
                  <a:srgbClr val="00FFFF"/>
                </a:highlight>
              </a:rPr>
              <a:t>station_names</a:t>
            </a:r>
            <a:r>
              <a:rPr lang="en-US" altLang="zh-CN" dirty="0">
                <a:highlight>
                  <a:srgbClr val="00FFFF"/>
                </a:highlight>
              </a:rPr>
              <a:t> on my end, </a:t>
            </a:r>
            <a:r>
              <a:rPr lang="en-US" altLang="zh-CN" dirty="0">
                <a:solidFill>
                  <a:srgbClr val="FF0000"/>
                </a:solidFill>
                <a:highlight>
                  <a:srgbClr val="00FFFF"/>
                </a:highlight>
              </a:rPr>
              <a:t>Ted probs want to do some updates on his end</a:t>
            </a:r>
            <a:endParaRPr lang="en-US" dirty="0">
              <a:solidFill>
                <a:srgbClr val="FF0000"/>
              </a:solidFill>
              <a:highlight>
                <a:srgbClr val="00FFFF"/>
              </a:highlight>
            </a:endParaRPr>
          </a:p>
        </p:txBody>
      </p:sp>
      <p:graphicFrame>
        <p:nvGraphicFramePr>
          <p:cNvPr id="9" name="Table 8">
            <a:extLst>
              <a:ext uri="{FF2B5EF4-FFF2-40B4-BE49-F238E27FC236}">
                <a16:creationId xmlns:a16="http://schemas.microsoft.com/office/drawing/2014/main" id="{FBC84241-52B5-5059-ECD3-B9F56173EB3B}"/>
              </a:ext>
            </a:extLst>
          </p:cNvPr>
          <p:cNvGraphicFramePr>
            <a:graphicFrameLocks noGrp="1"/>
          </p:cNvGraphicFramePr>
          <p:nvPr>
            <p:extLst>
              <p:ext uri="{D42A27DB-BD31-4B8C-83A1-F6EECF244321}">
                <p14:modId xmlns:p14="http://schemas.microsoft.com/office/powerpoint/2010/main" val="1541903660"/>
              </p:ext>
            </p:extLst>
          </p:nvPr>
        </p:nvGraphicFramePr>
        <p:xfrm>
          <a:off x="778933" y="1091254"/>
          <a:ext cx="10515600" cy="762000"/>
        </p:xfrm>
        <a:graphic>
          <a:graphicData uri="http://schemas.openxmlformats.org/drawingml/2006/table">
            <a:tbl>
              <a:tblPr>
                <a:tableStyleId>{5C22544A-7EE6-4342-B048-85BDC9FD1C3A}</a:tableStyleId>
              </a:tblPr>
              <a:tblGrid>
                <a:gridCol w="1710267">
                  <a:extLst>
                    <a:ext uri="{9D8B030D-6E8A-4147-A177-3AD203B41FA5}">
                      <a16:colId xmlns:a16="http://schemas.microsoft.com/office/drawing/2014/main" val="2623216335"/>
                    </a:ext>
                  </a:extLst>
                </a:gridCol>
                <a:gridCol w="474133">
                  <a:extLst>
                    <a:ext uri="{9D8B030D-6E8A-4147-A177-3AD203B41FA5}">
                      <a16:colId xmlns:a16="http://schemas.microsoft.com/office/drawing/2014/main" val="1708234453"/>
                    </a:ext>
                  </a:extLst>
                </a:gridCol>
                <a:gridCol w="1202267">
                  <a:extLst>
                    <a:ext uri="{9D8B030D-6E8A-4147-A177-3AD203B41FA5}">
                      <a16:colId xmlns:a16="http://schemas.microsoft.com/office/drawing/2014/main" val="2605684236"/>
                    </a:ext>
                  </a:extLst>
                </a:gridCol>
                <a:gridCol w="601133">
                  <a:extLst>
                    <a:ext uri="{9D8B030D-6E8A-4147-A177-3AD203B41FA5}">
                      <a16:colId xmlns:a16="http://schemas.microsoft.com/office/drawing/2014/main" val="3448950111"/>
                    </a:ext>
                  </a:extLst>
                </a:gridCol>
                <a:gridCol w="897467">
                  <a:extLst>
                    <a:ext uri="{9D8B030D-6E8A-4147-A177-3AD203B41FA5}">
                      <a16:colId xmlns:a16="http://schemas.microsoft.com/office/drawing/2014/main" val="1282621364"/>
                    </a:ext>
                  </a:extLst>
                </a:gridCol>
                <a:gridCol w="2446801">
                  <a:extLst>
                    <a:ext uri="{9D8B030D-6E8A-4147-A177-3AD203B41FA5}">
                      <a16:colId xmlns:a16="http://schemas.microsoft.com/office/drawing/2014/main" val="1068250812"/>
                    </a:ext>
                  </a:extLst>
                </a:gridCol>
                <a:gridCol w="3183532">
                  <a:extLst>
                    <a:ext uri="{9D8B030D-6E8A-4147-A177-3AD203B41FA5}">
                      <a16:colId xmlns:a16="http://schemas.microsoft.com/office/drawing/2014/main" val="802417317"/>
                    </a:ext>
                  </a:extLst>
                </a:gridCol>
              </a:tblGrid>
              <a:tr h="172216">
                <a:tc>
                  <a:txBody>
                    <a:bodyPr/>
                    <a:lstStyle/>
                    <a:p>
                      <a:pPr algn="ctr" fontAlgn="b">
                        <a:buNone/>
                      </a:pPr>
                      <a:r>
                        <a:rPr lang="en-CA" sz="1000" u="none" strike="noStrike" dirty="0">
                          <a:effectLst/>
                        </a:rPr>
                        <a:t>NOT on ENV LIST</a:t>
                      </a:r>
                      <a:endParaRPr lang="en-CA" sz="1000" b="0"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OMI</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2486</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Ominica R. ab Osilinka R. -&gt; Omineca River above Osilinka River</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124.56 W, 55.94 N, Elev. 715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48440698"/>
                  </a:ext>
                </a:extLst>
              </a:tr>
              <a:tr h="172216">
                <a:tc>
                  <a:txBody>
                    <a:bodyPr/>
                    <a:lstStyle/>
                    <a:p>
                      <a:pPr algn="ctr" fontAlgn="b">
                        <a:buNone/>
                      </a:pPr>
                      <a:r>
                        <a:rPr lang="en-CA" sz="1000" u="none" strike="noStrike" dirty="0">
                          <a:effectLst/>
                        </a:rPr>
                        <a:t>NOT on ENV LIST</a:t>
                      </a:r>
                      <a:endParaRPr lang="en-CA" sz="1000" b="0"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OSP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2488</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Ospika R. ab Alley Ck -&gt; Ospika River above Alley Creek</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123.93 W, 56.46 N, Elev. 750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39081241"/>
                  </a:ext>
                </a:extLst>
              </a:tr>
              <a:tr h="92957">
                <a:tc>
                  <a:txBody>
                    <a:bodyPr/>
                    <a:lstStyle/>
                    <a:p>
                      <a:pPr algn="ctr" fontAlgn="b">
                        <a:buNone/>
                      </a:pPr>
                      <a:r>
                        <a:rPr lang="en-CA" sz="1000" u="none" strike="noStrike">
                          <a:effectLst/>
                        </a:rPr>
                        <a:t>PARKS CANADA</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FDL</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2458</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Fidelty Mtn. -&gt; Fidelity Mountain</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117.7006167 W, 51.23741667 N, Elev. 1800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16109230"/>
                  </a:ext>
                </a:extLst>
              </a:tr>
            </a:tbl>
          </a:graphicData>
        </a:graphic>
      </p:graphicFrame>
    </p:spTree>
    <p:extLst>
      <p:ext uri="{BB962C8B-B14F-4D97-AF65-F5344CB8AC3E}">
        <p14:creationId xmlns:p14="http://schemas.microsoft.com/office/powerpoint/2010/main" val="1854314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7B1C39-2792-CCFC-62AF-A00BC496B17E}"/>
              </a:ext>
            </a:extLst>
          </p:cNvPr>
          <p:cNvGraphicFramePr>
            <a:graphicFrameLocks noGrp="1"/>
          </p:cNvGraphicFramePr>
          <p:nvPr>
            <p:extLst>
              <p:ext uri="{D42A27DB-BD31-4B8C-83A1-F6EECF244321}">
                <p14:modId xmlns:p14="http://schemas.microsoft.com/office/powerpoint/2010/main" val="1580147706"/>
              </p:ext>
            </p:extLst>
          </p:nvPr>
        </p:nvGraphicFramePr>
        <p:xfrm>
          <a:off x="631370" y="1091318"/>
          <a:ext cx="9938658" cy="4675363"/>
        </p:xfrm>
        <a:graphic>
          <a:graphicData uri="http://schemas.openxmlformats.org/drawingml/2006/table">
            <a:tbl>
              <a:tblPr firstRow="1" firstCol="1" bandRow="1">
                <a:tableStyleId>{3B4B98B0-60AC-42C2-AFA5-B58CD77FA1E5}</a:tableStyleId>
              </a:tblPr>
              <a:tblGrid>
                <a:gridCol w="3407230">
                  <a:extLst>
                    <a:ext uri="{9D8B030D-6E8A-4147-A177-3AD203B41FA5}">
                      <a16:colId xmlns:a16="http://schemas.microsoft.com/office/drawing/2014/main" val="2337843649"/>
                    </a:ext>
                  </a:extLst>
                </a:gridCol>
                <a:gridCol w="6531428">
                  <a:extLst>
                    <a:ext uri="{9D8B030D-6E8A-4147-A177-3AD203B41FA5}">
                      <a16:colId xmlns:a16="http://schemas.microsoft.com/office/drawing/2014/main" val="1477494397"/>
                    </a:ext>
                  </a:extLst>
                </a:gridCol>
              </a:tblGrid>
              <a:tr h="2788326">
                <a:tc>
                  <a:txBody>
                    <a:bodyPr/>
                    <a:lstStyle/>
                    <a:p>
                      <a:pPr marL="342900" lvl="0" indent="-342900">
                        <a:buFont typeface="+mj-lt"/>
                        <a:buAutoNum type="arabicPeriod"/>
                      </a:pPr>
                      <a:r>
                        <a:rPr lang="en-US" sz="1800" b="0" dirty="0">
                          <a:effectLst/>
                        </a:rPr>
                        <a:t>Slide 12 – DBC and DBC2 </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tc>
                  <a:txBody>
                    <a:bodyPr/>
                    <a:lstStyle/>
                    <a:p>
                      <a:pPr>
                        <a:buNone/>
                      </a:pPr>
                      <a:r>
                        <a:rPr lang="en-US" sz="1800" b="0" dirty="0">
                          <a:effectLst/>
                        </a:rPr>
                        <a:t>My understanding is that the DBC2 replaces DBC so the stations could be concatenated together – to be referenced as DBC2.</a:t>
                      </a:r>
                      <a:br>
                        <a:rPr lang="en-US" sz="1800" b="0" dirty="0">
                          <a:effectLst/>
                        </a:rPr>
                      </a:br>
                      <a:r>
                        <a:rPr lang="en-US" sz="1800" b="0" dirty="0">
                          <a:effectLst/>
                        </a:rPr>
                        <a:t>Just looking through the spreadsheet you may not have any data from DBC2 This may have to wait until the BC Hydro station data comes on line – I am reasonably sure that the data will report through as DBC2.</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extLst>
                  <a:ext uri="{0D108BD9-81ED-4DB2-BD59-A6C34878D82A}">
                    <a16:rowId xmlns:a16="http://schemas.microsoft.com/office/drawing/2014/main" val="1764808858"/>
                  </a:ext>
                </a:extLst>
              </a:tr>
              <a:tr h="1338397">
                <a:tc>
                  <a:txBody>
                    <a:bodyPr/>
                    <a:lstStyle/>
                    <a:p>
                      <a:pPr marL="342900" lvl="0" indent="-342900">
                        <a:buFont typeface="+mj-lt"/>
                        <a:buAutoNum type="arabicPeriod"/>
                      </a:pPr>
                      <a:r>
                        <a:rPr lang="en-US" sz="1800" b="0">
                          <a:effectLst/>
                        </a:rPr>
                        <a:t>Slide 12 – ELK Location?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tc>
                  <a:txBody>
                    <a:bodyPr/>
                    <a:lstStyle/>
                    <a:p>
                      <a:pPr>
                        <a:buNone/>
                      </a:pPr>
                      <a:r>
                        <a:rPr lang="en-US" sz="1800" b="0" dirty="0">
                          <a:effectLst/>
                        </a:rPr>
                        <a:t>My historic active stations list (Thank the gods that I kept them all from 2009) shows ELK at  125.8132639W, 49.85804722N Elev. 270 m Network BC Hydro</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extLst>
                  <a:ext uri="{0D108BD9-81ED-4DB2-BD59-A6C34878D82A}">
                    <a16:rowId xmlns:a16="http://schemas.microsoft.com/office/drawing/2014/main" val="3687666908"/>
                  </a:ext>
                </a:extLst>
              </a:tr>
              <a:tr h="112308">
                <a:tc>
                  <a:txBody>
                    <a:bodyPr/>
                    <a:lstStyle/>
                    <a:p>
                      <a:pP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tc>
                  <a:txBody>
                    <a:bodyPr/>
                    <a:lstStyle/>
                    <a:p>
                      <a:pPr algn="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extLst>
                  <a:ext uri="{0D108BD9-81ED-4DB2-BD59-A6C34878D82A}">
                    <a16:rowId xmlns:a16="http://schemas.microsoft.com/office/drawing/2014/main" val="3810217197"/>
                  </a:ext>
                </a:extLst>
              </a:tr>
              <a:tr h="112308">
                <a:tc>
                  <a:txBody>
                    <a:bodyPr/>
                    <a:lstStyle/>
                    <a:p>
                      <a:pP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tc>
                  <a:txBody>
                    <a:bodyPr/>
                    <a:lstStyle/>
                    <a:p>
                      <a:pPr algn="r">
                        <a:buNone/>
                      </a:pPr>
                      <a:r>
                        <a:rPr lang="en-CA" sz="1800" b="0" dirty="0">
                          <a:effectLst/>
                        </a:rPr>
                        <a:t> </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extLst>
                  <a:ext uri="{0D108BD9-81ED-4DB2-BD59-A6C34878D82A}">
                    <a16:rowId xmlns:a16="http://schemas.microsoft.com/office/drawing/2014/main" val="494006350"/>
                  </a:ext>
                </a:extLst>
              </a:tr>
            </a:tbl>
          </a:graphicData>
        </a:graphic>
      </p:graphicFrame>
    </p:spTree>
    <p:extLst>
      <p:ext uri="{BB962C8B-B14F-4D97-AF65-F5344CB8AC3E}">
        <p14:creationId xmlns:p14="http://schemas.microsoft.com/office/powerpoint/2010/main" val="233639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4DBA03-EF14-FAE6-8B5F-B443BF2BF9BD}"/>
              </a:ext>
            </a:extLst>
          </p:cNvPr>
          <p:cNvSpPr txBox="1"/>
          <p:nvPr/>
        </p:nvSpPr>
        <p:spPr>
          <a:xfrm>
            <a:off x="604157" y="931776"/>
            <a:ext cx="10722430" cy="5632311"/>
          </a:xfrm>
          <a:prstGeom prst="rect">
            <a:avLst/>
          </a:prstGeom>
          <a:noFill/>
        </p:spPr>
        <p:txBody>
          <a:bodyPr wrap="square">
            <a:spAutoFit/>
          </a:bodyPr>
          <a:lstStyle/>
          <a:p>
            <a:pPr marL="0" lvl="1"/>
            <a:r>
              <a:rPr lang="en-CA" altLang="zh-CN" sz="1600" dirty="0"/>
              <a:t>Moving a station across networks also affects its associated variables.</a:t>
            </a:r>
          </a:p>
          <a:p>
            <a:pPr marL="0" lvl="1"/>
            <a:r>
              <a:rPr lang="en-CA" altLang="zh-CN" sz="1600" dirty="0"/>
              <a:t>However, we cannot simply update </a:t>
            </a:r>
            <a:r>
              <a:rPr lang="en-CA" altLang="zh-CN" sz="1600" dirty="0" err="1"/>
              <a:t>network_id</a:t>
            </a:r>
            <a:r>
              <a:rPr lang="en-CA" altLang="zh-CN" sz="1600" dirty="0"/>
              <a:t> in </a:t>
            </a:r>
            <a:r>
              <a:rPr lang="en-CA" altLang="zh-CN" sz="1600" dirty="0" err="1"/>
              <a:t>meta_station</a:t>
            </a:r>
            <a:r>
              <a:rPr lang="en-CA" altLang="zh-CN" sz="1600" dirty="0"/>
              <a:t>, because:</a:t>
            </a:r>
          </a:p>
          <a:p>
            <a:pPr marL="285750" lvl="1" indent="-285750">
              <a:buFont typeface="Arial" panose="020B0604020202020204" pitchFamily="34" charset="0"/>
              <a:buChar char="•"/>
            </a:pPr>
            <a:r>
              <a:rPr lang="en-CA" altLang="zh-CN" sz="1600" dirty="0"/>
              <a:t>Variables are shared across stations</a:t>
            </a:r>
          </a:p>
          <a:p>
            <a:pPr marL="285750" lvl="1" indent="-285750">
              <a:buFont typeface="Arial" panose="020B0604020202020204" pitchFamily="34" charset="0"/>
              <a:buChar char="•"/>
            </a:pPr>
            <a:r>
              <a:rPr lang="en-CA" altLang="zh-CN" sz="1600" dirty="0"/>
              <a:t>Updating a variable’s </a:t>
            </a:r>
            <a:r>
              <a:rPr lang="en-CA" altLang="zh-CN" sz="1600" dirty="0" err="1"/>
              <a:t>network_id</a:t>
            </a:r>
            <a:r>
              <a:rPr lang="en-CA" altLang="zh-CN" sz="1600" dirty="0"/>
              <a:t> would impact other stations</a:t>
            </a:r>
          </a:p>
          <a:p>
            <a:pPr marL="285750" lvl="1" indent="-285750">
              <a:buFont typeface="Arial" panose="020B0604020202020204" pitchFamily="34" charset="0"/>
              <a:buChar char="•"/>
            </a:pPr>
            <a:r>
              <a:rPr lang="en-CA" altLang="zh-CN" sz="1600" dirty="0"/>
              <a:t>This would create station–variable mismatches if only the station is updated</a:t>
            </a:r>
          </a:p>
          <a:p>
            <a:pPr marL="0" lvl="1"/>
            <a:endParaRPr lang="en-CA" altLang="zh-CN" sz="1600" dirty="0"/>
          </a:p>
          <a:p>
            <a:pPr marL="0" lvl="1"/>
            <a:r>
              <a:rPr lang="en-CA" altLang="zh-CN" sz="1600" dirty="0"/>
              <a:t>Therefore, station reattribution must be handled more carefully.</a:t>
            </a:r>
          </a:p>
          <a:p>
            <a:pPr marL="0" lvl="1"/>
            <a:endParaRPr lang="en-US" altLang="zh-CN" sz="1600" dirty="0"/>
          </a:p>
          <a:p>
            <a:pPr marL="0" lvl="1">
              <a:lnSpc>
                <a:spcPct val="150000"/>
              </a:lnSpc>
            </a:pPr>
            <a:r>
              <a:rPr lang="en-US" altLang="zh-CN" sz="1600" dirty="0"/>
              <a:t>Proposed approach (discussed with John):</a:t>
            </a:r>
          </a:p>
          <a:p>
            <a:pPr marL="0" lvl="1">
              <a:lnSpc>
                <a:spcPct val="150000"/>
              </a:lnSpc>
            </a:pPr>
            <a:r>
              <a:rPr lang="en-US" altLang="zh-CN" sz="1600" dirty="0"/>
              <a:t>Reattribution to a new network</a:t>
            </a:r>
          </a:p>
          <a:p>
            <a:pPr marL="285750" lvl="1" indent="-285750">
              <a:buFont typeface="Arial" panose="020B0604020202020204" pitchFamily="34" charset="0"/>
              <a:buChar char="•"/>
            </a:pPr>
            <a:r>
              <a:rPr lang="en-US" altLang="zh-CN" sz="1600" dirty="0"/>
              <a:t>Create new network</a:t>
            </a:r>
          </a:p>
          <a:p>
            <a:pPr marL="285750" lvl="1" indent="-285750">
              <a:buFont typeface="Arial" panose="020B0604020202020204" pitchFamily="34" charset="0"/>
              <a:buChar char="•"/>
            </a:pPr>
            <a:r>
              <a:rPr lang="en-US" altLang="zh-CN" sz="1600" dirty="0"/>
              <a:t>Copy variables from old network</a:t>
            </a:r>
          </a:p>
          <a:p>
            <a:pPr marL="285750" lvl="1" indent="-285750">
              <a:buFont typeface="Arial" panose="020B0604020202020204" pitchFamily="34" charset="0"/>
              <a:buChar char="•"/>
            </a:pPr>
            <a:r>
              <a:rPr lang="en-US" altLang="zh-CN" sz="1600" dirty="0"/>
              <a:t>Create new station</a:t>
            </a:r>
          </a:p>
          <a:p>
            <a:pPr marL="285750" lvl="1" indent="-285750">
              <a:buFont typeface="Arial" panose="020B0604020202020204" pitchFamily="34" charset="0"/>
              <a:buChar char="•"/>
            </a:pPr>
            <a:r>
              <a:rPr lang="en-US" altLang="zh-CN" sz="1600" dirty="0"/>
              <a:t>Move observations (possibly time-based, </a:t>
            </a:r>
            <a:r>
              <a:rPr lang="en-CA" sz="1600" dirty="0"/>
              <a:t>so need to know when the attribution chang</a:t>
            </a:r>
            <a:r>
              <a:rPr lang="en-US" altLang="zh-CN" sz="1600" dirty="0"/>
              <a:t>)</a:t>
            </a:r>
          </a:p>
          <a:p>
            <a:pPr marL="285750" lvl="1" indent="-285750">
              <a:buFont typeface="Arial" panose="020B0604020202020204" pitchFamily="34" charset="0"/>
              <a:buChar char="•"/>
            </a:pPr>
            <a:r>
              <a:rPr lang="en-US" altLang="zh-CN" sz="1600" dirty="0"/>
              <a:t>Update observations with new variable IDs (match by </a:t>
            </a:r>
            <a:r>
              <a:rPr lang="en-US" altLang="zh-CN" sz="1600" dirty="0" err="1"/>
              <a:t>net_var_name</a:t>
            </a:r>
            <a:r>
              <a:rPr lang="en-US" altLang="zh-CN" sz="1600" dirty="0"/>
              <a:t>)</a:t>
            </a:r>
          </a:p>
          <a:p>
            <a:pPr marL="0" lvl="1">
              <a:lnSpc>
                <a:spcPct val="150000"/>
              </a:lnSpc>
            </a:pPr>
            <a:endParaRPr lang="en-US" sz="1600" dirty="0"/>
          </a:p>
          <a:p>
            <a:pPr latinLnBrk="1"/>
            <a:r>
              <a:rPr lang="en-CA" sz="1600" dirty="0"/>
              <a:t>Reattribution to an existing network</a:t>
            </a:r>
          </a:p>
          <a:p>
            <a:pPr marL="285750" indent="-285750" latinLnBrk="1">
              <a:buFont typeface="Arial" panose="020B0604020202020204" pitchFamily="34" charset="0"/>
              <a:buChar char="•"/>
            </a:pPr>
            <a:r>
              <a:rPr lang="en-CA" sz="1600" dirty="0"/>
              <a:t>Create new station</a:t>
            </a:r>
          </a:p>
          <a:p>
            <a:pPr marL="285750" indent="-285750" latinLnBrk="1">
              <a:buFont typeface="Arial" panose="020B0604020202020204" pitchFamily="34" charset="0"/>
              <a:buChar char="•"/>
            </a:pPr>
            <a:r>
              <a:rPr lang="en-CA" sz="1600" dirty="0"/>
              <a:t>Move observations</a:t>
            </a:r>
          </a:p>
          <a:p>
            <a:pPr marL="285750" indent="-285750" latinLnBrk="1">
              <a:buFont typeface="Arial" panose="020B0604020202020204" pitchFamily="34" charset="0"/>
              <a:buChar char="•"/>
            </a:pPr>
            <a:r>
              <a:rPr lang="en-CA" sz="1600" dirty="0"/>
              <a:t>Update observations with existing variable IDs (match by </a:t>
            </a:r>
            <a:r>
              <a:rPr lang="en-CA" sz="1600" dirty="0" err="1"/>
              <a:t>net_var_name</a:t>
            </a:r>
            <a:r>
              <a:rPr lang="en-CA" sz="1600" dirty="0"/>
              <a:t>)</a:t>
            </a:r>
          </a:p>
          <a:p>
            <a:pPr marL="285750" indent="-285750" latinLnBrk="1">
              <a:buFont typeface="Arial" panose="020B0604020202020204" pitchFamily="34" charset="0"/>
              <a:buChar char="•"/>
            </a:pPr>
            <a:r>
              <a:rPr lang="en-CA" sz="1600" dirty="0"/>
              <a:t>If no match → create new variable in target network</a:t>
            </a:r>
            <a:endParaRPr lang="en-US" sz="1600" dirty="0"/>
          </a:p>
        </p:txBody>
      </p:sp>
      <p:sp>
        <p:nvSpPr>
          <p:cNvPr id="8" name="TextBox 7">
            <a:extLst>
              <a:ext uri="{FF2B5EF4-FFF2-40B4-BE49-F238E27FC236}">
                <a16:creationId xmlns:a16="http://schemas.microsoft.com/office/drawing/2014/main" id="{B40DE005-20A2-2CC3-2936-736BAEEBCFA9}"/>
              </a:ext>
            </a:extLst>
          </p:cNvPr>
          <p:cNvSpPr txBox="1"/>
          <p:nvPr/>
        </p:nvSpPr>
        <p:spPr>
          <a:xfrm>
            <a:off x="304800" y="293913"/>
            <a:ext cx="10143803" cy="369332"/>
          </a:xfrm>
          <a:prstGeom prst="rect">
            <a:avLst/>
          </a:prstGeom>
          <a:noFill/>
        </p:spPr>
        <p:txBody>
          <a:bodyPr wrap="none" rtlCol="0">
            <a:spAutoFit/>
          </a:bodyPr>
          <a:lstStyle/>
          <a:p>
            <a:pPr marL="285750" indent="-285750">
              <a:buFont typeface="Arial" panose="020B0604020202020204" pitchFamily="34" charset="0"/>
              <a:buChar char="•"/>
            </a:pPr>
            <a:r>
              <a:rPr lang="en-US" b="1" dirty="0"/>
              <a:t>The attribution change (I will deal with it after incorporating all other changes into production)</a:t>
            </a:r>
          </a:p>
        </p:txBody>
      </p:sp>
    </p:spTree>
    <p:extLst>
      <p:ext uri="{BB962C8B-B14F-4D97-AF65-F5344CB8AC3E}">
        <p14:creationId xmlns:p14="http://schemas.microsoft.com/office/powerpoint/2010/main" val="1688045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F6D6805-3405-7E07-A62C-7E068C0660CC}"/>
              </a:ext>
            </a:extLst>
          </p:cNvPr>
          <p:cNvSpPr txBox="1"/>
          <p:nvPr/>
        </p:nvSpPr>
        <p:spPr>
          <a:xfrm>
            <a:off x="512956" y="825190"/>
            <a:ext cx="1776255" cy="369332"/>
          </a:xfrm>
          <a:prstGeom prst="rect">
            <a:avLst/>
          </a:prstGeom>
          <a:noFill/>
        </p:spPr>
        <p:txBody>
          <a:bodyPr wrap="none" rtlCol="0">
            <a:spAutoFit/>
          </a:bodyPr>
          <a:lstStyle/>
          <a:p>
            <a:r>
              <a:rPr lang="en-US" b="1" dirty="0" err="1"/>
              <a:t>Network_splite</a:t>
            </a:r>
            <a:endParaRPr lang="en-US" b="1" dirty="0"/>
          </a:p>
        </p:txBody>
      </p:sp>
      <p:sp>
        <p:nvSpPr>
          <p:cNvPr id="7" name="TextBox 6">
            <a:extLst>
              <a:ext uri="{FF2B5EF4-FFF2-40B4-BE49-F238E27FC236}">
                <a16:creationId xmlns:a16="http://schemas.microsoft.com/office/drawing/2014/main" id="{8137D2B6-A7AC-B2DE-A4F1-71D00B9FA774}"/>
              </a:ext>
            </a:extLst>
          </p:cNvPr>
          <p:cNvSpPr txBox="1"/>
          <p:nvPr/>
        </p:nvSpPr>
        <p:spPr>
          <a:xfrm>
            <a:off x="512956" y="1548807"/>
            <a:ext cx="10002644" cy="3791872"/>
          </a:xfrm>
          <a:prstGeom prst="rect">
            <a:avLst/>
          </a:prstGeom>
          <a:noFill/>
        </p:spPr>
        <p:txBody>
          <a:bodyPr wrap="square" rtlCol="0">
            <a:spAutoFit/>
          </a:bodyPr>
          <a:lstStyle/>
          <a:p>
            <a:pPr>
              <a:lnSpc>
                <a:spcPct val="150000"/>
              </a:lnSpc>
            </a:pPr>
            <a:r>
              <a:rPr lang="en-CA" dirty="0"/>
              <a:t>After the spreadsheet updating,</a:t>
            </a:r>
          </a:p>
          <a:p>
            <a:pPr marL="285750" indent="-285750">
              <a:lnSpc>
                <a:spcPct val="150000"/>
              </a:lnSpc>
              <a:buFont typeface="Arial" panose="020B0604020202020204" pitchFamily="34" charset="0"/>
              <a:buChar char="•"/>
            </a:pPr>
            <a:r>
              <a:rPr lang="en-CA" dirty="0"/>
              <a:t>FLNRO-WMB network needs to be split into BC-TS (12 stations) and BC-</a:t>
            </a:r>
            <a:r>
              <a:rPr lang="en-CA" dirty="0" err="1"/>
              <a:t>FWx</a:t>
            </a:r>
            <a:r>
              <a:rPr lang="en-CA" dirty="0"/>
              <a:t> (788 stations),</a:t>
            </a:r>
          </a:p>
          <a:p>
            <a:pPr marL="285750" indent="-285750">
              <a:lnSpc>
                <a:spcPct val="150000"/>
              </a:lnSpc>
              <a:buFont typeface="Arial" panose="020B0604020202020204" pitchFamily="34" charset="0"/>
              <a:buChar char="•"/>
            </a:pPr>
            <a:r>
              <a:rPr lang="en-CA" dirty="0"/>
              <a:t>BCH, has been split into BCH-GSO-HMP (168) and BCH-</a:t>
            </a:r>
            <a:r>
              <a:rPr lang="en-CA" dirty="0" err="1"/>
              <a:t>SiteC</a:t>
            </a:r>
            <a:r>
              <a:rPr lang="en-CA" dirty="0"/>
              <a:t> (8).</a:t>
            </a:r>
          </a:p>
          <a:p>
            <a:pPr>
              <a:lnSpc>
                <a:spcPct val="150000"/>
              </a:lnSpc>
            </a:pPr>
            <a:endParaRPr lang="en-CA" dirty="0"/>
          </a:p>
          <a:p>
            <a:pPr>
              <a:lnSpc>
                <a:spcPct val="150000"/>
              </a:lnSpc>
            </a:pPr>
            <a:r>
              <a:rPr lang="en-US" dirty="0">
                <a:highlight>
                  <a:srgbClr val="FF00FF"/>
                </a:highlight>
              </a:rPr>
              <a:t>Need to double check, and know which stations belongs to which new network, then update the </a:t>
            </a:r>
            <a:r>
              <a:rPr lang="en-US" dirty="0" err="1">
                <a:highlight>
                  <a:srgbClr val="FF00FF"/>
                </a:highlight>
              </a:rPr>
              <a:t>network_id</a:t>
            </a:r>
            <a:r>
              <a:rPr lang="en-US" dirty="0">
                <a:highlight>
                  <a:srgbClr val="FF00FF"/>
                </a:highlight>
              </a:rPr>
              <a:t> of stations</a:t>
            </a:r>
          </a:p>
          <a:p>
            <a:pPr>
              <a:lnSpc>
                <a:spcPct val="150000"/>
              </a:lnSpc>
            </a:pPr>
            <a:endParaRPr lang="en-US" dirty="0">
              <a:highlight>
                <a:srgbClr val="FF00FF"/>
              </a:highlight>
            </a:endParaRPr>
          </a:p>
          <a:p>
            <a:pPr>
              <a:lnSpc>
                <a:spcPct val="150000"/>
              </a:lnSpc>
            </a:pPr>
            <a:r>
              <a:rPr lang="en-US" dirty="0">
                <a:highlight>
                  <a:srgbClr val="FF00FF"/>
                </a:highlight>
              </a:rPr>
              <a:t>At this moment, the stations under the new network are all from reattributing, which might need to think carefully how to deal with them (like the steps summarized in last page).</a:t>
            </a:r>
          </a:p>
        </p:txBody>
      </p:sp>
    </p:spTree>
    <p:extLst>
      <p:ext uri="{BB962C8B-B14F-4D97-AF65-F5344CB8AC3E}">
        <p14:creationId xmlns:p14="http://schemas.microsoft.com/office/powerpoint/2010/main" val="103251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23666</TotalTime>
  <Words>2605</Words>
  <Application>Microsoft Macintosh PowerPoint</Application>
  <PresentationFormat>Widescreen</PresentationFormat>
  <Paragraphs>212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Aptos Narrow</vt:lpstr>
      <vt:lpstr>Arial</vt:lpstr>
      <vt:lpstr>Symbol</vt:lpstr>
      <vt:lpstr>Office Theme</vt:lpstr>
      <vt:lpstr>PowerPoint Presentation</vt:lpstr>
      <vt:lpstr>Some issues need to be double-checked, or confirm about the decisions made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Tong Li</dc:creator>
  <cp:lastModifiedBy>Tong Li</cp:lastModifiedBy>
  <cp:revision>11</cp:revision>
  <dcterms:created xsi:type="dcterms:W3CDTF">2026-01-22T18:58:12Z</dcterms:created>
  <dcterms:modified xsi:type="dcterms:W3CDTF">2026-02-13T23:16:37Z</dcterms:modified>
</cp:coreProperties>
</file>