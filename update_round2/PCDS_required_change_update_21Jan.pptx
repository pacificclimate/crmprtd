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2" r:id="rId2"/>
    <p:sldId id="257" r:id="rId3"/>
    <p:sldId id="291" r:id="rId4"/>
    <p:sldId id="290" r:id="rId5"/>
    <p:sldId id="258" r:id="rId6"/>
    <p:sldId id="260" r:id="rId7"/>
    <p:sldId id="261" r:id="rId8"/>
    <p:sldId id="259" r:id="rId9"/>
    <p:sldId id="288" r:id="rId10"/>
    <p:sldId id="262" r:id="rId11"/>
    <p:sldId id="264" r:id="rId12"/>
    <p:sldId id="263" r:id="rId13"/>
    <p:sldId id="268" r:id="rId14"/>
    <p:sldId id="278" r:id="rId15"/>
    <p:sldId id="287" r:id="rId16"/>
    <p:sldId id="276" r:id="rId17"/>
    <p:sldId id="265" r:id="rId18"/>
    <p:sldId id="289" r:id="rId19"/>
    <p:sldId id="284" r:id="rId20"/>
    <p:sldId id="285" r:id="rId21"/>
    <p:sldId id="277" r:id="rId22"/>
    <p:sldId id="279" r:id="rId23"/>
    <p:sldId id="282" r:id="rId24"/>
    <p:sldId id="270" r:id="rId25"/>
    <p:sldId id="272" r:id="rId26"/>
    <p:sldId id="273" r:id="rId27"/>
    <p:sldId id="271" r:id="rId28"/>
    <p:sldId id="274" r:id="rId29"/>
    <p:sldId id="28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44"/>
    <p:restoredTop sz="94459"/>
  </p:normalViewPr>
  <p:slideViewPr>
    <p:cSldViewPr snapToGrid="0">
      <p:cViewPr varScale="1">
        <p:scale>
          <a:sx n="128" d="100"/>
          <a:sy n="128" d="100"/>
        </p:scale>
        <p:origin x="4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1F68-7BFC-F167-8DB7-40FD345573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FBC78B-E919-DE6C-D099-24A18BE44C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411BE4-F366-61A9-BC94-71B435163841}"/>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5" name="Footer Placeholder 4">
            <a:extLst>
              <a:ext uri="{FF2B5EF4-FFF2-40B4-BE49-F238E27FC236}">
                <a16:creationId xmlns:a16="http://schemas.microsoft.com/office/drawing/2014/main" id="{A26BF2B8-F21E-8141-929B-F0C2170A42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AB3530-D693-436B-BBC1-86992A540212}"/>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223448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BA92E-C338-838D-CEA9-032E51E4D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571C14-758D-EB28-9F79-E0565A14BB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A9FF80-EC46-99FC-5B85-815D0C018E05}"/>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5" name="Footer Placeholder 4">
            <a:extLst>
              <a:ext uri="{FF2B5EF4-FFF2-40B4-BE49-F238E27FC236}">
                <a16:creationId xmlns:a16="http://schemas.microsoft.com/office/drawing/2014/main" id="{21719EF8-CE3B-4B88-B7EE-0620DE681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2A2D2-7CF3-A1BC-EF13-2AE9F36F506C}"/>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1480755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9ADF4-ADCB-A87F-F38A-884D7F731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52979D-0871-5F22-E0F3-A33F351494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26A2C4-5292-7AFE-D904-B2C6CF9C6A57}"/>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5" name="Footer Placeholder 4">
            <a:extLst>
              <a:ext uri="{FF2B5EF4-FFF2-40B4-BE49-F238E27FC236}">
                <a16:creationId xmlns:a16="http://schemas.microsoft.com/office/drawing/2014/main" id="{02382532-BB97-7EF3-2060-4319706AE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81B75-2EB9-E3AD-85B4-AEF32758BF77}"/>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1324091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4B96A-706E-57AC-9B14-6091932E25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D29E39-6B14-BF24-A3A4-85FCA55590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6C20D8-D689-7E21-E03D-346AD4CD0E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9B20F3-B691-03B4-FF3C-D1746C5B6634}"/>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6" name="Footer Placeholder 5">
            <a:extLst>
              <a:ext uri="{FF2B5EF4-FFF2-40B4-BE49-F238E27FC236}">
                <a16:creationId xmlns:a16="http://schemas.microsoft.com/office/drawing/2014/main" id="{347D5E2E-F96A-096C-7D77-C4D7447F68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774257-84C6-B863-D9F9-F482EBD022C1}"/>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1738532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78E-6114-E959-B5CB-0C7AD9AE04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433F07-36E0-A74E-0E58-0BAE12CC8D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014475-A002-5D63-D147-31A63A139A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114476-55E1-FF31-6445-9321C3581E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426A2F-CC75-FC6B-791C-E66B87945A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0BA365-9F3C-648B-DE9C-05F874E0F980}"/>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8" name="Footer Placeholder 7">
            <a:extLst>
              <a:ext uri="{FF2B5EF4-FFF2-40B4-BE49-F238E27FC236}">
                <a16:creationId xmlns:a16="http://schemas.microsoft.com/office/drawing/2014/main" id="{5E9CDB0F-31A8-7C0C-8B85-97CC3F3E1F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0C3420-16BB-F257-6D94-63D946805A28}"/>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506984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C53E-09D9-A7A0-D67F-98BC5D26C8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7D7922-2C2F-F24B-3880-512913ED6A47}"/>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4" name="Footer Placeholder 3">
            <a:extLst>
              <a:ext uri="{FF2B5EF4-FFF2-40B4-BE49-F238E27FC236}">
                <a16:creationId xmlns:a16="http://schemas.microsoft.com/office/drawing/2014/main" id="{D4C85AC4-2D75-5814-E819-27BE4D891C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E0DD87-402B-8089-6C83-311A94B2E431}"/>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1238529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37B25B-9DBB-2922-7879-FFC6B12FB39A}"/>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3" name="Footer Placeholder 2">
            <a:extLst>
              <a:ext uri="{FF2B5EF4-FFF2-40B4-BE49-F238E27FC236}">
                <a16:creationId xmlns:a16="http://schemas.microsoft.com/office/drawing/2014/main" id="{0EDD1687-A2B1-2759-FB3B-486A8F80A0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25023C-486B-A725-DB29-E40C8B01F1AE}"/>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1070512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98F8-3958-5AF4-9D24-96AF1230CE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318191-3AB5-9CB5-0609-513CC38E19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C0B289-A9D5-8D11-2F4D-6C0062841D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B1185D-F7C1-E4A1-8AE3-E2DD6FD154E4}"/>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6" name="Footer Placeholder 5">
            <a:extLst>
              <a:ext uri="{FF2B5EF4-FFF2-40B4-BE49-F238E27FC236}">
                <a16:creationId xmlns:a16="http://schemas.microsoft.com/office/drawing/2014/main" id="{751C9183-AD6C-A3BD-81CC-8971C6E048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F76204-900E-A787-DE1C-8DCAF61667B7}"/>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3439993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7093-53C6-9DE1-666C-7B73DB3769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B4C3C1-98CB-2794-44F2-91F87FC457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9ABCC2-59D0-15D2-BC91-6FB7BDC55C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F4C4A-E78F-61CC-D6BA-688F9F913FC1}"/>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6" name="Footer Placeholder 5">
            <a:extLst>
              <a:ext uri="{FF2B5EF4-FFF2-40B4-BE49-F238E27FC236}">
                <a16:creationId xmlns:a16="http://schemas.microsoft.com/office/drawing/2014/main" id="{7C8E2620-C58D-E7C0-A233-80287D1985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852F4B-BB54-C364-D98D-ABB264D146D5}"/>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3862270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C7EC-35C4-BD03-3068-11B6D9D8B8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3AAB1E-3477-413B-932F-AA94B49FDB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8150C-FA7B-0C28-4523-5F907F68D971}"/>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5" name="Footer Placeholder 4">
            <a:extLst>
              <a:ext uri="{FF2B5EF4-FFF2-40B4-BE49-F238E27FC236}">
                <a16:creationId xmlns:a16="http://schemas.microsoft.com/office/drawing/2014/main" id="{73D0FC21-F4BD-C7A2-86F5-BAA4EAA31D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5AC35C-9A92-99C1-12EB-0DC5E700DADD}"/>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3124464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013152-D023-5CBB-677D-AE9634FBDA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3EF3D-B026-ADED-0635-9DF7F4DC45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6CB59A-E780-785E-6E46-BD9986ED09F6}"/>
              </a:ext>
            </a:extLst>
          </p:cNvPr>
          <p:cNvSpPr>
            <a:spLocks noGrp="1"/>
          </p:cNvSpPr>
          <p:nvPr>
            <p:ph type="dt" sz="half" idx="10"/>
          </p:nvPr>
        </p:nvSpPr>
        <p:spPr/>
        <p:txBody>
          <a:bodyPr/>
          <a:lstStyle/>
          <a:p>
            <a:fld id="{2BC21567-CBE8-BC49-8700-DA5054AB2F03}" type="datetimeFigureOut">
              <a:rPr lang="en-US" smtClean="0"/>
              <a:t>1/21/26</a:t>
            </a:fld>
            <a:endParaRPr lang="en-US"/>
          </a:p>
        </p:txBody>
      </p:sp>
      <p:sp>
        <p:nvSpPr>
          <p:cNvPr id="5" name="Footer Placeholder 4">
            <a:extLst>
              <a:ext uri="{FF2B5EF4-FFF2-40B4-BE49-F238E27FC236}">
                <a16:creationId xmlns:a16="http://schemas.microsoft.com/office/drawing/2014/main" id="{0974557C-E576-99BC-20E2-4C610FA59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1BDC83-852C-1B5D-8821-E9C2A566779B}"/>
              </a:ext>
            </a:extLst>
          </p:cNvPr>
          <p:cNvSpPr>
            <a:spLocks noGrp="1"/>
          </p:cNvSpPr>
          <p:nvPr>
            <p:ph type="sldNum" sz="quarter" idx="12"/>
          </p:nvPr>
        </p:nvSpPr>
        <p:spPr/>
        <p:txBody>
          <a:bodyPr/>
          <a:lstStyle/>
          <a:p>
            <a:fld id="{6431D5B4-8033-814B-9A56-7E87C8CE2663}" type="slidenum">
              <a:rPr lang="en-US" smtClean="0"/>
              <a:t>‹#›</a:t>
            </a:fld>
            <a:endParaRPr lang="en-US"/>
          </a:p>
        </p:txBody>
      </p:sp>
    </p:spTree>
    <p:extLst>
      <p:ext uri="{BB962C8B-B14F-4D97-AF65-F5344CB8AC3E}">
        <p14:creationId xmlns:p14="http://schemas.microsoft.com/office/powerpoint/2010/main" val="3945060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63BD-691B-F093-7BFE-F38242F359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AC3708-8679-73E6-CF02-830A898AF2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3CF799-75F7-2489-6814-BA89DA9E0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C21567-CBE8-BC49-8700-DA5054AB2F03}" type="datetimeFigureOut">
              <a:rPr lang="en-US" smtClean="0"/>
              <a:t>1/21/26</a:t>
            </a:fld>
            <a:endParaRPr lang="en-US"/>
          </a:p>
        </p:txBody>
      </p:sp>
      <p:sp>
        <p:nvSpPr>
          <p:cNvPr id="5" name="Footer Placeholder 4">
            <a:extLst>
              <a:ext uri="{FF2B5EF4-FFF2-40B4-BE49-F238E27FC236}">
                <a16:creationId xmlns:a16="http://schemas.microsoft.com/office/drawing/2014/main" id="{04C562D8-7357-FFB9-7CC9-87BFD2FFFA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6E3EBD-8C7C-F9F2-BAD6-6AB7B81D5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31D5B4-8033-814B-9A56-7E87C8CE2663}" type="slidenum">
              <a:rPr lang="en-US" smtClean="0"/>
              <a:t>‹#›</a:t>
            </a:fld>
            <a:endParaRPr lang="en-US"/>
          </a:p>
        </p:txBody>
      </p:sp>
    </p:spTree>
    <p:extLst>
      <p:ext uri="{BB962C8B-B14F-4D97-AF65-F5344CB8AC3E}">
        <p14:creationId xmlns:p14="http://schemas.microsoft.com/office/powerpoint/2010/main" val="715087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E4C586-9F0A-577A-7A83-2B971B5A35C4}"/>
              </a:ext>
            </a:extLst>
          </p:cNvPr>
          <p:cNvSpPr txBox="1"/>
          <p:nvPr/>
        </p:nvSpPr>
        <p:spPr>
          <a:xfrm>
            <a:off x="694267" y="550333"/>
            <a:ext cx="9975295" cy="923330"/>
          </a:xfrm>
          <a:prstGeom prst="rect">
            <a:avLst/>
          </a:prstGeom>
          <a:noFill/>
        </p:spPr>
        <p:txBody>
          <a:bodyPr wrap="none" rtlCol="0">
            <a:spAutoFit/>
          </a:bodyPr>
          <a:lstStyle/>
          <a:p>
            <a:r>
              <a:rPr lang="en-US" b="1" dirty="0"/>
              <a:t>Next step:</a:t>
            </a:r>
          </a:p>
          <a:p>
            <a:endParaRPr lang="en-US" dirty="0"/>
          </a:p>
          <a:p>
            <a:r>
              <a:rPr lang="en-US" dirty="0"/>
              <a:t>Clean items not explicitly noted under “ISSUE” (basically </a:t>
            </a:r>
            <a:r>
              <a:rPr lang="en-CA" dirty="0"/>
              <a:t>Attribution/ ID / Name / Location updates</a:t>
            </a:r>
            <a:r>
              <a:rPr lang="en-US" dirty="0"/>
              <a:t>)</a:t>
            </a:r>
          </a:p>
        </p:txBody>
      </p:sp>
    </p:spTree>
    <p:extLst>
      <p:ext uri="{BB962C8B-B14F-4D97-AF65-F5344CB8AC3E}">
        <p14:creationId xmlns:p14="http://schemas.microsoft.com/office/powerpoint/2010/main" val="727151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F60C1-5D3A-CBF2-E4F8-2A22A3D994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7B4BB8-D4B3-B630-F901-BBC9400C3FB6}"/>
              </a:ext>
            </a:extLst>
          </p:cNvPr>
          <p:cNvSpPr txBox="1"/>
          <p:nvPr/>
        </p:nvSpPr>
        <p:spPr>
          <a:xfrm>
            <a:off x="761999" y="518434"/>
            <a:ext cx="8263467" cy="6309420"/>
          </a:xfrm>
          <a:prstGeom prst="rect">
            <a:avLst/>
          </a:prstGeom>
          <a:noFill/>
        </p:spPr>
        <p:txBody>
          <a:bodyPr wrap="square">
            <a:spAutoFit/>
          </a:bodyPr>
          <a:lstStyle/>
          <a:p>
            <a:pPr>
              <a:buNone/>
            </a:pPr>
            <a:r>
              <a:rPr lang="en-CA" b="1" dirty="0"/>
              <a:t>Items can be updated in the production knot (following the orders)</a:t>
            </a:r>
          </a:p>
          <a:p>
            <a:pPr>
              <a:buNone/>
            </a:pPr>
            <a:endParaRPr lang="en-CA" b="1" dirty="0"/>
          </a:p>
          <a:p>
            <a:r>
              <a:rPr lang="en-CA" b="1" dirty="0"/>
              <a:t>Safe:</a:t>
            </a:r>
          </a:p>
          <a:p>
            <a:pPr marL="342900" indent="-342900">
              <a:buAutoNum type="arabicPeriod"/>
            </a:pPr>
            <a:endParaRPr lang="en-CA" dirty="0"/>
          </a:p>
          <a:p>
            <a:pPr marL="342900" indent="-342900">
              <a:lnSpc>
                <a:spcPct val="150000"/>
              </a:lnSpc>
              <a:buAutoNum type="arabicPeriod"/>
            </a:pPr>
            <a:r>
              <a:rPr lang="en-CA" sz="1600" dirty="0"/>
              <a:t>Attribution rename and insert</a:t>
            </a:r>
          </a:p>
          <a:p>
            <a:pPr marL="342900" indent="-342900">
              <a:lnSpc>
                <a:spcPct val="150000"/>
              </a:lnSpc>
              <a:buAutoNum type="arabicPeriod"/>
            </a:pPr>
            <a:r>
              <a:rPr lang="en-CA" sz="1600" dirty="0"/>
              <a:t>Additional/ new station insert</a:t>
            </a:r>
          </a:p>
          <a:p>
            <a:pPr marL="342900" indent="-342900">
              <a:lnSpc>
                <a:spcPct val="150000"/>
              </a:lnSpc>
              <a:buFontTx/>
              <a:buAutoNum type="arabicPeriod"/>
            </a:pPr>
            <a:r>
              <a:rPr lang="en-CA" sz="1600" dirty="0"/>
              <a:t>Attribution/ ID / Name / Location updates;</a:t>
            </a:r>
          </a:p>
          <a:p>
            <a:pPr marL="342900" indent="-342900">
              <a:lnSpc>
                <a:spcPct val="150000"/>
              </a:lnSpc>
              <a:buFontTx/>
              <a:buAutoNum type="arabicPeriod"/>
            </a:pPr>
            <a:r>
              <a:rPr lang="en-CA" sz="1600" dirty="0"/>
              <a:t>Items not explicitly noted under “ISSUE” (should be all related with 3)</a:t>
            </a:r>
          </a:p>
          <a:p>
            <a:pPr marL="342900" indent="-342900">
              <a:lnSpc>
                <a:spcPct val="150000"/>
              </a:lnSpc>
              <a:buFontTx/>
              <a:buAutoNum type="arabicPeriod"/>
            </a:pPr>
            <a:r>
              <a:rPr lang="en-CA" sz="1600" dirty="0"/>
              <a:t>Simple delete (according to station ID)</a:t>
            </a:r>
          </a:p>
          <a:p>
            <a:endParaRPr lang="en-CA" dirty="0"/>
          </a:p>
          <a:p>
            <a:pPr marL="342900" indent="-342900">
              <a:buAutoNum type="arabicPeriod"/>
            </a:pPr>
            <a:endParaRPr lang="en-CA" dirty="0"/>
          </a:p>
          <a:p>
            <a:pPr>
              <a:buNone/>
            </a:pPr>
            <a:r>
              <a:rPr lang="en-CA" sz="1600" b="1" dirty="0"/>
              <a:t>Then:</a:t>
            </a:r>
          </a:p>
          <a:p>
            <a:pPr>
              <a:buNone/>
            </a:pPr>
            <a:endParaRPr lang="en-CA" sz="1600" b="1" dirty="0"/>
          </a:p>
          <a:p>
            <a:pPr marL="285750" indent="-285750">
              <a:buFont typeface="Arial" panose="020B0604020202020204" pitchFamily="34" charset="0"/>
              <a:buChar char="•"/>
            </a:pPr>
            <a:r>
              <a:rPr lang="en-CA" sz="1600" dirty="0"/>
              <a:t>Concatenate</a:t>
            </a:r>
          </a:p>
          <a:p>
            <a:pPr marL="285750" indent="-285750">
              <a:buFont typeface="Arial" panose="020B0604020202020204" pitchFamily="34" charset="0"/>
              <a:buChar char="•"/>
            </a:pPr>
            <a:r>
              <a:rPr lang="en-CA" sz="1600" dirty="0"/>
              <a:t>Additional: Replaces * – Concatenate data record</a:t>
            </a:r>
          </a:p>
          <a:p>
            <a:pPr marL="285750" indent="-285750">
              <a:buFont typeface="Arial" panose="020B0604020202020204" pitchFamily="34" charset="0"/>
              <a:buChar char="•"/>
            </a:pPr>
            <a:r>
              <a:rPr lang="en-CA" sz="1600" dirty="0"/>
              <a:t>Concatenate data and delete this station</a:t>
            </a:r>
          </a:p>
          <a:p>
            <a:pPr marL="285750" indent="-285750">
              <a:buFont typeface="Arial" panose="020B0604020202020204" pitchFamily="34" charset="0"/>
              <a:buChar char="•"/>
            </a:pPr>
            <a:r>
              <a:rPr lang="en-CA" sz="1600" dirty="0"/>
              <a:t>Replaced by * – Move data record, delete station</a:t>
            </a:r>
          </a:p>
          <a:p>
            <a:pPr marL="285750" indent="-285750">
              <a:buFont typeface="Arial" panose="020B0604020202020204" pitchFamily="34" charset="0"/>
              <a:buChar char="•"/>
            </a:pPr>
            <a:r>
              <a:rPr lang="en-CA" sz="1600" dirty="0"/>
              <a:t>Closed</a:t>
            </a:r>
          </a:p>
          <a:p>
            <a:pPr marL="285750" indent="-285750">
              <a:buFont typeface="Arial" panose="020B0604020202020204" pitchFamily="34" charset="0"/>
              <a:buChar char="•"/>
            </a:pPr>
            <a:r>
              <a:rPr lang="en-CA" sz="1600" dirty="0"/>
              <a:t>Missing data</a:t>
            </a:r>
          </a:p>
          <a:p>
            <a:pPr marL="285750" indent="-285750">
              <a:buFont typeface="Arial" panose="020B0604020202020204" pitchFamily="34" charset="0"/>
              <a:buChar char="•"/>
            </a:pPr>
            <a:endParaRPr lang="en-CA" sz="1600" dirty="0"/>
          </a:p>
          <a:p>
            <a:pPr>
              <a:buNone/>
            </a:pPr>
            <a:endParaRPr lang="en-CA" sz="1600" b="1" dirty="0"/>
          </a:p>
          <a:p>
            <a:pPr>
              <a:buNone/>
            </a:pPr>
            <a:endParaRPr lang="en-CA" sz="1600" dirty="0"/>
          </a:p>
        </p:txBody>
      </p:sp>
      <p:sp>
        <p:nvSpPr>
          <p:cNvPr id="5" name="TextBox 4">
            <a:extLst>
              <a:ext uri="{FF2B5EF4-FFF2-40B4-BE49-F238E27FC236}">
                <a16:creationId xmlns:a16="http://schemas.microsoft.com/office/drawing/2014/main" id="{3807BB68-AD1D-2EA1-DDE2-0616058F842B}"/>
              </a:ext>
            </a:extLst>
          </p:cNvPr>
          <p:cNvSpPr txBox="1"/>
          <p:nvPr/>
        </p:nvSpPr>
        <p:spPr>
          <a:xfrm>
            <a:off x="5249331" y="903155"/>
            <a:ext cx="8263467" cy="5539978"/>
          </a:xfrm>
          <a:prstGeom prst="rect">
            <a:avLst/>
          </a:prstGeom>
          <a:noFill/>
        </p:spPr>
        <p:txBody>
          <a:bodyPr wrap="square">
            <a:spAutoFit/>
          </a:bodyPr>
          <a:lstStyle/>
          <a:p>
            <a:pPr>
              <a:buNone/>
            </a:pPr>
            <a:r>
              <a:rPr lang="en-CA" b="1" dirty="0"/>
              <a:t>Progress (using ISSUEs terminology from Ted’s spreadsheet)</a:t>
            </a:r>
          </a:p>
          <a:p>
            <a:pPr>
              <a:buNone/>
            </a:pPr>
            <a:endParaRPr lang="en-CA" sz="1600" dirty="0"/>
          </a:p>
          <a:p>
            <a:pPr>
              <a:buNone/>
            </a:pPr>
            <a:r>
              <a:rPr lang="en-CA" sz="1600" b="1" dirty="0"/>
              <a:t>Completed updates (majority of “ISSUE” items in PCDS):</a:t>
            </a:r>
            <a:endParaRPr lang="en-CA" sz="1600" dirty="0"/>
          </a:p>
          <a:p>
            <a:pPr marL="285750" indent="-285750">
              <a:buFont typeface="Arial" panose="020B0604020202020204" pitchFamily="34" charset="0"/>
              <a:buChar char="•"/>
            </a:pPr>
            <a:r>
              <a:rPr lang="en-CA" sz="1600" dirty="0"/>
              <a:t>Additional</a:t>
            </a:r>
          </a:p>
          <a:p>
            <a:pPr marL="285750" indent="-285750">
              <a:buFont typeface="Arial" panose="020B0604020202020204" pitchFamily="34" charset="0"/>
              <a:buChar char="•"/>
            </a:pPr>
            <a:r>
              <a:rPr lang="en-CA" sz="1600" dirty="0"/>
              <a:t>Delete</a:t>
            </a:r>
          </a:p>
          <a:p>
            <a:pPr marL="285750" indent="-285750">
              <a:buFont typeface="Arial" panose="020B0604020202020204" pitchFamily="34" charset="0"/>
              <a:buChar char="•"/>
            </a:pPr>
            <a:r>
              <a:rPr lang="en-CA" sz="1600" dirty="0"/>
              <a:t>ID / Name / Location updates</a:t>
            </a:r>
          </a:p>
          <a:p>
            <a:pPr marL="285750" indent="-285750">
              <a:buFont typeface="Arial" panose="020B0604020202020204" pitchFamily="34" charset="0"/>
              <a:buChar char="•"/>
            </a:pPr>
            <a:r>
              <a:rPr lang="en-CA" sz="1600" dirty="0"/>
              <a:t>Concatenate</a:t>
            </a:r>
          </a:p>
          <a:p>
            <a:br>
              <a:rPr lang="en-CA" sz="1600" dirty="0"/>
            </a:br>
            <a:endParaRPr lang="en-CA" sz="1600" dirty="0"/>
          </a:p>
          <a:p>
            <a:pPr>
              <a:buNone/>
            </a:pPr>
            <a:r>
              <a:rPr lang="en-CA" sz="1600" b="1" dirty="0"/>
              <a:t>Completed updates (selected specific “ISSUE” types):</a:t>
            </a:r>
            <a:endParaRPr lang="en-CA" sz="1600" dirty="0"/>
          </a:p>
          <a:p>
            <a:pPr marL="285750" indent="-285750">
              <a:buFont typeface="Arial" panose="020B0604020202020204" pitchFamily="34" charset="0"/>
              <a:buChar char="•"/>
            </a:pPr>
            <a:r>
              <a:rPr lang="en-CA" sz="1600" dirty="0"/>
              <a:t>Additional: Replaces * – Concatenate data record</a:t>
            </a:r>
          </a:p>
          <a:p>
            <a:pPr marL="285750" indent="-285750">
              <a:buFont typeface="Arial" panose="020B0604020202020204" pitchFamily="34" charset="0"/>
              <a:buChar char="•"/>
            </a:pPr>
            <a:r>
              <a:rPr lang="en-CA" sz="1600" dirty="0"/>
              <a:t>Concatenate data and delete this station</a:t>
            </a:r>
          </a:p>
          <a:p>
            <a:pPr marL="285750" indent="-285750">
              <a:buFont typeface="Arial" panose="020B0604020202020204" pitchFamily="34" charset="0"/>
              <a:buChar char="•"/>
            </a:pPr>
            <a:r>
              <a:rPr lang="en-CA" sz="1600" dirty="0"/>
              <a:t>Replaced by * – Move data record, delete station</a:t>
            </a:r>
          </a:p>
          <a:p>
            <a:pPr marL="285750" indent="-285750">
              <a:buFont typeface="Arial" panose="020B0604020202020204" pitchFamily="34" charset="0"/>
              <a:buChar char="•"/>
            </a:pPr>
            <a:r>
              <a:rPr lang="en-CA" sz="1600" dirty="0"/>
              <a:t>New</a:t>
            </a:r>
          </a:p>
          <a:p>
            <a:pPr marL="285750" indent="-285750">
              <a:buFont typeface="Arial" panose="020B0604020202020204" pitchFamily="34" charset="0"/>
              <a:buChar char="•"/>
            </a:pPr>
            <a:r>
              <a:rPr lang="en-CA" sz="1600" dirty="0"/>
              <a:t>Changes related to </a:t>
            </a:r>
            <a:r>
              <a:rPr lang="en-CA" sz="1600" i="1" dirty="0"/>
              <a:t>Attribution</a:t>
            </a:r>
          </a:p>
          <a:p>
            <a:pPr marL="285750" indent="-285750">
              <a:buFont typeface="Arial" panose="020B0604020202020204" pitchFamily="34" charset="0"/>
              <a:buChar char="•"/>
            </a:pPr>
            <a:r>
              <a:rPr lang="en-CA" sz="1600" dirty="0"/>
              <a:t>Closed</a:t>
            </a:r>
          </a:p>
          <a:p>
            <a:endParaRPr lang="en-CA" sz="1600" dirty="0"/>
          </a:p>
          <a:p>
            <a:endParaRPr lang="en-CA" sz="1600" dirty="0"/>
          </a:p>
          <a:p>
            <a:pPr>
              <a:buNone/>
            </a:pPr>
            <a:r>
              <a:rPr lang="en-CA" sz="1600" b="1" dirty="0"/>
              <a:t>Not started yet:</a:t>
            </a:r>
            <a:endParaRPr lang="en-CA" sz="1600" dirty="0"/>
          </a:p>
          <a:p>
            <a:pPr marL="285750" indent="-285750">
              <a:buFont typeface="Arial" panose="020B0604020202020204" pitchFamily="34" charset="0"/>
              <a:buChar char="•"/>
            </a:pPr>
            <a:r>
              <a:rPr lang="en-CA" sz="1600" dirty="0"/>
              <a:t>Items not explicitly noted under “ISSUE”</a:t>
            </a:r>
          </a:p>
          <a:p>
            <a:pPr marL="285750" indent="-285750">
              <a:buFont typeface="Arial" panose="020B0604020202020204" pitchFamily="34" charset="0"/>
              <a:buChar char="•"/>
            </a:pPr>
            <a:r>
              <a:rPr lang="en-CA" sz="1600" dirty="0"/>
              <a:t>Missing data</a:t>
            </a:r>
          </a:p>
          <a:p>
            <a:pPr marL="285750" indent="-285750">
              <a:buFont typeface="Arial" panose="020B0604020202020204" pitchFamily="34" charset="0"/>
              <a:buChar char="•"/>
            </a:pPr>
            <a:endParaRPr lang="en-CA" sz="1600" dirty="0"/>
          </a:p>
        </p:txBody>
      </p:sp>
    </p:spTree>
    <p:extLst>
      <p:ext uri="{BB962C8B-B14F-4D97-AF65-F5344CB8AC3E}">
        <p14:creationId xmlns:p14="http://schemas.microsoft.com/office/powerpoint/2010/main" val="4199477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F11D-79B7-AB4A-2DF3-39A0E61A9C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B862B7-F311-B7F9-6FA6-BBBABA99BCCD}"/>
              </a:ext>
            </a:extLst>
          </p:cNvPr>
          <p:cNvSpPr txBox="1"/>
          <p:nvPr/>
        </p:nvSpPr>
        <p:spPr>
          <a:xfrm>
            <a:off x="1557866" y="1339701"/>
            <a:ext cx="8263467" cy="5940088"/>
          </a:xfrm>
          <a:prstGeom prst="rect">
            <a:avLst/>
          </a:prstGeom>
          <a:noFill/>
        </p:spPr>
        <p:txBody>
          <a:bodyPr wrap="square">
            <a:spAutoFit/>
          </a:bodyPr>
          <a:lstStyle/>
          <a:p>
            <a:pPr>
              <a:buNone/>
            </a:pPr>
            <a:r>
              <a:rPr lang="en-CA" b="1" dirty="0"/>
              <a:t>Items can be updated in the production knot (following the orders)</a:t>
            </a:r>
          </a:p>
          <a:p>
            <a:pPr>
              <a:buNone/>
            </a:pPr>
            <a:endParaRPr lang="en-CA" b="1" dirty="0"/>
          </a:p>
          <a:p>
            <a:r>
              <a:rPr lang="en-CA" b="1" dirty="0"/>
              <a:t>Safe:</a:t>
            </a:r>
          </a:p>
          <a:p>
            <a:pPr marL="342900" indent="-342900">
              <a:buAutoNum type="arabicPeriod"/>
            </a:pPr>
            <a:endParaRPr lang="en-CA" dirty="0"/>
          </a:p>
          <a:p>
            <a:pPr marL="342900" indent="-342900">
              <a:lnSpc>
                <a:spcPct val="150000"/>
              </a:lnSpc>
              <a:buAutoNum type="arabicPeriod"/>
            </a:pPr>
            <a:r>
              <a:rPr lang="en-CA" sz="1600" dirty="0"/>
              <a:t>Attribution rename and insert</a:t>
            </a:r>
          </a:p>
          <a:p>
            <a:pPr marL="342900" indent="-342900">
              <a:lnSpc>
                <a:spcPct val="150000"/>
              </a:lnSpc>
              <a:buAutoNum type="arabicPeriod"/>
            </a:pPr>
            <a:r>
              <a:rPr lang="en-CA" sz="1600" dirty="0"/>
              <a:t>Additional/ new station insert</a:t>
            </a:r>
          </a:p>
          <a:p>
            <a:pPr marL="342900" indent="-342900">
              <a:lnSpc>
                <a:spcPct val="150000"/>
              </a:lnSpc>
              <a:buFontTx/>
              <a:buAutoNum type="arabicPeriod"/>
            </a:pPr>
            <a:r>
              <a:rPr lang="en-CA" sz="1600" dirty="0"/>
              <a:t>Attribution/ ID / Name / Location updates;</a:t>
            </a:r>
          </a:p>
          <a:p>
            <a:pPr marL="342900" indent="-342900">
              <a:lnSpc>
                <a:spcPct val="150000"/>
              </a:lnSpc>
              <a:buFontTx/>
              <a:buAutoNum type="arabicPeriod"/>
            </a:pPr>
            <a:r>
              <a:rPr lang="en-CA" sz="1600" dirty="0"/>
              <a:t>Simple delete (according to station ID)</a:t>
            </a:r>
          </a:p>
          <a:p>
            <a:endParaRPr lang="en-CA" dirty="0"/>
          </a:p>
          <a:p>
            <a:pPr marL="342900" indent="-342900">
              <a:buAutoNum type="arabicPeriod"/>
            </a:pPr>
            <a:endParaRPr lang="en-CA" dirty="0"/>
          </a:p>
          <a:p>
            <a:pPr>
              <a:buNone/>
            </a:pPr>
            <a:r>
              <a:rPr lang="en-CA" sz="1600" b="1" dirty="0"/>
              <a:t>Then:</a:t>
            </a:r>
          </a:p>
          <a:p>
            <a:pPr>
              <a:buNone/>
            </a:pPr>
            <a:endParaRPr lang="en-CA" sz="1600" b="1" dirty="0"/>
          </a:p>
          <a:p>
            <a:pPr marL="285750" indent="-285750">
              <a:buFont typeface="Arial" panose="020B0604020202020204" pitchFamily="34" charset="0"/>
              <a:buChar char="•"/>
            </a:pPr>
            <a:r>
              <a:rPr lang="en-CA" sz="1600" dirty="0"/>
              <a:t>Concatenate</a:t>
            </a:r>
          </a:p>
          <a:p>
            <a:pPr marL="285750" indent="-285750">
              <a:buFont typeface="Arial" panose="020B0604020202020204" pitchFamily="34" charset="0"/>
              <a:buChar char="•"/>
            </a:pPr>
            <a:r>
              <a:rPr lang="en-CA" sz="1600" dirty="0"/>
              <a:t>Additional: Replaces * – Concatenate data record</a:t>
            </a:r>
          </a:p>
          <a:p>
            <a:pPr marL="285750" indent="-285750">
              <a:buFont typeface="Arial" panose="020B0604020202020204" pitchFamily="34" charset="0"/>
              <a:buChar char="•"/>
            </a:pPr>
            <a:r>
              <a:rPr lang="en-CA" sz="1600" dirty="0"/>
              <a:t>Concatenate data and delete this station</a:t>
            </a:r>
          </a:p>
          <a:p>
            <a:pPr marL="285750" indent="-285750">
              <a:buFont typeface="Arial" panose="020B0604020202020204" pitchFamily="34" charset="0"/>
              <a:buChar char="•"/>
            </a:pPr>
            <a:r>
              <a:rPr lang="en-CA" sz="1600" dirty="0"/>
              <a:t>Replaced by * – Move data record, delete station</a:t>
            </a:r>
          </a:p>
          <a:p>
            <a:pPr marL="285750" indent="-285750">
              <a:buFont typeface="Arial" panose="020B0604020202020204" pitchFamily="34" charset="0"/>
              <a:buChar char="•"/>
            </a:pPr>
            <a:r>
              <a:rPr lang="en-CA" sz="1600" dirty="0"/>
              <a:t>Closed</a:t>
            </a:r>
          </a:p>
          <a:p>
            <a:pPr marL="285750" indent="-285750">
              <a:buFont typeface="Arial" panose="020B0604020202020204" pitchFamily="34" charset="0"/>
              <a:buChar char="•"/>
            </a:pPr>
            <a:r>
              <a:rPr lang="en-CA" sz="1600" dirty="0"/>
              <a:t>Missing data</a:t>
            </a:r>
          </a:p>
          <a:p>
            <a:pPr marL="285750" indent="-285750">
              <a:buFont typeface="Arial" panose="020B0604020202020204" pitchFamily="34" charset="0"/>
              <a:buChar char="•"/>
            </a:pPr>
            <a:endParaRPr lang="en-CA" sz="1600" dirty="0"/>
          </a:p>
          <a:p>
            <a:pPr>
              <a:buNone/>
            </a:pPr>
            <a:endParaRPr lang="en-CA" sz="1600" b="1" dirty="0"/>
          </a:p>
          <a:p>
            <a:pPr>
              <a:buNone/>
            </a:pPr>
            <a:endParaRPr lang="en-CA" sz="1600" dirty="0"/>
          </a:p>
        </p:txBody>
      </p:sp>
      <p:sp>
        <p:nvSpPr>
          <p:cNvPr id="2" name="TextBox 1">
            <a:extLst>
              <a:ext uri="{FF2B5EF4-FFF2-40B4-BE49-F238E27FC236}">
                <a16:creationId xmlns:a16="http://schemas.microsoft.com/office/drawing/2014/main" id="{8953DAAD-253A-18D5-7E56-7B5EF26C0D9F}"/>
              </a:ext>
            </a:extLst>
          </p:cNvPr>
          <p:cNvSpPr txBox="1"/>
          <p:nvPr/>
        </p:nvSpPr>
        <p:spPr>
          <a:xfrm>
            <a:off x="1109133" y="440267"/>
            <a:ext cx="6983771" cy="646331"/>
          </a:xfrm>
          <a:prstGeom prst="rect">
            <a:avLst/>
          </a:prstGeom>
          <a:noFill/>
        </p:spPr>
        <p:txBody>
          <a:bodyPr wrap="none" rtlCol="0">
            <a:spAutoFit/>
          </a:bodyPr>
          <a:lstStyle/>
          <a:p>
            <a:r>
              <a:rPr lang="en-CA" dirty="0"/>
              <a:t>Items not explicitly noted under “ISSUE” (should be all related with 3)</a:t>
            </a:r>
          </a:p>
          <a:p>
            <a:endParaRPr lang="en-US" dirty="0"/>
          </a:p>
        </p:txBody>
      </p:sp>
    </p:spTree>
    <p:extLst>
      <p:ext uri="{BB962C8B-B14F-4D97-AF65-F5344CB8AC3E}">
        <p14:creationId xmlns:p14="http://schemas.microsoft.com/office/powerpoint/2010/main" val="1097167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4E0FF-FC80-2B75-5462-806658C42F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38EAD4-D5A0-BE14-4B4B-403FC64A9660}"/>
              </a:ext>
            </a:extLst>
          </p:cNvPr>
          <p:cNvSpPr txBox="1"/>
          <p:nvPr/>
        </p:nvSpPr>
        <p:spPr>
          <a:xfrm>
            <a:off x="795865" y="433443"/>
            <a:ext cx="8263467" cy="5539978"/>
          </a:xfrm>
          <a:prstGeom prst="rect">
            <a:avLst/>
          </a:prstGeom>
          <a:noFill/>
        </p:spPr>
        <p:txBody>
          <a:bodyPr wrap="square">
            <a:spAutoFit/>
          </a:bodyPr>
          <a:lstStyle/>
          <a:p>
            <a:pPr>
              <a:buNone/>
            </a:pPr>
            <a:r>
              <a:rPr lang="en-CA" b="1" dirty="0"/>
              <a:t>Progress (using ISSUEs terminology from Ted’s spreadsheet)</a:t>
            </a:r>
          </a:p>
          <a:p>
            <a:pPr>
              <a:buNone/>
            </a:pPr>
            <a:endParaRPr lang="en-CA" sz="1600" dirty="0"/>
          </a:p>
          <a:p>
            <a:pPr>
              <a:buNone/>
            </a:pPr>
            <a:r>
              <a:rPr lang="en-CA" sz="1600" b="1" dirty="0"/>
              <a:t>Completed updates (majority of “ISSUE” items in PCDS):</a:t>
            </a:r>
            <a:endParaRPr lang="en-CA" sz="1600" dirty="0"/>
          </a:p>
          <a:p>
            <a:pPr marL="285750" indent="-285750">
              <a:buFont typeface="Arial" panose="020B0604020202020204" pitchFamily="34" charset="0"/>
              <a:buChar char="•"/>
            </a:pPr>
            <a:r>
              <a:rPr lang="en-CA" sz="1600" dirty="0"/>
              <a:t>Additional</a:t>
            </a:r>
          </a:p>
          <a:p>
            <a:pPr marL="285750" indent="-285750">
              <a:buFont typeface="Arial" panose="020B0604020202020204" pitchFamily="34" charset="0"/>
              <a:buChar char="•"/>
            </a:pPr>
            <a:r>
              <a:rPr lang="en-CA" sz="1600" dirty="0"/>
              <a:t>Delete</a:t>
            </a:r>
          </a:p>
          <a:p>
            <a:pPr marL="285750" indent="-285750">
              <a:buFont typeface="Arial" panose="020B0604020202020204" pitchFamily="34" charset="0"/>
              <a:buChar char="•"/>
            </a:pPr>
            <a:r>
              <a:rPr lang="en-CA" sz="1600" dirty="0"/>
              <a:t>ID / Name / Location updates</a:t>
            </a:r>
          </a:p>
          <a:p>
            <a:pPr marL="285750" indent="-285750">
              <a:buFont typeface="Arial" panose="020B0604020202020204" pitchFamily="34" charset="0"/>
              <a:buChar char="•"/>
            </a:pPr>
            <a:r>
              <a:rPr lang="en-CA" sz="1600" dirty="0"/>
              <a:t>Concatenate</a:t>
            </a:r>
          </a:p>
          <a:p>
            <a:br>
              <a:rPr lang="en-CA" sz="1600" dirty="0"/>
            </a:br>
            <a:endParaRPr lang="en-CA" sz="1600" dirty="0"/>
          </a:p>
          <a:p>
            <a:pPr>
              <a:buNone/>
            </a:pPr>
            <a:r>
              <a:rPr lang="en-CA" sz="1600" b="1" dirty="0"/>
              <a:t>Completed updates (selected specific “ISSUE” types):</a:t>
            </a:r>
            <a:endParaRPr lang="en-CA" sz="1600" dirty="0"/>
          </a:p>
          <a:p>
            <a:pPr marL="285750" indent="-285750">
              <a:buFont typeface="Arial" panose="020B0604020202020204" pitchFamily="34" charset="0"/>
              <a:buChar char="•"/>
            </a:pPr>
            <a:r>
              <a:rPr lang="en-CA" sz="1600" dirty="0"/>
              <a:t>Additional: Replaces * – Concatenate data record</a:t>
            </a:r>
          </a:p>
          <a:p>
            <a:pPr marL="285750" indent="-285750">
              <a:buFont typeface="Arial" panose="020B0604020202020204" pitchFamily="34" charset="0"/>
              <a:buChar char="•"/>
            </a:pPr>
            <a:r>
              <a:rPr lang="en-CA" sz="1600" dirty="0"/>
              <a:t>Concatenate data and delete this station</a:t>
            </a:r>
          </a:p>
          <a:p>
            <a:pPr marL="285750" indent="-285750">
              <a:buFont typeface="Arial" panose="020B0604020202020204" pitchFamily="34" charset="0"/>
              <a:buChar char="•"/>
            </a:pPr>
            <a:r>
              <a:rPr lang="en-CA" sz="1600" dirty="0"/>
              <a:t>Replaced by * – Move data record, delete station</a:t>
            </a:r>
          </a:p>
          <a:p>
            <a:pPr marL="285750" indent="-285750">
              <a:buFont typeface="Arial" panose="020B0604020202020204" pitchFamily="34" charset="0"/>
              <a:buChar char="•"/>
            </a:pPr>
            <a:r>
              <a:rPr lang="en-CA" sz="1600" dirty="0"/>
              <a:t>New</a:t>
            </a:r>
          </a:p>
          <a:p>
            <a:pPr marL="285750" indent="-285750">
              <a:buFont typeface="Arial" panose="020B0604020202020204" pitchFamily="34" charset="0"/>
              <a:buChar char="•"/>
            </a:pPr>
            <a:r>
              <a:rPr lang="en-CA" sz="1600" dirty="0"/>
              <a:t>Changes related to </a:t>
            </a:r>
            <a:r>
              <a:rPr lang="en-CA" sz="1600" i="1" dirty="0"/>
              <a:t>Attribution</a:t>
            </a:r>
          </a:p>
          <a:p>
            <a:pPr marL="285750" indent="-285750">
              <a:buFont typeface="Arial" panose="020B0604020202020204" pitchFamily="34" charset="0"/>
              <a:buChar char="•"/>
            </a:pPr>
            <a:r>
              <a:rPr lang="en-CA" sz="1600" dirty="0"/>
              <a:t>Closed</a:t>
            </a:r>
          </a:p>
          <a:p>
            <a:endParaRPr lang="en-CA" sz="1600" dirty="0"/>
          </a:p>
          <a:p>
            <a:endParaRPr lang="en-CA" sz="1600" dirty="0"/>
          </a:p>
          <a:p>
            <a:pPr>
              <a:buNone/>
            </a:pPr>
            <a:r>
              <a:rPr lang="en-CA" sz="1600" b="1" dirty="0"/>
              <a:t>Not started yet:</a:t>
            </a:r>
            <a:endParaRPr lang="en-CA" sz="1600" dirty="0"/>
          </a:p>
          <a:p>
            <a:pPr marL="285750" indent="-285750">
              <a:buFont typeface="Arial" panose="020B0604020202020204" pitchFamily="34" charset="0"/>
              <a:buChar char="•"/>
            </a:pPr>
            <a:r>
              <a:rPr lang="en-CA" sz="1600" dirty="0"/>
              <a:t>Items not explicitly noted under “ISSUE”</a:t>
            </a:r>
          </a:p>
          <a:p>
            <a:pPr marL="285750" indent="-285750">
              <a:buFont typeface="Arial" panose="020B0604020202020204" pitchFamily="34" charset="0"/>
              <a:buChar char="•"/>
            </a:pPr>
            <a:r>
              <a:rPr lang="en-CA" sz="1600" dirty="0"/>
              <a:t>Missing data</a:t>
            </a:r>
          </a:p>
          <a:p>
            <a:pPr marL="285750" indent="-285750">
              <a:buFont typeface="Arial" panose="020B0604020202020204" pitchFamily="34" charset="0"/>
              <a:buChar char="•"/>
            </a:pPr>
            <a:endParaRPr lang="en-CA" sz="1600" dirty="0"/>
          </a:p>
        </p:txBody>
      </p:sp>
    </p:spTree>
    <p:extLst>
      <p:ext uri="{BB962C8B-B14F-4D97-AF65-F5344CB8AC3E}">
        <p14:creationId xmlns:p14="http://schemas.microsoft.com/office/powerpoint/2010/main" val="3697877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3D710-7354-F91E-3853-FA204D560C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76FFBE-3957-C4B1-934B-212BBE01050A}"/>
              </a:ext>
            </a:extLst>
          </p:cNvPr>
          <p:cNvSpPr txBox="1"/>
          <p:nvPr/>
        </p:nvSpPr>
        <p:spPr>
          <a:xfrm>
            <a:off x="330200" y="2979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Additional (129 stations)</a:t>
            </a:r>
          </a:p>
        </p:txBody>
      </p:sp>
      <p:sp>
        <p:nvSpPr>
          <p:cNvPr id="7" name="TextBox 6">
            <a:extLst>
              <a:ext uri="{FF2B5EF4-FFF2-40B4-BE49-F238E27FC236}">
                <a16:creationId xmlns:a16="http://schemas.microsoft.com/office/drawing/2014/main" id="{8ADD6A02-5756-6E9B-24C3-24867F830368}"/>
              </a:ext>
            </a:extLst>
          </p:cNvPr>
          <p:cNvSpPr txBox="1"/>
          <p:nvPr/>
        </p:nvSpPr>
        <p:spPr>
          <a:xfrm>
            <a:off x="1058331" y="973667"/>
            <a:ext cx="10083801" cy="1231106"/>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I used the summarized information to update the </a:t>
            </a:r>
            <a:r>
              <a:rPr lang="en-US" sz="1600" b="1" dirty="0" err="1"/>
              <a:t>meta_station</a:t>
            </a:r>
            <a:r>
              <a:rPr lang="en-US" sz="1600" b="1" dirty="0"/>
              <a:t> </a:t>
            </a:r>
            <a:r>
              <a:rPr lang="en-US" sz="1600" dirty="0"/>
              <a:t>and </a:t>
            </a:r>
            <a:r>
              <a:rPr lang="en-US" sz="1600" b="1" dirty="0" err="1"/>
              <a:t>meta_history</a:t>
            </a:r>
            <a:r>
              <a:rPr lang="en-US" sz="1600" b="1" dirty="0"/>
              <a:t> </a:t>
            </a:r>
            <a:r>
              <a:rPr lang="en-US" sz="1600" dirty="0"/>
              <a:t>tables. </a:t>
            </a:r>
          </a:p>
          <a:p>
            <a:pPr marL="285750" indent="-285750">
              <a:spcBef>
                <a:spcPts val="600"/>
              </a:spcBef>
              <a:spcAft>
                <a:spcPts val="600"/>
              </a:spcAft>
              <a:buFont typeface="Arial" panose="020B0604020202020204" pitchFamily="34" charset="0"/>
              <a:buChar char="•"/>
            </a:pPr>
            <a:r>
              <a:rPr lang="en-US" sz="1600" dirty="0"/>
              <a:t>After comparing the information in the PCDS form with Ted’s spreadsheet, </a:t>
            </a:r>
            <a:r>
              <a:rPr lang="en-US" sz="1600" dirty="0">
                <a:highlight>
                  <a:srgbClr val="FF00FF"/>
                </a:highlight>
              </a:rPr>
              <a:t>I found 44 items that did not match. For these cases, I used the information from the PCDS form to insert the stations (see Sheet1_Addtional_mismatch_44items).</a:t>
            </a:r>
          </a:p>
        </p:txBody>
      </p:sp>
      <p:pic>
        <p:nvPicPr>
          <p:cNvPr id="4" name="Picture 3" descr="A close-up of a document&#10;&#10;AI-generated content may be incorrect.">
            <a:extLst>
              <a:ext uri="{FF2B5EF4-FFF2-40B4-BE49-F238E27FC236}">
                <a16:creationId xmlns:a16="http://schemas.microsoft.com/office/drawing/2014/main" id="{0C934845-F44D-0569-FE98-5A9052C6A173}"/>
              </a:ext>
            </a:extLst>
          </p:cNvPr>
          <p:cNvPicPr>
            <a:picLocks noChangeAspect="1"/>
          </p:cNvPicPr>
          <p:nvPr/>
        </p:nvPicPr>
        <p:blipFill>
          <a:blip r:embed="rId2"/>
          <a:stretch>
            <a:fillRect/>
          </a:stretch>
        </p:blipFill>
        <p:spPr>
          <a:xfrm>
            <a:off x="776277" y="2511174"/>
            <a:ext cx="10440819" cy="2868763"/>
          </a:xfrm>
          <a:prstGeom prst="rect">
            <a:avLst/>
          </a:prstGeom>
        </p:spPr>
      </p:pic>
      <p:sp>
        <p:nvSpPr>
          <p:cNvPr id="2" name="TextBox 1">
            <a:extLst>
              <a:ext uri="{FF2B5EF4-FFF2-40B4-BE49-F238E27FC236}">
                <a16:creationId xmlns:a16="http://schemas.microsoft.com/office/drawing/2014/main" id="{C53DEDE0-0000-ED54-1769-E55D2840D460}"/>
              </a:ext>
            </a:extLst>
          </p:cNvPr>
          <p:cNvSpPr txBox="1"/>
          <p:nvPr/>
        </p:nvSpPr>
        <p:spPr>
          <a:xfrm>
            <a:off x="4956562" y="1935389"/>
            <a:ext cx="6695630" cy="923330"/>
          </a:xfrm>
          <a:prstGeom prst="rect">
            <a:avLst/>
          </a:prstGeom>
          <a:noFill/>
        </p:spPr>
        <p:txBody>
          <a:bodyPr wrap="square" rtlCol="0">
            <a:spAutoFit/>
          </a:bodyPr>
          <a:lstStyle/>
          <a:p>
            <a:r>
              <a:rPr lang="en-CA" dirty="0">
                <a:highlight>
                  <a:srgbClr val="00FF00"/>
                </a:highlight>
              </a:rPr>
              <a:t>EJW - I have noted the required changes.  Some have been made in my spreadsheet, others I still have questions about and am following up with MoF.  Corrected values are highlighted in green</a:t>
            </a:r>
          </a:p>
        </p:txBody>
      </p:sp>
      <p:sp>
        <p:nvSpPr>
          <p:cNvPr id="5" name="TextBox 4">
            <a:extLst>
              <a:ext uri="{FF2B5EF4-FFF2-40B4-BE49-F238E27FC236}">
                <a16:creationId xmlns:a16="http://schemas.microsoft.com/office/drawing/2014/main" id="{03D70C3D-2097-61A9-4F36-5C3CD8BBC16D}"/>
              </a:ext>
            </a:extLst>
          </p:cNvPr>
          <p:cNvSpPr txBox="1"/>
          <p:nvPr/>
        </p:nvSpPr>
        <p:spPr>
          <a:xfrm>
            <a:off x="705389" y="5771056"/>
            <a:ext cx="10781221" cy="369332"/>
          </a:xfrm>
          <a:prstGeom prst="rect">
            <a:avLst/>
          </a:prstGeom>
          <a:noFill/>
        </p:spPr>
        <p:txBody>
          <a:bodyPr wrap="none" rtlCol="0">
            <a:spAutoFit/>
          </a:bodyPr>
          <a:lstStyle/>
          <a:p>
            <a:r>
              <a:rPr lang="en-US" dirty="0">
                <a:highlight>
                  <a:srgbClr val="00FFFF"/>
                </a:highlight>
              </a:rPr>
              <a:t>Double check Ted’s new summary sheet, incorporate the new change into next round, in the production knot</a:t>
            </a:r>
          </a:p>
        </p:txBody>
      </p:sp>
    </p:spTree>
    <p:extLst>
      <p:ext uri="{BB962C8B-B14F-4D97-AF65-F5344CB8AC3E}">
        <p14:creationId xmlns:p14="http://schemas.microsoft.com/office/powerpoint/2010/main" val="1498285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693C8-110A-6682-FA9F-ABDA371CDF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F366C5-8A82-7CB9-CC16-AA0783164C7B}"/>
              </a:ext>
            </a:extLst>
          </p:cNvPr>
          <p:cNvSpPr txBox="1"/>
          <p:nvPr/>
        </p:nvSpPr>
        <p:spPr>
          <a:xfrm>
            <a:off x="330200" y="297934"/>
            <a:ext cx="6096000" cy="369332"/>
          </a:xfrm>
          <a:prstGeom prst="rect">
            <a:avLst/>
          </a:prstGeom>
          <a:noFill/>
        </p:spPr>
        <p:txBody>
          <a:bodyPr wrap="square">
            <a:spAutoFit/>
          </a:bodyPr>
          <a:lstStyle/>
          <a:p>
            <a:pPr marL="285750" indent="-285750">
              <a:buFont typeface="Arial" panose="020B0604020202020204" pitchFamily="34" charset="0"/>
              <a:buChar char="•"/>
            </a:pPr>
            <a:r>
              <a:rPr lang="en-CA" b="1" dirty="0"/>
              <a:t>Delete</a:t>
            </a:r>
          </a:p>
        </p:txBody>
      </p:sp>
      <p:pic>
        <p:nvPicPr>
          <p:cNvPr id="3" name="Picture 2" descr="A screen shot of a computer code&#10;&#10;AI-generated content may be incorrect.">
            <a:extLst>
              <a:ext uri="{FF2B5EF4-FFF2-40B4-BE49-F238E27FC236}">
                <a16:creationId xmlns:a16="http://schemas.microsoft.com/office/drawing/2014/main" id="{9CE15F22-D64D-2208-79EA-40374FEAF168}"/>
              </a:ext>
            </a:extLst>
          </p:cNvPr>
          <p:cNvPicPr>
            <a:picLocks noChangeAspect="1"/>
          </p:cNvPicPr>
          <p:nvPr/>
        </p:nvPicPr>
        <p:blipFill>
          <a:blip r:embed="rId2"/>
          <a:stretch>
            <a:fillRect/>
          </a:stretch>
        </p:blipFill>
        <p:spPr>
          <a:xfrm>
            <a:off x="8049513" y="402166"/>
            <a:ext cx="3228086" cy="6053667"/>
          </a:xfrm>
          <a:prstGeom prst="rect">
            <a:avLst/>
          </a:prstGeom>
        </p:spPr>
      </p:pic>
      <p:sp>
        <p:nvSpPr>
          <p:cNvPr id="4" name="TextBox 3">
            <a:extLst>
              <a:ext uri="{FF2B5EF4-FFF2-40B4-BE49-F238E27FC236}">
                <a16:creationId xmlns:a16="http://schemas.microsoft.com/office/drawing/2014/main" id="{18B815AF-2791-F678-1EC5-AE5B7959EF0F}"/>
              </a:ext>
            </a:extLst>
          </p:cNvPr>
          <p:cNvSpPr txBox="1"/>
          <p:nvPr/>
        </p:nvSpPr>
        <p:spPr>
          <a:xfrm>
            <a:off x="842433" y="767645"/>
            <a:ext cx="5072945" cy="1231106"/>
          </a:xfrm>
          <a:prstGeom prst="rect">
            <a:avLst/>
          </a:prstGeom>
          <a:solidFill>
            <a:srgbClr val="F2F2F2">
              <a:alpha val="63922"/>
            </a:srgbClr>
          </a:solidFill>
        </p:spPr>
        <p:txBody>
          <a:bodyPr wrap="square" rtlCol="0">
            <a:spAutoFit/>
          </a:bodyPr>
          <a:lstStyle>
            <a:defPPr>
              <a:defRPr lang="en-US"/>
            </a:defPPr>
            <a:lvl1pPr marL="285750" indent="-285750">
              <a:spcBef>
                <a:spcPts val="600"/>
              </a:spcBef>
              <a:spcAft>
                <a:spcPts val="600"/>
              </a:spcAft>
              <a:buFont typeface="Arial" panose="020B0604020202020204" pitchFamily="34" charset="0"/>
              <a:buChar char="•"/>
              <a:defRPr sz="1600"/>
            </a:lvl1pPr>
          </a:lstStyle>
          <a:p>
            <a:r>
              <a:rPr lang="en-US" dirty="0"/>
              <a:t>I deleted 346 entries based on their </a:t>
            </a:r>
            <a:r>
              <a:rPr lang="en-US" b="1" dirty="0" err="1"/>
              <a:t>station_id</a:t>
            </a:r>
            <a:r>
              <a:rPr lang="en-US" dirty="0"/>
              <a:t>. </a:t>
            </a:r>
          </a:p>
          <a:p>
            <a:r>
              <a:rPr lang="en-US" dirty="0"/>
              <a:t>Due to the logical relationships between database tables, the deletions had to be carried out in a specific order across the related tables.</a:t>
            </a:r>
          </a:p>
        </p:txBody>
      </p:sp>
    </p:spTree>
    <p:extLst>
      <p:ext uri="{BB962C8B-B14F-4D97-AF65-F5344CB8AC3E}">
        <p14:creationId xmlns:p14="http://schemas.microsoft.com/office/powerpoint/2010/main" val="967394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20401-E3DF-EA3A-691B-89C67CAEC5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B54E01-544B-CE25-BCB2-A4553A9819F2}"/>
              </a:ext>
            </a:extLst>
          </p:cNvPr>
          <p:cNvSpPr txBox="1"/>
          <p:nvPr/>
        </p:nvSpPr>
        <p:spPr>
          <a:xfrm>
            <a:off x="457200" y="382601"/>
            <a:ext cx="6096000" cy="338554"/>
          </a:xfrm>
          <a:prstGeom prst="rect">
            <a:avLst/>
          </a:prstGeom>
          <a:noFill/>
        </p:spPr>
        <p:txBody>
          <a:bodyPr wrap="square">
            <a:spAutoFit/>
          </a:bodyPr>
          <a:lstStyle/>
          <a:p>
            <a:pPr marL="285750" indent="-285750">
              <a:buFont typeface="Arial" panose="020B0604020202020204" pitchFamily="34" charset="0"/>
              <a:buChar char="•"/>
            </a:pPr>
            <a:r>
              <a:rPr lang="en-CA" sz="1600" b="1" dirty="0"/>
              <a:t>ID / Name / Location updates</a:t>
            </a:r>
            <a:endParaRPr lang="en-US" sz="1600" b="1" dirty="0"/>
          </a:p>
        </p:txBody>
      </p:sp>
      <p:sp>
        <p:nvSpPr>
          <p:cNvPr id="7" name="TextBox 6">
            <a:extLst>
              <a:ext uri="{FF2B5EF4-FFF2-40B4-BE49-F238E27FC236}">
                <a16:creationId xmlns:a16="http://schemas.microsoft.com/office/drawing/2014/main" id="{19563330-948E-08BC-EAC3-D7C902AEF081}"/>
              </a:ext>
            </a:extLst>
          </p:cNvPr>
          <p:cNvSpPr txBox="1"/>
          <p:nvPr/>
        </p:nvSpPr>
        <p:spPr>
          <a:xfrm>
            <a:off x="953909" y="1019471"/>
            <a:ext cx="9821334" cy="3939540"/>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Extract </a:t>
            </a:r>
            <a:r>
              <a:rPr lang="en-US" sz="1600" dirty="0" err="1"/>
              <a:t>station_id</a:t>
            </a:r>
            <a:r>
              <a:rPr lang="en-US" sz="1600" dirty="0"/>
              <a:t>, old and new </a:t>
            </a:r>
            <a:r>
              <a:rPr lang="en-US" sz="1600" dirty="0" err="1"/>
              <a:t>native_id</a:t>
            </a:r>
            <a:r>
              <a:rPr lang="en-US" sz="1600" dirty="0"/>
              <a:t>, </a:t>
            </a:r>
            <a:r>
              <a:rPr lang="en-US" sz="1600" dirty="0" err="1"/>
              <a:t>station_name</a:t>
            </a:r>
            <a:r>
              <a:rPr lang="en-US" sz="1600" dirty="0"/>
              <a:t>, and geometries.</a:t>
            </a:r>
          </a:p>
          <a:p>
            <a:pPr marL="285750" indent="-285750">
              <a:spcBef>
                <a:spcPts val="600"/>
              </a:spcBef>
              <a:spcAft>
                <a:spcPts val="600"/>
              </a:spcAft>
              <a:buFont typeface="Arial" panose="020B0604020202020204" pitchFamily="34" charset="0"/>
              <a:buChar char="•"/>
            </a:pPr>
            <a:r>
              <a:rPr lang="en-US" sz="1600" dirty="0"/>
              <a:t>Based on the </a:t>
            </a:r>
            <a:r>
              <a:rPr lang="en-US" sz="1600" dirty="0" err="1"/>
              <a:t>station_id</a:t>
            </a:r>
            <a:r>
              <a:rPr lang="en-US" sz="1600" dirty="0"/>
              <a:t>:</a:t>
            </a:r>
          </a:p>
          <a:p>
            <a:pPr marL="742950" lvl="1" indent="-285750">
              <a:spcBef>
                <a:spcPts val="600"/>
              </a:spcBef>
              <a:spcAft>
                <a:spcPts val="600"/>
              </a:spcAft>
              <a:buFont typeface="Arial" panose="020B0604020202020204" pitchFamily="34" charset="0"/>
              <a:buChar char="•"/>
            </a:pPr>
            <a:r>
              <a:rPr lang="en-US" sz="1600" dirty="0"/>
              <a:t>Verify that the old </a:t>
            </a:r>
            <a:r>
              <a:rPr lang="en-US" sz="1600" dirty="0" err="1"/>
              <a:t>native_id</a:t>
            </a:r>
            <a:r>
              <a:rPr lang="en-US" sz="1600" dirty="0"/>
              <a:t> , </a:t>
            </a:r>
            <a:r>
              <a:rPr lang="en-US" sz="1600" dirty="0" err="1"/>
              <a:t>station_name</a:t>
            </a:r>
            <a:r>
              <a:rPr lang="en-US" sz="1600" dirty="0"/>
              <a:t>, and geometries matches the database.</a:t>
            </a:r>
          </a:p>
          <a:p>
            <a:pPr marL="742950" lvl="1" indent="-285750">
              <a:spcBef>
                <a:spcPts val="600"/>
              </a:spcBef>
              <a:spcAft>
                <a:spcPts val="600"/>
              </a:spcAft>
              <a:buFont typeface="Arial" panose="020B0604020202020204" pitchFamily="34" charset="0"/>
              <a:buChar char="•"/>
            </a:pPr>
            <a:r>
              <a:rPr lang="en-US" sz="1600" dirty="0"/>
              <a:t>If it matches, update it to the new one.</a:t>
            </a:r>
          </a:p>
          <a:p>
            <a:pPr marL="742950" lvl="1" indent="-285750">
              <a:spcBef>
                <a:spcPts val="600"/>
              </a:spcBef>
              <a:spcAft>
                <a:spcPts val="600"/>
              </a:spcAft>
              <a:buFont typeface="Arial" panose="020B0604020202020204" pitchFamily="34" charset="0"/>
              <a:buChar char="•"/>
            </a:pPr>
            <a:r>
              <a:rPr lang="en-US" sz="1600" dirty="0"/>
              <a:t>Confirm that the database now reflects the new one.</a:t>
            </a:r>
          </a:p>
          <a:p>
            <a:pPr marL="285750" indent="-285750">
              <a:spcBef>
                <a:spcPts val="600"/>
              </a:spcBef>
              <a:spcAft>
                <a:spcPts val="600"/>
              </a:spcAft>
              <a:buFont typeface="Arial" panose="020B0604020202020204" pitchFamily="34" charset="0"/>
              <a:buChar char="•"/>
            </a:pPr>
            <a:r>
              <a:rPr lang="en-US" sz="1600" dirty="0">
                <a:highlight>
                  <a:srgbClr val="C0C0C0"/>
                </a:highlight>
              </a:rPr>
              <a:t>Tong found many small location/elevation typographical errors that she corrected</a:t>
            </a:r>
          </a:p>
          <a:p>
            <a:pPr marL="742950" lvl="1" indent="-285750">
              <a:spcBef>
                <a:spcPts val="600"/>
              </a:spcBef>
              <a:spcAft>
                <a:spcPts val="600"/>
              </a:spcAft>
              <a:buFont typeface="Arial" panose="020B0604020202020204" pitchFamily="34" charset="0"/>
              <a:buChar char="•"/>
            </a:pPr>
            <a:r>
              <a:rPr lang="en-US" sz="1600" dirty="0"/>
              <a:t>Examples:</a:t>
            </a:r>
          </a:p>
          <a:p>
            <a:pPr marL="1200150" lvl="2" indent="-285750">
              <a:spcBef>
                <a:spcPts val="600"/>
              </a:spcBef>
              <a:spcAft>
                <a:spcPts val="600"/>
              </a:spcAft>
              <a:buFont typeface="Arial" panose="020B0604020202020204" pitchFamily="34" charset="0"/>
              <a:buChar char="•"/>
            </a:pPr>
            <a:r>
              <a:rPr lang="en-US" sz="1600" dirty="0"/>
              <a:t>commas instead of periods in the “Unique Location (String)”</a:t>
            </a:r>
          </a:p>
          <a:p>
            <a:pPr marL="1200150" lvl="2" indent="-285750">
              <a:spcBef>
                <a:spcPts val="600"/>
              </a:spcBef>
              <a:spcAft>
                <a:spcPts val="600"/>
              </a:spcAft>
              <a:buFont typeface="Arial" panose="020B0604020202020204" pitchFamily="34" charset="0"/>
              <a:buChar char="•"/>
            </a:pPr>
            <a:r>
              <a:rPr lang="en-US" sz="1600" dirty="0"/>
              <a:t>Elevation in the wrong column (In Ted’s spreadsheet set)</a:t>
            </a:r>
          </a:p>
          <a:p>
            <a:pPr marL="1200150" lvl="2" indent="-285750">
              <a:spcBef>
                <a:spcPts val="600"/>
              </a:spcBef>
              <a:spcAft>
                <a:spcPts val="600"/>
              </a:spcAft>
              <a:buFont typeface="Arial" panose="020B0604020202020204" pitchFamily="34" charset="0"/>
              <a:buChar char="•"/>
            </a:pPr>
            <a:r>
              <a:rPr lang="en-US" sz="1600" dirty="0"/>
              <a:t>Lat and long reversed (In Ted’s spreadsheet set)</a:t>
            </a:r>
          </a:p>
        </p:txBody>
      </p:sp>
    </p:spTree>
    <p:extLst>
      <p:ext uri="{BB962C8B-B14F-4D97-AF65-F5344CB8AC3E}">
        <p14:creationId xmlns:p14="http://schemas.microsoft.com/office/powerpoint/2010/main" val="1512514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411E-5774-7612-3E23-60E9B2AD6F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A36E40-7C26-74E5-C4B4-9015855605DB}"/>
              </a:ext>
            </a:extLst>
          </p:cNvPr>
          <p:cNvSpPr txBox="1"/>
          <p:nvPr/>
        </p:nvSpPr>
        <p:spPr>
          <a:xfrm>
            <a:off x="330200" y="297934"/>
            <a:ext cx="6096000" cy="369332"/>
          </a:xfrm>
          <a:prstGeom prst="rect">
            <a:avLst/>
          </a:prstGeom>
          <a:noFill/>
        </p:spPr>
        <p:txBody>
          <a:bodyPr wrap="square">
            <a:spAutoFit/>
          </a:bodyPr>
          <a:lstStyle/>
          <a:p>
            <a:pPr marL="285750" indent="-285750">
              <a:buFont typeface="Arial" panose="020B0604020202020204" pitchFamily="34" charset="0"/>
              <a:buChar char="•"/>
            </a:pPr>
            <a:r>
              <a:rPr lang="en-CA" b="1" dirty="0"/>
              <a:t>Concatenate</a:t>
            </a:r>
          </a:p>
        </p:txBody>
      </p:sp>
      <p:sp>
        <p:nvSpPr>
          <p:cNvPr id="5" name="TextBox 4">
            <a:extLst>
              <a:ext uri="{FF2B5EF4-FFF2-40B4-BE49-F238E27FC236}">
                <a16:creationId xmlns:a16="http://schemas.microsoft.com/office/drawing/2014/main" id="{20F55E8F-67FA-ED3D-9F6D-82D4BEEC906D}"/>
              </a:ext>
            </a:extLst>
          </p:cNvPr>
          <p:cNvSpPr txBox="1"/>
          <p:nvPr/>
        </p:nvSpPr>
        <p:spPr>
          <a:xfrm>
            <a:off x="715444" y="1009860"/>
            <a:ext cx="5590176" cy="4124206"/>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Concatenate old stations to new ones based on </a:t>
            </a:r>
            <a:r>
              <a:rPr lang="en-US" sz="1600" dirty="0" err="1"/>
              <a:t>native_id</a:t>
            </a:r>
            <a:r>
              <a:rPr lang="en-US" sz="1600" dirty="0"/>
              <a:t>.</a:t>
            </a:r>
          </a:p>
          <a:p>
            <a:pPr marL="742950" lvl="1" indent="-285750">
              <a:spcBef>
                <a:spcPts val="600"/>
              </a:spcBef>
              <a:spcAft>
                <a:spcPts val="600"/>
              </a:spcAft>
              <a:buFont typeface="Arial" panose="020B0604020202020204" pitchFamily="34" charset="0"/>
              <a:buChar char="•"/>
            </a:pPr>
            <a:r>
              <a:rPr lang="en-US" sz="1600" dirty="0"/>
              <a:t>Checks before concatenation: overlaps by variable/time, identical data points.</a:t>
            </a:r>
          </a:p>
          <a:p>
            <a:pPr marL="742950" lvl="1" indent="-285750">
              <a:spcBef>
                <a:spcPts val="600"/>
              </a:spcBef>
              <a:spcAft>
                <a:spcPts val="600"/>
              </a:spcAft>
              <a:buFont typeface="Arial" panose="020B0604020202020204" pitchFamily="34" charset="0"/>
              <a:buChar char="•"/>
            </a:pPr>
            <a:r>
              <a:rPr lang="en-US" sz="1600" dirty="0"/>
              <a:t>Concatenation: update </a:t>
            </a:r>
            <a:r>
              <a:rPr lang="en-US" sz="1600" dirty="0" err="1"/>
              <a:t>history_id</a:t>
            </a:r>
            <a:r>
              <a:rPr lang="en-US" sz="1600" dirty="0"/>
              <a:t> for non-overlapping entries only.</a:t>
            </a:r>
          </a:p>
          <a:p>
            <a:pPr marL="285750" indent="-285750">
              <a:spcBef>
                <a:spcPts val="600"/>
              </a:spcBef>
              <a:spcAft>
                <a:spcPts val="600"/>
              </a:spcAft>
              <a:buFont typeface="Arial" panose="020B0604020202020204" pitchFamily="34" charset="0"/>
              <a:buChar char="•"/>
            </a:pPr>
            <a:r>
              <a:rPr lang="en-US" sz="1600" dirty="0">
                <a:highlight>
                  <a:srgbClr val="FF00FF"/>
                </a:highlight>
              </a:rPr>
              <a:t>Cannot concatenate: </a:t>
            </a:r>
            <a:r>
              <a:rPr lang="en-US" sz="1600" dirty="0" err="1">
                <a:highlight>
                  <a:srgbClr val="FF00FF"/>
                </a:highlight>
              </a:rPr>
              <a:t>new_native_id</a:t>
            </a:r>
            <a:r>
              <a:rPr lang="en-US" sz="1600" dirty="0">
                <a:highlight>
                  <a:srgbClr val="FF00FF"/>
                </a:highlight>
              </a:rPr>
              <a:t> 452, T035, 77, E271963, E238705, 543 missing in DB.</a:t>
            </a:r>
          </a:p>
          <a:p>
            <a:pPr marL="285750" indent="-285750">
              <a:spcBef>
                <a:spcPts val="600"/>
              </a:spcBef>
              <a:spcAft>
                <a:spcPts val="600"/>
              </a:spcAft>
              <a:buFont typeface="Arial" panose="020B0604020202020204" pitchFamily="34" charset="0"/>
              <a:buChar char="•"/>
            </a:pPr>
            <a:r>
              <a:rPr lang="en-US" sz="1600" dirty="0">
                <a:highlight>
                  <a:srgbClr val="FF00FF"/>
                </a:highlight>
              </a:rPr>
              <a:t>Seems old stations summarized in the table on the right have no data records.</a:t>
            </a:r>
          </a:p>
          <a:p>
            <a:pPr marL="285750" indent="-285750">
              <a:spcBef>
                <a:spcPts val="600"/>
              </a:spcBef>
              <a:spcAft>
                <a:spcPts val="600"/>
              </a:spcAft>
              <a:buFont typeface="Arial" panose="020B0604020202020204" pitchFamily="34" charset="0"/>
              <a:buChar char="•"/>
            </a:pPr>
            <a:r>
              <a:rPr lang="en-US" sz="1600" dirty="0"/>
              <a:t>Next steps/questions:</a:t>
            </a:r>
          </a:p>
          <a:p>
            <a:pPr marL="742950" lvl="1" indent="-285750">
              <a:spcBef>
                <a:spcPts val="600"/>
              </a:spcBef>
              <a:spcAft>
                <a:spcPts val="600"/>
              </a:spcAft>
              <a:buFont typeface="Arial" panose="020B0604020202020204" pitchFamily="34" charset="0"/>
              <a:buChar char="•"/>
            </a:pPr>
            <a:r>
              <a:rPr lang="en-US" sz="1600" dirty="0">
                <a:highlight>
                  <a:srgbClr val="FFFF00"/>
                </a:highlight>
              </a:rPr>
              <a:t>Delete old stations after concatenation?</a:t>
            </a:r>
          </a:p>
          <a:p>
            <a:pPr marL="742950" lvl="1" indent="-285750">
              <a:spcBef>
                <a:spcPts val="600"/>
              </a:spcBef>
              <a:spcAft>
                <a:spcPts val="600"/>
              </a:spcAft>
              <a:buFont typeface="Arial" panose="020B0604020202020204" pitchFamily="34" charset="0"/>
              <a:buChar char="•"/>
            </a:pPr>
            <a:r>
              <a:rPr lang="en-US" sz="1600" dirty="0">
                <a:highlight>
                  <a:srgbClr val="FFFF00"/>
                </a:highlight>
              </a:rPr>
              <a:t>Update station names to the new </a:t>
            </a:r>
            <a:r>
              <a:rPr lang="en-US" sz="1600" dirty="0" err="1">
                <a:highlight>
                  <a:srgbClr val="FFFF00"/>
                </a:highlight>
              </a:rPr>
              <a:t>native_id</a:t>
            </a:r>
            <a:r>
              <a:rPr lang="en-US" sz="1600" dirty="0">
                <a:highlight>
                  <a:srgbClr val="FFFF00"/>
                </a:highlight>
              </a:rPr>
              <a:t>?</a:t>
            </a:r>
          </a:p>
        </p:txBody>
      </p:sp>
      <p:graphicFrame>
        <p:nvGraphicFramePr>
          <p:cNvPr id="9" name="Table 8">
            <a:extLst>
              <a:ext uri="{FF2B5EF4-FFF2-40B4-BE49-F238E27FC236}">
                <a16:creationId xmlns:a16="http://schemas.microsoft.com/office/drawing/2014/main" id="{87FB600F-5FA9-7B92-B661-5CD07F762E94}"/>
              </a:ext>
            </a:extLst>
          </p:cNvPr>
          <p:cNvGraphicFramePr>
            <a:graphicFrameLocks noGrp="1"/>
          </p:cNvGraphicFramePr>
          <p:nvPr>
            <p:extLst>
              <p:ext uri="{D42A27DB-BD31-4B8C-83A1-F6EECF244321}">
                <p14:modId xmlns:p14="http://schemas.microsoft.com/office/powerpoint/2010/main" val="2876808733"/>
              </p:ext>
            </p:extLst>
          </p:nvPr>
        </p:nvGraphicFramePr>
        <p:xfrm>
          <a:off x="7849596" y="1009860"/>
          <a:ext cx="3697298" cy="4351339"/>
        </p:xfrm>
        <a:graphic>
          <a:graphicData uri="http://schemas.openxmlformats.org/drawingml/2006/table">
            <a:tbl>
              <a:tblPr>
                <a:tableStyleId>{9D7B26C5-4107-4FEC-AEDC-1716B250A1EF}</a:tableStyleId>
              </a:tblPr>
              <a:tblGrid>
                <a:gridCol w="2235542">
                  <a:extLst>
                    <a:ext uri="{9D8B030D-6E8A-4147-A177-3AD203B41FA5}">
                      <a16:colId xmlns:a16="http://schemas.microsoft.com/office/drawing/2014/main" val="854097889"/>
                    </a:ext>
                  </a:extLst>
                </a:gridCol>
                <a:gridCol w="1461756">
                  <a:extLst>
                    <a:ext uri="{9D8B030D-6E8A-4147-A177-3AD203B41FA5}">
                      <a16:colId xmlns:a16="http://schemas.microsoft.com/office/drawing/2014/main" val="1865440599"/>
                    </a:ext>
                  </a:extLst>
                </a:gridCol>
              </a:tblGrid>
              <a:tr h="354007">
                <a:tc>
                  <a:txBody>
                    <a:bodyPr/>
                    <a:lstStyle/>
                    <a:p>
                      <a:pPr algn="ctr" fontAlgn="ctr">
                        <a:buNone/>
                      </a:pPr>
                      <a:r>
                        <a:rPr lang="en-CA" sz="1200" dirty="0">
                          <a:effectLst/>
                        </a:rPr>
                        <a:t>Native ID</a:t>
                      </a:r>
                    </a:p>
                  </a:txBody>
                  <a:tcPr marL="73751" marR="73751" marT="36876" marB="36876" anchor="ctr">
                    <a:lnB w="12700" cap="flat" cmpd="sng" algn="ctr">
                      <a:solidFill>
                        <a:schemeClr val="tx1"/>
                      </a:solidFill>
                      <a:prstDash val="solid"/>
                      <a:round/>
                      <a:headEnd type="none" w="med" len="med"/>
                      <a:tailEnd type="none" w="med" len="med"/>
                    </a:lnB>
                  </a:tcPr>
                </a:tc>
                <a:tc>
                  <a:txBody>
                    <a:bodyPr/>
                    <a:lstStyle/>
                    <a:p>
                      <a:pPr algn="ctr"/>
                      <a:r>
                        <a:rPr lang="en-CA" sz="1200" dirty="0">
                          <a:effectLst/>
                        </a:rPr>
                        <a:t>Station ID</a:t>
                      </a:r>
                      <a:endParaRPr lang="en-US" sz="1200" dirty="0"/>
                    </a:p>
                  </a:txBody>
                  <a:tcPr marL="88502" marR="88502" marT="44251" marB="4425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5070358"/>
                  </a:ext>
                </a:extLst>
              </a:tr>
              <a:tr h="339257">
                <a:tc>
                  <a:txBody>
                    <a:bodyPr/>
                    <a:lstStyle/>
                    <a:p>
                      <a:pPr algn="ctr">
                        <a:buNone/>
                      </a:pPr>
                      <a:r>
                        <a:rPr lang="en-CA" sz="1200" dirty="0">
                          <a:effectLst/>
                        </a:rPr>
                        <a:t>Pine River Gas Plant</a:t>
                      </a:r>
                    </a:p>
                  </a:txBody>
                  <a:tcPr marL="73751" marR="73751" marT="36876" marB="36876" anchor="ctr">
                    <a:lnT w="12700" cap="flat" cmpd="sng" algn="ctr">
                      <a:solidFill>
                        <a:schemeClr val="tx1"/>
                      </a:solidFill>
                      <a:prstDash val="solid"/>
                      <a:round/>
                      <a:headEnd type="none" w="med" len="med"/>
                      <a:tailEnd type="none" w="med" len="med"/>
                    </a:lnT>
                  </a:tcPr>
                </a:tc>
                <a:tc>
                  <a:txBody>
                    <a:bodyPr/>
                    <a:lstStyle/>
                    <a:p>
                      <a:pPr algn="ctr">
                        <a:buNone/>
                      </a:pPr>
                      <a:r>
                        <a:rPr lang="en-CA" sz="1200">
                          <a:effectLst/>
                        </a:rPr>
                        <a:t>12938</a:t>
                      </a:r>
                    </a:p>
                  </a:txBody>
                  <a:tcPr marL="73751" marR="73751" marT="36876" marB="36876"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0831936"/>
                  </a:ext>
                </a:extLst>
              </a:tr>
              <a:tr h="339257">
                <a:tc>
                  <a:txBody>
                    <a:bodyPr/>
                    <a:lstStyle/>
                    <a:p>
                      <a:pPr algn="ctr">
                        <a:buNone/>
                      </a:pPr>
                      <a:r>
                        <a:rPr lang="en-CA" sz="1200" dirty="0">
                          <a:effectLst/>
                        </a:rPr>
                        <a:t>M102038</a:t>
                      </a:r>
                    </a:p>
                  </a:txBody>
                  <a:tcPr marL="73751" marR="73751" marT="36876" marB="36876" anchor="ctr"/>
                </a:tc>
                <a:tc>
                  <a:txBody>
                    <a:bodyPr/>
                    <a:lstStyle/>
                    <a:p>
                      <a:pPr algn="ctr">
                        <a:buNone/>
                      </a:pPr>
                      <a:r>
                        <a:rPr lang="en-CA" sz="1200">
                          <a:effectLst/>
                        </a:rPr>
                        <a:t>2640</a:t>
                      </a:r>
                    </a:p>
                  </a:txBody>
                  <a:tcPr marL="73751" marR="73751" marT="36876" marB="36876" anchor="ctr"/>
                </a:tc>
                <a:extLst>
                  <a:ext uri="{0D108BD9-81ED-4DB2-BD59-A6C34878D82A}">
                    <a16:rowId xmlns:a16="http://schemas.microsoft.com/office/drawing/2014/main" val="3637780277"/>
                  </a:ext>
                </a:extLst>
              </a:tr>
              <a:tr h="339257">
                <a:tc>
                  <a:txBody>
                    <a:bodyPr/>
                    <a:lstStyle/>
                    <a:p>
                      <a:pPr algn="ctr">
                        <a:buNone/>
                      </a:pPr>
                      <a:r>
                        <a:rPr lang="en-CA" sz="1200">
                          <a:effectLst/>
                        </a:rPr>
                        <a:t>Birchbank Golf Course</a:t>
                      </a:r>
                    </a:p>
                  </a:txBody>
                  <a:tcPr marL="73751" marR="73751" marT="36876" marB="36876" anchor="ctr"/>
                </a:tc>
                <a:tc>
                  <a:txBody>
                    <a:bodyPr/>
                    <a:lstStyle/>
                    <a:p>
                      <a:pPr algn="ctr">
                        <a:buNone/>
                      </a:pPr>
                      <a:r>
                        <a:rPr lang="en-CA" sz="1200" dirty="0">
                          <a:effectLst/>
                        </a:rPr>
                        <a:t>12531</a:t>
                      </a:r>
                    </a:p>
                  </a:txBody>
                  <a:tcPr marL="73751" marR="73751" marT="36876" marB="36876" anchor="ctr"/>
                </a:tc>
                <a:extLst>
                  <a:ext uri="{0D108BD9-81ED-4DB2-BD59-A6C34878D82A}">
                    <a16:rowId xmlns:a16="http://schemas.microsoft.com/office/drawing/2014/main" val="1525805044"/>
                  </a:ext>
                </a:extLst>
              </a:tr>
              <a:tr h="339257">
                <a:tc>
                  <a:txBody>
                    <a:bodyPr/>
                    <a:lstStyle/>
                    <a:p>
                      <a:pPr algn="ctr">
                        <a:buNone/>
                      </a:pPr>
                      <a:r>
                        <a:rPr lang="en-CA" sz="1200" dirty="0">
                          <a:effectLst/>
                        </a:rPr>
                        <a:t>Burns Lake Fire Centre</a:t>
                      </a:r>
                    </a:p>
                  </a:txBody>
                  <a:tcPr marL="73751" marR="73751" marT="36876" marB="36876" anchor="ctr"/>
                </a:tc>
                <a:tc>
                  <a:txBody>
                    <a:bodyPr/>
                    <a:lstStyle/>
                    <a:p>
                      <a:pPr algn="ctr">
                        <a:buNone/>
                      </a:pPr>
                      <a:r>
                        <a:rPr lang="en-CA" sz="1200">
                          <a:effectLst/>
                        </a:rPr>
                        <a:t>12534</a:t>
                      </a:r>
                    </a:p>
                  </a:txBody>
                  <a:tcPr marL="73751" marR="73751" marT="36876" marB="36876" anchor="ctr"/>
                </a:tc>
                <a:extLst>
                  <a:ext uri="{0D108BD9-81ED-4DB2-BD59-A6C34878D82A}">
                    <a16:rowId xmlns:a16="http://schemas.microsoft.com/office/drawing/2014/main" val="2438916558"/>
                  </a:ext>
                </a:extLst>
              </a:tr>
              <a:tr h="339257">
                <a:tc>
                  <a:txBody>
                    <a:bodyPr/>
                    <a:lstStyle/>
                    <a:p>
                      <a:pPr algn="ctr">
                        <a:buNone/>
                      </a:pPr>
                      <a:r>
                        <a:rPr lang="en-CA" sz="1200">
                          <a:effectLst/>
                        </a:rPr>
                        <a:t>Courtenay Elementary School</a:t>
                      </a:r>
                    </a:p>
                  </a:txBody>
                  <a:tcPr marL="73751" marR="73751" marT="36876" marB="36876" anchor="ctr"/>
                </a:tc>
                <a:tc>
                  <a:txBody>
                    <a:bodyPr/>
                    <a:lstStyle/>
                    <a:p>
                      <a:pPr algn="ctr">
                        <a:buNone/>
                      </a:pPr>
                      <a:r>
                        <a:rPr lang="en-CA" sz="1200">
                          <a:effectLst/>
                        </a:rPr>
                        <a:t>12539</a:t>
                      </a:r>
                    </a:p>
                  </a:txBody>
                  <a:tcPr marL="73751" marR="73751" marT="36876" marB="36876" anchor="ctr"/>
                </a:tc>
                <a:extLst>
                  <a:ext uri="{0D108BD9-81ED-4DB2-BD59-A6C34878D82A}">
                    <a16:rowId xmlns:a16="http://schemas.microsoft.com/office/drawing/2014/main" val="1159362583"/>
                  </a:ext>
                </a:extLst>
              </a:tr>
              <a:tr h="339257">
                <a:tc>
                  <a:txBody>
                    <a:bodyPr/>
                    <a:lstStyle/>
                    <a:p>
                      <a:pPr algn="ctr">
                        <a:buNone/>
                      </a:pPr>
                      <a:r>
                        <a:rPr lang="en-CA" sz="1200">
                          <a:effectLst/>
                        </a:rPr>
                        <a:t>Harmac Pacific</a:t>
                      </a:r>
                    </a:p>
                  </a:txBody>
                  <a:tcPr marL="73751" marR="73751" marT="36876" marB="36876" anchor="ctr"/>
                </a:tc>
                <a:tc>
                  <a:txBody>
                    <a:bodyPr/>
                    <a:lstStyle/>
                    <a:p>
                      <a:pPr algn="ctr">
                        <a:buNone/>
                      </a:pPr>
                      <a:r>
                        <a:rPr lang="en-CA" sz="1200">
                          <a:effectLst/>
                        </a:rPr>
                        <a:t>12595</a:t>
                      </a:r>
                    </a:p>
                  </a:txBody>
                  <a:tcPr marL="73751" marR="73751" marT="36876" marB="36876" anchor="ctr"/>
                </a:tc>
                <a:extLst>
                  <a:ext uri="{0D108BD9-81ED-4DB2-BD59-A6C34878D82A}">
                    <a16:rowId xmlns:a16="http://schemas.microsoft.com/office/drawing/2014/main" val="949009079"/>
                  </a:ext>
                </a:extLst>
              </a:tr>
              <a:tr h="339257">
                <a:tc>
                  <a:txBody>
                    <a:bodyPr/>
                    <a:lstStyle/>
                    <a:p>
                      <a:pPr algn="ctr">
                        <a:buNone/>
                      </a:pPr>
                      <a:r>
                        <a:rPr lang="en-CA" sz="1200">
                          <a:effectLst/>
                        </a:rPr>
                        <a:t>Trail Columbia Gardens Airport</a:t>
                      </a:r>
                    </a:p>
                  </a:txBody>
                  <a:tcPr marL="73751" marR="73751" marT="36876" marB="36876" anchor="ctr"/>
                </a:tc>
                <a:tc>
                  <a:txBody>
                    <a:bodyPr/>
                    <a:lstStyle/>
                    <a:p>
                      <a:pPr algn="ctr">
                        <a:buNone/>
                      </a:pPr>
                      <a:r>
                        <a:rPr lang="en-CA" sz="1200">
                          <a:effectLst/>
                        </a:rPr>
                        <a:t>12580</a:t>
                      </a:r>
                    </a:p>
                  </a:txBody>
                  <a:tcPr marL="73751" marR="73751" marT="36876" marB="36876" anchor="ctr"/>
                </a:tc>
                <a:extLst>
                  <a:ext uri="{0D108BD9-81ED-4DB2-BD59-A6C34878D82A}">
                    <a16:rowId xmlns:a16="http://schemas.microsoft.com/office/drawing/2014/main" val="518888638"/>
                  </a:ext>
                </a:extLst>
              </a:tr>
              <a:tr h="339257">
                <a:tc>
                  <a:txBody>
                    <a:bodyPr/>
                    <a:lstStyle/>
                    <a:p>
                      <a:pPr algn="ctr">
                        <a:buNone/>
                      </a:pPr>
                      <a:r>
                        <a:rPr lang="en-CA" sz="1200">
                          <a:effectLst/>
                        </a:rPr>
                        <a:t>PG Marsulex</a:t>
                      </a:r>
                    </a:p>
                  </a:txBody>
                  <a:tcPr marL="73751" marR="73751" marT="36876" marB="36876" anchor="ctr"/>
                </a:tc>
                <a:tc>
                  <a:txBody>
                    <a:bodyPr/>
                    <a:lstStyle/>
                    <a:p>
                      <a:pPr algn="ctr">
                        <a:buNone/>
                      </a:pPr>
                      <a:r>
                        <a:rPr lang="en-CA" sz="1200">
                          <a:effectLst/>
                        </a:rPr>
                        <a:t>12560</a:t>
                      </a:r>
                    </a:p>
                  </a:txBody>
                  <a:tcPr marL="73751" marR="73751" marT="36876" marB="36876" anchor="ctr"/>
                </a:tc>
                <a:extLst>
                  <a:ext uri="{0D108BD9-81ED-4DB2-BD59-A6C34878D82A}">
                    <a16:rowId xmlns:a16="http://schemas.microsoft.com/office/drawing/2014/main" val="3540967602"/>
                  </a:ext>
                </a:extLst>
              </a:tr>
              <a:tr h="604762">
                <a:tc>
                  <a:txBody>
                    <a:bodyPr/>
                    <a:lstStyle/>
                    <a:p>
                      <a:pPr algn="ctr">
                        <a:buNone/>
                      </a:pPr>
                      <a:r>
                        <a:rPr lang="en-CA" sz="1200">
                          <a:effectLst/>
                        </a:rPr>
                        <a:t>Prince Rupert Roosevelt Park School</a:t>
                      </a:r>
                    </a:p>
                  </a:txBody>
                  <a:tcPr marL="73751" marR="73751" marT="36876" marB="36876" anchor="ctr"/>
                </a:tc>
                <a:tc>
                  <a:txBody>
                    <a:bodyPr/>
                    <a:lstStyle/>
                    <a:p>
                      <a:pPr algn="ctr">
                        <a:buNone/>
                      </a:pPr>
                      <a:r>
                        <a:rPr lang="en-CA" sz="1200">
                          <a:effectLst/>
                        </a:rPr>
                        <a:t>12569</a:t>
                      </a:r>
                    </a:p>
                  </a:txBody>
                  <a:tcPr marL="73751" marR="73751" marT="36876" marB="36876" anchor="ctr"/>
                </a:tc>
                <a:extLst>
                  <a:ext uri="{0D108BD9-81ED-4DB2-BD59-A6C34878D82A}">
                    <a16:rowId xmlns:a16="http://schemas.microsoft.com/office/drawing/2014/main" val="2320998417"/>
                  </a:ext>
                </a:extLst>
              </a:tr>
              <a:tr h="339257">
                <a:tc>
                  <a:txBody>
                    <a:bodyPr/>
                    <a:lstStyle/>
                    <a:p>
                      <a:pPr algn="ctr">
                        <a:buNone/>
                      </a:pPr>
                      <a:r>
                        <a:rPr lang="en-CA" sz="1200">
                          <a:effectLst/>
                        </a:rPr>
                        <a:t>Valemount</a:t>
                      </a:r>
                    </a:p>
                  </a:txBody>
                  <a:tcPr marL="73751" marR="73751" marT="36876" marB="36876" anchor="ctr"/>
                </a:tc>
                <a:tc>
                  <a:txBody>
                    <a:bodyPr/>
                    <a:lstStyle/>
                    <a:p>
                      <a:pPr algn="ctr">
                        <a:buNone/>
                      </a:pPr>
                      <a:r>
                        <a:rPr lang="en-CA" sz="1200">
                          <a:effectLst/>
                        </a:rPr>
                        <a:t>12581</a:t>
                      </a:r>
                    </a:p>
                  </a:txBody>
                  <a:tcPr marL="73751" marR="73751" marT="36876" marB="36876" anchor="ctr"/>
                </a:tc>
                <a:extLst>
                  <a:ext uri="{0D108BD9-81ED-4DB2-BD59-A6C34878D82A}">
                    <a16:rowId xmlns:a16="http://schemas.microsoft.com/office/drawing/2014/main" val="3502970103"/>
                  </a:ext>
                </a:extLst>
              </a:tr>
              <a:tr h="339257">
                <a:tc>
                  <a:txBody>
                    <a:bodyPr/>
                    <a:lstStyle/>
                    <a:p>
                      <a:pPr algn="ctr">
                        <a:buNone/>
                      </a:pPr>
                      <a:r>
                        <a:rPr lang="en-CA" sz="1200" dirty="0">
                          <a:effectLst/>
                        </a:rPr>
                        <a:t>E237758</a:t>
                      </a:r>
                    </a:p>
                  </a:txBody>
                  <a:tcPr marL="73751" marR="73751" marT="36876" marB="36876" anchor="ctr"/>
                </a:tc>
                <a:tc>
                  <a:txBody>
                    <a:bodyPr/>
                    <a:lstStyle/>
                    <a:p>
                      <a:pPr algn="ctr">
                        <a:buNone/>
                      </a:pPr>
                      <a:r>
                        <a:rPr lang="en-CA" sz="1200" dirty="0">
                          <a:effectLst/>
                        </a:rPr>
                        <a:t>2618</a:t>
                      </a:r>
                    </a:p>
                  </a:txBody>
                  <a:tcPr marL="73751" marR="73751" marT="36876" marB="36876" anchor="ctr"/>
                </a:tc>
                <a:extLst>
                  <a:ext uri="{0D108BD9-81ED-4DB2-BD59-A6C34878D82A}">
                    <a16:rowId xmlns:a16="http://schemas.microsoft.com/office/drawing/2014/main" val="3252689318"/>
                  </a:ext>
                </a:extLst>
              </a:tr>
            </a:tbl>
          </a:graphicData>
        </a:graphic>
      </p:graphicFrame>
      <p:sp>
        <p:nvSpPr>
          <p:cNvPr id="10" name="Right Arrow 9">
            <a:extLst>
              <a:ext uri="{FF2B5EF4-FFF2-40B4-BE49-F238E27FC236}">
                <a16:creationId xmlns:a16="http://schemas.microsoft.com/office/drawing/2014/main" id="{E4566553-BD0D-1D0F-5556-DEB764BB1F6F}"/>
              </a:ext>
            </a:extLst>
          </p:cNvPr>
          <p:cNvSpPr/>
          <p:nvPr/>
        </p:nvSpPr>
        <p:spPr>
          <a:xfrm>
            <a:off x="6123014" y="3429000"/>
            <a:ext cx="890735" cy="21855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21D1C7C6-3474-5FEA-C84B-51EAF5376638}"/>
              </a:ext>
            </a:extLst>
          </p:cNvPr>
          <p:cNvGraphicFramePr>
            <a:graphicFrameLocks noGrp="1"/>
          </p:cNvGraphicFramePr>
          <p:nvPr>
            <p:extLst>
              <p:ext uri="{D42A27DB-BD31-4B8C-83A1-F6EECF244321}">
                <p14:modId xmlns:p14="http://schemas.microsoft.com/office/powerpoint/2010/main" val="1769861880"/>
              </p:ext>
            </p:extLst>
          </p:nvPr>
        </p:nvGraphicFramePr>
        <p:xfrm>
          <a:off x="971550" y="5848140"/>
          <a:ext cx="3035300" cy="213360"/>
        </p:xfrm>
        <a:graphic>
          <a:graphicData uri="http://schemas.openxmlformats.org/drawingml/2006/table">
            <a:tbl>
              <a:tblPr>
                <a:tableStyleId>{5C22544A-7EE6-4342-B048-85BDC9FD1C3A}</a:tableStyleId>
              </a:tblPr>
              <a:tblGrid>
                <a:gridCol w="3035300">
                  <a:extLst>
                    <a:ext uri="{9D8B030D-6E8A-4147-A177-3AD203B41FA5}">
                      <a16:colId xmlns:a16="http://schemas.microsoft.com/office/drawing/2014/main" val="3759877344"/>
                    </a:ext>
                  </a:extLst>
                </a:gridCol>
              </a:tblGrid>
              <a:tr h="180975">
                <a:tc>
                  <a:txBody>
                    <a:bodyPr/>
                    <a:lstStyle/>
                    <a:p>
                      <a:pPr algn="l" fontAlgn="b">
                        <a:buNone/>
                      </a:pPr>
                      <a:r>
                        <a:rPr lang="en-CA" sz="1400" u="none" strike="noStrike" dirty="0">
                          <a:solidFill>
                            <a:srgbClr val="FF0000"/>
                          </a:solidFill>
                          <a:effectLst/>
                        </a:rPr>
                        <a:t>M102038 -&gt; 60 -&gt; 294</a:t>
                      </a:r>
                      <a:endParaRPr lang="en-CA" sz="1400" b="1" i="0" u="none" strike="noStrike" dirty="0">
                        <a:solidFill>
                          <a:srgbClr val="FF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69781576"/>
                  </a:ext>
                </a:extLst>
              </a:tr>
            </a:tbl>
          </a:graphicData>
        </a:graphic>
      </p:graphicFrame>
      <p:graphicFrame>
        <p:nvGraphicFramePr>
          <p:cNvPr id="4" name="Table 3">
            <a:extLst>
              <a:ext uri="{FF2B5EF4-FFF2-40B4-BE49-F238E27FC236}">
                <a16:creationId xmlns:a16="http://schemas.microsoft.com/office/drawing/2014/main" id="{F977889B-89D7-B803-0D5A-76D544644568}"/>
              </a:ext>
            </a:extLst>
          </p:cNvPr>
          <p:cNvGraphicFramePr>
            <a:graphicFrameLocks noGrp="1"/>
          </p:cNvGraphicFramePr>
          <p:nvPr>
            <p:extLst>
              <p:ext uri="{D42A27DB-BD31-4B8C-83A1-F6EECF244321}">
                <p14:modId xmlns:p14="http://schemas.microsoft.com/office/powerpoint/2010/main" val="717095973"/>
              </p:ext>
            </p:extLst>
          </p:nvPr>
        </p:nvGraphicFramePr>
        <p:xfrm>
          <a:off x="971550" y="6183313"/>
          <a:ext cx="3035300" cy="213360"/>
        </p:xfrm>
        <a:graphic>
          <a:graphicData uri="http://schemas.openxmlformats.org/drawingml/2006/table">
            <a:tbl>
              <a:tblPr>
                <a:tableStyleId>{5C22544A-7EE6-4342-B048-85BDC9FD1C3A}</a:tableStyleId>
              </a:tblPr>
              <a:tblGrid>
                <a:gridCol w="3035300">
                  <a:extLst>
                    <a:ext uri="{9D8B030D-6E8A-4147-A177-3AD203B41FA5}">
                      <a16:colId xmlns:a16="http://schemas.microsoft.com/office/drawing/2014/main" val="2747523739"/>
                    </a:ext>
                  </a:extLst>
                </a:gridCol>
              </a:tblGrid>
              <a:tr h="180975">
                <a:tc>
                  <a:txBody>
                    <a:bodyPr/>
                    <a:lstStyle/>
                    <a:p>
                      <a:pPr algn="l" fontAlgn="b">
                        <a:buNone/>
                      </a:pPr>
                      <a:r>
                        <a:rPr lang="en-CA" sz="1400" u="none" strike="noStrike" dirty="0">
                          <a:solidFill>
                            <a:srgbClr val="FF0000"/>
                          </a:solidFill>
                          <a:effectLst/>
                        </a:rPr>
                        <a:t>Kamloops Federal Building -?&gt; 267</a:t>
                      </a:r>
                      <a:endParaRPr lang="en-CA" sz="1400" b="1" i="0" u="none" strike="noStrike" dirty="0">
                        <a:solidFill>
                          <a:srgbClr val="FF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428362422"/>
                  </a:ext>
                </a:extLst>
              </a:tr>
            </a:tbl>
          </a:graphicData>
        </a:graphic>
      </p:graphicFrame>
      <p:sp>
        <p:nvSpPr>
          <p:cNvPr id="6" name="TextBox 5">
            <a:extLst>
              <a:ext uri="{FF2B5EF4-FFF2-40B4-BE49-F238E27FC236}">
                <a16:creationId xmlns:a16="http://schemas.microsoft.com/office/drawing/2014/main" id="{6BAE6154-D94D-A2C1-5C72-6AF867803BEE}"/>
              </a:ext>
            </a:extLst>
          </p:cNvPr>
          <p:cNvSpPr txBox="1"/>
          <p:nvPr/>
        </p:nvSpPr>
        <p:spPr>
          <a:xfrm>
            <a:off x="880533" y="6457555"/>
            <a:ext cx="1966949" cy="369332"/>
          </a:xfrm>
          <a:prstGeom prst="rect">
            <a:avLst/>
          </a:prstGeom>
          <a:noFill/>
        </p:spPr>
        <p:txBody>
          <a:bodyPr wrap="none" rtlCol="0">
            <a:spAutoFit/>
          </a:bodyPr>
          <a:lstStyle/>
          <a:p>
            <a:r>
              <a:rPr lang="en-US" dirty="0">
                <a:highlight>
                  <a:srgbClr val="FFFF00"/>
                </a:highlight>
              </a:rPr>
              <a:t>What this means?</a:t>
            </a:r>
          </a:p>
        </p:txBody>
      </p:sp>
      <p:sp>
        <p:nvSpPr>
          <p:cNvPr id="7" name="TextBox 6">
            <a:extLst>
              <a:ext uri="{FF2B5EF4-FFF2-40B4-BE49-F238E27FC236}">
                <a16:creationId xmlns:a16="http://schemas.microsoft.com/office/drawing/2014/main" id="{F38CEAA2-79E4-AE20-F9AB-466E389020C2}"/>
              </a:ext>
            </a:extLst>
          </p:cNvPr>
          <p:cNvSpPr txBox="1"/>
          <p:nvPr/>
        </p:nvSpPr>
        <p:spPr>
          <a:xfrm>
            <a:off x="5362872" y="5045773"/>
            <a:ext cx="6964992" cy="1600438"/>
          </a:xfrm>
          <a:prstGeom prst="rect">
            <a:avLst/>
          </a:prstGeom>
          <a:noFill/>
        </p:spPr>
        <p:txBody>
          <a:bodyPr wrap="square" rtlCol="0">
            <a:spAutoFit/>
          </a:bodyPr>
          <a:lstStyle/>
          <a:p>
            <a:pPr marL="285750" indent="-285750">
              <a:buFont typeface="Arial" panose="020B0604020202020204" pitchFamily="34" charset="0"/>
              <a:buChar char="•"/>
            </a:pPr>
            <a:r>
              <a:rPr lang="en-CA" sz="1400" dirty="0">
                <a:highlight>
                  <a:srgbClr val="00FF00"/>
                </a:highlight>
              </a:rPr>
              <a:t>452 and 543 – likely crappy data – delete from the record for now, if data is recoverable over the long term they will be added to ENV’s database.</a:t>
            </a:r>
          </a:p>
          <a:p>
            <a:pPr marL="285750" indent="-285750">
              <a:buFont typeface="Arial" panose="020B0604020202020204" pitchFamily="34" charset="0"/>
              <a:buChar char="•"/>
            </a:pPr>
            <a:r>
              <a:rPr lang="en-CA" sz="1400" dirty="0">
                <a:highlight>
                  <a:srgbClr val="00FF00"/>
                </a:highlight>
              </a:rPr>
              <a:t>T035 – If no data, seek download from MVRD-AIR rep.  This is likely a good idea for this station anyway as M104271 and </a:t>
            </a:r>
            <a:r>
              <a:rPr lang="en-CA" sz="1400" dirty="0" err="1">
                <a:highlight>
                  <a:srgbClr val="00FF00"/>
                </a:highlight>
              </a:rPr>
              <a:t>Horeshoe</a:t>
            </a:r>
            <a:r>
              <a:rPr lang="en-CA" sz="1400" dirty="0">
                <a:highlight>
                  <a:srgbClr val="00FF00"/>
                </a:highlight>
              </a:rPr>
              <a:t> Bay look like they had partial records</a:t>
            </a:r>
          </a:p>
          <a:p>
            <a:pPr marL="285750" indent="-285750">
              <a:buFont typeface="Arial" panose="020B0604020202020204" pitchFamily="34" charset="0"/>
              <a:buChar char="•"/>
            </a:pPr>
            <a:r>
              <a:rPr lang="en-CA" sz="1400" dirty="0">
                <a:highlight>
                  <a:srgbClr val="00FF00"/>
                </a:highlight>
              </a:rPr>
              <a:t>I don’t see a 77 in the data sheet I gave you.</a:t>
            </a:r>
          </a:p>
          <a:p>
            <a:pPr marL="285750" indent="-285750">
              <a:buFont typeface="Arial" panose="020B0604020202020204" pitchFamily="34" charset="0"/>
              <a:buChar char="•"/>
            </a:pPr>
            <a:r>
              <a:rPr lang="en-CA" sz="1400" dirty="0">
                <a:highlight>
                  <a:srgbClr val="00FF00"/>
                </a:highlight>
              </a:rPr>
              <a:t>E271963 is Powell River  James Thomson School – has met data</a:t>
            </a:r>
          </a:p>
          <a:p>
            <a:pPr marL="285750" indent="-285750">
              <a:buFont typeface="Arial" panose="020B0604020202020204" pitchFamily="34" charset="0"/>
              <a:buChar char="•"/>
            </a:pPr>
            <a:r>
              <a:rPr lang="en-CA" sz="1400" dirty="0">
                <a:highlight>
                  <a:srgbClr val="00FF00"/>
                </a:highlight>
              </a:rPr>
              <a:t>E238705 is Powell River Pacifica – has met data.</a:t>
            </a:r>
          </a:p>
        </p:txBody>
      </p:sp>
      <p:sp>
        <p:nvSpPr>
          <p:cNvPr id="8" name="TextBox 7">
            <a:extLst>
              <a:ext uri="{FF2B5EF4-FFF2-40B4-BE49-F238E27FC236}">
                <a16:creationId xmlns:a16="http://schemas.microsoft.com/office/drawing/2014/main" id="{7605341F-18BE-5130-2B91-8089CE4EC008}"/>
              </a:ext>
            </a:extLst>
          </p:cNvPr>
          <p:cNvSpPr txBox="1"/>
          <p:nvPr/>
        </p:nvSpPr>
        <p:spPr>
          <a:xfrm>
            <a:off x="6096000" y="280453"/>
            <a:ext cx="5590176" cy="2631490"/>
          </a:xfrm>
          <a:prstGeom prst="rect">
            <a:avLst/>
          </a:prstGeom>
          <a:noFill/>
        </p:spPr>
        <p:txBody>
          <a:bodyPr wrap="square" rtlCol="0">
            <a:spAutoFit/>
          </a:bodyPr>
          <a:lstStyle/>
          <a:p>
            <a:pPr marL="171450" indent="-171450">
              <a:buFont typeface="Arial" panose="020B0604020202020204" pitchFamily="34" charset="0"/>
              <a:buChar char="•"/>
            </a:pPr>
            <a:r>
              <a:rPr lang="en-CA" sz="1100" dirty="0">
                <a:highlight>
                  <a:srgbClr val="00FF00"/>
                </a:highlight>
              </a:rPr>
              <a:t>Pine River Gas Plant_60: contains met data – Time issues – Tree growth around the site</a:t>
            </a:r>
          </a:p>
          <a:p>
            <a:pPr marL="171450" indent="-171450">
              <a:buFont typeface="Arial" panose="020B0604020202020204" pitchFamily="34" charset="0"/>
              <a:buChar char="•"/>
            </a:pPr>
            <a:r>
              <a:rPr lang="en-CA" sz="1100" dirty="0">
                <a:highlight>
                  <a:srgbClr val="00FF00"/>
                </a:highlight>
              </a:rPr>
              <a:t>M102038 </a:t>
            </a:r>
            <a:r>
              <a:rPr lang="en-CA" sz="1100" dirty="0" err="1">
                <a:highlight>
                  <a:srgbClr val="00FF00"/>
                </a:highlight>
              </a:rPr>
              <a:t>Harmac</a:t>
            </a:r>
            <a:r>
              <a:rPr lang="en-CA" sz="1100" dirty="0">
                <a:highlight>
                  <a:srgbClr val="00FF00"/>
                </a:highlight>
              </a:rPr>
              <a:t> Pacific Met_60: contains met data</a:t>
            </a:r>
          </a:p>
          <a:p>
            <a:pPr marL="171450" indent="-171450">
              <a:buFont typeface="Arial" panose="020B0604020202020204" pitchFamily="34" charset="0"/>
              <a:buChar char="•"/>
            </a:pPr>
            <a:r>
              <a:rPr lang="en-CA" sz="1100" dirty="0" err="1">
                <a:highlight>
                  <a:srgbClr val="00FF00"/>
                </a:highlight>
              </a:rPr>
              <a:t>Birchbank</a:t>
            </a:r>
            <a:r>
              <a:rPr lang="en-CA" sz="1100" dirty="0">
                <a:highlight>
                  <a:srgbClr val="00FF00"/>
                </a:highlight>
              </a:rPr>
              <a:t> Golf Course_60: contains met data</a:t>
            </a:r>
          </a:p>
          <a:p>
            <a:pPr marL="171450" indent="-171450">
              <a:buFont typeface="Arial" panose="020B0604020202020204" pitchFamily="34" charset="0"/>
              <a:buChar char="•"/>
            </a:pPr>
            <a:r>
              <a:rPr lang="en-CA" sz="1100" dirty="0">
                <a:highlight>
                  <a:srgbClr val="00FF00"/>
                </a:highlight>
              </a:rPr>
              <a:t>Burns Lake Fire Center_60: contains met data</a:t>
            </a:r>
          </a:p>
          <a:p>
            <a:pPr marL="171450" indent="-171450">
              <a:buFont typeface="Arial" panose="020B0604020202020204" pitchFamily="34" charset="0"/>
              <a:buChar char="•"/>
            </a:pPr>
            <a:r>
              <a:rPr lang="en-CA" sz="1100" dirty="0">
                <a:highlight>
                  <a:srgbClr val="00FF00"/>
                </a:highlight>
              </a:rPr>
              <a:t>Courtenay Elementary School: contains met data</a:t>
            </a:r>
          </a:p>
          <a:p>
            <a:pPr marL="171450" indent="-171450">
              <a:buFont typeface="Arial" panose="020B0604020202020204" pitchFamily="34" charset="0"/>
              <a:buChar char="•"/>
            </a:pPr>
            <a:r>
              <a:rPr lang="en-CA" sz="1100" b="1" dirty="0">
                <a:highlight>
                  <a:srgbClr val="00FF00"/>
                </a:highlight>
              </a:rPr>
              <a:t>Delete from list: </a:t>
            </a:r>
            <a:r>
              <a:rPr lang="en-CA" sz="1100" dirty="0" err="1">
                <a:highlight>
                  <a:srgbClr val="00FF00"/>
                </a:highlight>
              </a:rPr>
              <a:t>Harmac</a:t>
            </a:r>
            <a:r>
              <a:rPr lang="en-CA" sz="1100" dirty="0">
                <a:highlight>
                  <a:srgbClr val="00FF00"/>
                </a:highlight>
              </a:rPr>
              <a:t> Pacific: no met data, only TRS and Trail Columbia Gardens Airport: only TRS, met data are available in Trail Columbia Gardens Airport_60 (E237758) for this site</a:t>
            </a:r>
          </a:p>
          <a:p>
            <a:pPr marL="171450" indent="-171450">
              <a:buFont typeface="Arial" panose="020B0604020202020204" pitchFamily="34" charset="0"/>
              <a:buChar char="•"/>
            </a:pPr>
            <a:r>
              <a:rPr lang="en-CA" sz="1100" dirty="0">
                <a:highlight>
                  <a:srgbClr val="00FF00"/>
                </a:highlight>
              </a:rPr>
              <a:t>PG </a:t>
            </a:r>
            <a:r>
              <a:rPr lang="en-CA" sz="1100" dirty="0" err="1">
                <a:highlight>
                  <a:srgbClr val="00FF00"/>
                </a:highlight>
              </a:rPr>
              <a:t>Marsulex</a:t>
            </a:r>
            <a:r>
              <a:rPr lang="en-CA" sz="1100" dirty="0">
                <a:highlight>
                  <a:srgbClr val="00FF00"/>
                </a:highlight>
              </a:rPr>
              <a:t>: PG </a:t>
            </a:r>
            <a:r>
              <a:rPr lang="en-CA" sz="1100" dirty="0" err="1">
                <a:highlight>
                  <a:srgbClr val="00FF00"/>
                </a:highlight>
              </a:rPr>
              <a:t>Marsulex</a:t>
            </a:r>
            <a:r>
              <a:rPr lang="en-CA" sz="1100" dirty="0">
                <a:highlight>
                  <a:srgbClr val="00FF00"/>
                </a:highlight>
              </a:rPr>
              <a:t> Met_60 (E278829) contains met data, </a:t>
            </a:r>
          </a:p>
          <a:p>
            <a:pPr marL="171450" indent="-171450">
              <a:buFont typeface="Arial" panose="020B0604020202020204" pitchFamily="34" charset="0"/>
              <a:buChar char="•"/>
            </a:pPr>
            <a:r>
              <a:rPr lang="en-CA" sz="1100" b="1" dirty="0">
                <a:highlight>
                  <a:srgbClr val="00FF00"/>
                </a:highlight>
              </a:rPr>
              <a:t>Delete: </a:t>
            </a:r>
            <a:r>
              <a:rPr lang="en-CA" sz="1100" dirty="0">
                <a:highlight>
                  <a:srgbClr val="00FF00"/>
                </a:highlight>
              </a:rPr>
              <a:t>Prince George </a:t>
            </a:r>
            <a:r>
              <a:rPr lang="en-CA" sz="1100" dirty="0" err="1">
                <a:highlight>
                  <a:srgbClr val="00FF00"/>
                </a:highlight>
              </a:rPr>
              <a:t>Marsulex</a:t>
            </a:r>
            <a:r>
              <a:rPr lang="en-CA" sz="1100" dirty="0">
                <a:highlight>
                  <a:srgbClr val="00FF00"/>
                </a:highlight>
              </a:rPr>
              <a:t> Acid Plant (E270963) only contains SO2 data</a:t>
            </a:r>
          </a:p>
          <a:p>
            <a:pPr marL="171450" indent="-171450">
              <a:buFont typeface="Arial" panose="020B0604020202020204" pitchFamily="34" charset="0"/>
              <a:buChar char="•"/>
            </a:pPr>
            <a:r>
              <a:rPr lang="en-CA" sz="1100" dirty="0">
                <a:highlight>
                  <a:srgbClr val="00FF00"/>
                </a:highlight>
              </a:rPr>
              <a:t>Prince Rupert Roosevelt Park School Met_60 (E288469): contains met data – some concerns about quality</a:t>
            </a:r>
          </a:p>
          <a:p>
            <a:pPr marL="171450" indent="-171450">
              <a:buFont typeface="Arial" panose="020B0604020202020204" pitchFamily="34" charset="0"/>
              <a:buChar char="•"/>
            </a:pPr>
            <a:r>
              <a:rPr lang="en-CA" sz="1100" dirty="0" err="1">
                <a:highlight>
                  <a:srgbClr val="00FF00"/>
                </a:highlight>
              </a:rPr>
              <a:t>Valemount</a:t>
            </a:r>
            <a:r>
              <a:rPr lang="en-CA" sz="1100" dirty="0">
                <a:highlight>
                  <a:srgbClr val="00FF00"/>
                </a:highlight>
              </a:rPr>
              <a:t> Met_60: contains met data</a:t>
            </a:r>
          </a:p>
          <a:p>
            <a:pPr marL="171450" indent="-171450">
              <a:buFont typeface="Arial" panose="020B0604020202020204" pitchFamily="34" charset="0"/>
              <a:buChar char="•"/>
            </a:pPr>
            <a:r>
              <a:rPr lang="en-CA" sz="1100" dirty="0">
                <a:highlight>
                  <a:srgbClr val="00FF00"/>
                </a:highlight>
              </a:rPr>
              <a:t>E237758 Trail Columbia Gardens Airport_60: contains met data</a:t>
            </a:r>
          </a:p>
          <a:p>
            <a:endParaRPr lang="en-CA" sz="1100" dirty="0">
              <a:highlight>
                <a:srgbClr val="00FF00"/>
              </a:highlight>
            </a:endParaRPr>
          </a:p>
        </p:txBody>
      </p:sp>
      <p:sp>
        <p:nvSpPr>
          <p:cNvPr id="11" name="TextBox 10">
            <a:extLst>
              <a:ext uri="{FF2B5EF4-FFF2-40B4-BE49-F238E27FC236}">
                <a16:creationId xmlns:a16="http://schemas.microsoft.com/office/drawing/2014/main" id="{E654A51F-BC18-C8C0-1FB2-F9534FD5AB07}"/>
              </a:ext>
            </a:extLst>
          </p:cNvPr>
          <p:cNvSpPr txBox="1"/>
          <p:nvPr/>
        </p:nvSpPr>
        <p:spPr>
          <a:xfrm>
            <a:off x="1024467" y="5384800"/>
            <a:ext cx="3910622" cy="369332"/>
          </a:xfrm>
          <a:prstGeom prst="rect">
            <a:avLst/>
          </a:prstGeom>
          <a:noFill/>
        </p:spPr>
        <p:txBody>
          <a:bodyPr wrap="none" rtlCol="0">
            <a:spAutoFit/>
          </a:bodyPr>
          <a:lstStyle/>
          <a:p>
            <a:r>
              <a:rPr lang="en-US" dirty="0">
                <a:highlight>
                  <a:srgbClr val="00FFFF"/>
                </a:highlight>
              </a:rPr>
              <a:t>Combining three stations; neglect -?&gt;</a:t>
            </a:r>
          </a:p>
        </p:txBody>
      </p:sp>
    </p:spTree>
    <p:extLst>
      <p:ext uri="{BB962C8B-B14F-4D97-AF65-F5344CB8AC3E}">
        <p14:creationId xmlns:p14="http://schemas.microsoft.com/office/powerpoint/2010/main" val="698270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97CF42-58F1-124E-3055-0B5F65A7E3E7}"/>
              </a:ext>
            </a:extLst>
          </p:cNvPr>
          <p:cNvSpPr txBox="1"/>
          <p:nvPr/>
        </p:nvSpPr>
        <p:spPr>
          <a:xfrm>
            <a:off x="435272" y="295973"/>
            <a:ext cx="6964992" cy="1600438"/>
          </a:xfrm>
          <a:prstGeom prst="rect">
            <a:avLst/>
          </a:prstGeom>
          <a:noFill/>
        </p:spPr>
        <p:txBody>
          <a:bodyPr wrap="square" rtlCol="0">
            <a:spAutoFit/>
          </a:bodyPr>
          <a:lstStyle/>
          <a:p>
            <a:pPr marL="285750" indent="-285750">
              <a:buFont typeface="Arial" panose="020B0604020202020204" pitchFamily="34" charset="0"/>
              <a:buChar char="•"/>
            </a:pPr>
            <a:r>
              <a:rPr lang="en-CA" sz="1400" dirty="0">
                <a:highlight>
                  <a:srgbClr val="00FF00"/>
                </a:highlight>
              </a:rPr>
              <a:t>452 and 543 – likely crappy data – delete from the record for now, if data is recoverable over the long term they will be added to ENV’s database.</a:t>
            </a:r>
          </a:p>
          <a:p>
            <a:pPr marL="285750" indent="-285750">
              <a:buFont typeface="Arial" panose="020B0604020202020204" pitchFamily="34" charset="0"/>
              <a:buChar char="•"/>
            </a:pPr>
            <a:r>
              <a:rPr lang="en-CA" sz="1400" dirty="0">
                <a:highlight>
                  <a:srgbClr val="00FF00"/>
                </a:highlight>
              </a:rPr>
              <a:t>T035 – If no data, seek download from MVRD-AIR rep.  This is likely a good idea for this station anyway as M104271 and </a:t>
            </a:r>
            <a:r>
              <a:rPr lang="en-CA" sz="1400" dirty="0" err="1">
                <a:highlight>
                  <a:srgbClr val="00FF00"/>
                </a:highlight>
              </a:rPr>
              <a:t>Horeshoe</a:t>
            </a:r>
            <a:r>
              <a:rPr lang="en-CA" sz="1400" dirty="0">
                <a:highlight>
                  <a:srgbClr val="00FF00"/>
                </a:highlight>
              </a:rPr>
              <a:t> Bay look like they had partial records</a:t>
            </a:r>
          </a:p>
          <a:p>
            <a:pPr marL="285750" indent="-285750">
              <a:buFont typeface="Arial" panose="020B0604020202020204" pitchFamily="34" charset="0"/>
              <a:buChar char="•"/>
            </a:pPr>
            <a:r>
              <a:rPr lang="en-CA" sz="1400" dirty="0">
                <a:highlight>
                  <a:srgbClr val="00FF00"/>
                </a:highlight>
              </a:rPr>
              <a:t>I don’t see a 77 in the data sheet I gave you.</a:t>
            </a:r>
          </a:p>
          <a:p>
            <a:pPr marL="285750" indent="-285750">
              <a:buFont typeface="Arial" panose="020B0604020202020204" pitchFamily="34" charset="0"/>
              <a:buChar char="•"/>
            </a:pPr>
            <a:r>
              <a:rPr lang="en-CA" sz="1400" dirty="0">
                <a:highlight>
                  <a:srgbClr val="00FF00"/>
                </a:highlight>
              </a:rPr>
              <a:t>E271963 is Powell River  James Thomson School – has met data</a:t>
            </a:r>
          </a:p>
          <a:p>
            <a:pPr marL="285750" indent="-285750">
              <a:buFont typeface="Arial" panose="020B0604020202020204" pitchFamily="34" charset="0"/>
              <a:buChar char="•"/>
            </a:pPr>
            <a:r>
              <a:rPr lang="en-CA" sz="1400" dirty="0">
                <a:highlight>
                  <a:srgbClr val="00FF00"/>
                </a:highlight>
              </a:rPr>
              <a:t>E238705 is Powell River Pacifica – has met data.</a:t>
            </a:r>
          </a:p>
        </p:txBody>
      </p:sp>
      <p:sp>
        <p:nvSpPr>
          <p:cNvPr id="5" name="TextBox 4">
            <a:extLst>
              <a:ext uri="{FF2B5EF4-FFF2-40B4-BE49-F238E27FC236}">
                <a16:creationId xmlns:a16="http://schemas.microsoft.com/office/drawing/2014/main" id="{23048A0B-6169-21E7-8E6E-FE90CEBADB77}"/>
              </a:ext>
            </a:extLst>
          </p:cNvPr>
          <p:cNvSpPr txBox="1"/>
          <p:nvPr/>
        </p:nvSpPr>
        <p:spPr>
          <a:xfrm>
            <a:off x="619680" y="3515671"/>
            <a:ext cx="5590176" cy="2631490"/>
          </a:xfrm>
          <a:prstGeom prst="rect">
            <a:avLst/>
          </a:prstGeom>
          <a:noFill/>
        </p:spPr>
        <p:txBody>
          <a:bodyPr wrap="square" rtlCol="0">
            <a:spAutoFit/>
          </a:bodyPr>
          <a:lstStyle/>
          <a:p>
            <a:pPr marL="171450" indent="-171450">
              <a:buFont typeface="Arial" panose="020B0604020202020204" pitchFamily="34" charset="0"/>
              <a:buChar char="•"/>
            </a:pPr>
            <a:r>
              <a:rPr lang="en-CA" sz="1100" dirty="0">
                <a:highlight>
                  <a:srgbClr val="00FF00"/>
                </a:highlight>
              </a:rPr>
              <a:t>Pine River Gas Plant_60: contains met data – Time issues – Tree growth around the site</a:t>
            </a:r>
          </a:p>
          <a:p>
            <a:pPr marL="171450" indent="-171450">
              <a:buFont typeface="Arial" panose="020B0604020202020204" pitchFamily="34" charset="0"/>
              <a:buChar char="•"/>
            </a:pPr>
            <a:r>
              <a:rPr lang="en-CA" sz="1100" dirty="0">
                <a:highlight>
                  <a:srgbClr val="00FF00"/>
                </a:highlight>
              </a:rPr>
              <a:t>M102038 </a:t>
            </a:r>
            <a:r>
              <a:rPr lang="en-CA" sz="1100" dirty="0" err="1">
                <a:highlight>
                  <a:srgbClr val="00FF00"/>
                </a:highlight>
              </a:rPr>
              <a:t>Harmac</a:t>
            </a:r>
            <a:r>
              <a:rPr lang="en-CA" sz="1100" dirty="0">
                <a:highlight>
                  <a:srgbClr val="00FF00"/>
                </a:highlight>
              </a:rPr>
              <a:t> Pacific Met_60: contains met data</a:t>
            </a:r>
          </a:p>
          <a:p>
            <a:pPr marL="171450" indent="-171450">
              <a:buFont typeface="Arial" panose="020B0604020202020204" pitchFamily="34" charset="0"/>
              <a:buChar char="•"/>
            </a:pPr>
            <a:r>
              <a:rPr lang="en-CA" sz="1100" dirty="0" err="1">
                <a:highlight>
                  <a:srgbClr val="00FF00"/>
                </a:highlight>
              </a:rPr>
              <a:t>Birchbank</a:t>
            </a:r>
            <a:r>
              <a:rPr lang="en-CA" sz="1100" dirty="0">
                <a:highlight>
                  <a:srgbClr val="00FF00"/>
                </a:highlight>
              </a:rPr>
              <a:t> Golf Course_60: contains met data</a:t>
            </a:r>
          </a:p>
          <a:p>
            <a:pPr marL="171450" indent="-171450">
              <a:buFont typeface="Arial" panose="020B0604020202020204" pitchFamily="34" charset="0"/>
              <a:buChar char="•"/>
            </a:pPr>
            <a:r>
              <a:rPr lang="en-CA" sz="1100" dirty="0">
                <a:highlight>
                  <a:srgbClr val="00FF00"/>
                </a:highlight>
              </a:rPr>
              <a:t>Burns Lake Fire Center_60: contains met data</a:t>
            </a:r>
          </a:p>
          <a:p>
            <a:pPr marL="171450" indent="-171450">
              <a:buFont typeface="Arial" panose="020B0604020202020204" pitchFamily="34" charset="0"/>
              <a:buChar char="•"/>
            </a:pPr>
            <a:r>
              <a:rPr lang="en-CA" sz="1100" dirty="0">
                <a:highlight>
                  <a:srgbClr val="00FF00"/>
                </a:highlight>
              </a:rPr>
              <a:t>Courtenay Elementary School: contains met data</a:t>
            </a:r>
          </a:p>
          <a:p>
            <a:pPr marL="171450" indent="-171450">
              <a:buFont typeface="Arial" panose="020B0604020202020204" pitchFamily="34" charset="0"/>
              <a:buChar char="•"/>
            </a:pPr>
            <a:r>
              <a:rPr lang="en-CA" sz="1100" b="1" dirty="0">
                <a:highlight>
                  <a:srgbClr val="00FF00"/>
                </a:highlight>
              </a:rPr>
              <a:t>Delete from list: </a:t>
            </a:r>
            <a:r>
              <a:rPr lang="en-CA" sz="1100" dirty="0" err="1">
                <a:highlight>
                  <a:srgbClr val="00FF00"/>
                </a:highlight>
              </a:rPr>
              <a:t>Harmac</a:t>
            </a:r>
            <a:r>
              <a:rPr lang="en-CA" sz="1100" dirty="0">
                <a:highlight>
                  <a:srgbClr val="00FF00"/>
                </a:highlight>
              </a:rPr>
              <a:t> Pacific: no met data, only TRS and Trail Columbia Gardens Airport: only TRS, met data are available in Trail Columbia Gardens Airport_60 (E237758) for this site</a:t>
            </a:r>
          </a:p>
          <a:p>
            <a:pPr marL="171450" indent="-171450">
              <a:buFont typeface="Arial" panose="020B0604020202020204" pitchFamily="34" charset="0"/>
              <a:buChar char="•"/>
            </a:pPr>
            <a:r>
              <a:rPr lang="en-CA" sz="1100" dirty="0">
                <a:highlight>
                  <a:srgbClr val="00FF00"/>
                </a:highlight>
              </a:rPr>
              <a:t>PG </a:t>
            </a:r>
            <a:r>
              <a:rPr lang="en-CA" sz="1100" dirty="0" err="1">
                <a:highlight>
                  <a:srgbClr val="00FF00"/>
                </a:highlight>
              </a:rPr>
              <a:t>Marsulex</a:t>
            </a:r>
            <a:r>
              <a:rPr lang="en-CA" sz="1100" dirty="0">
                <a:highlight>
                  <a:srgbClr val="00FF00"/>
                </a:highlight>
              </a:rPr>
              <a:t>: PG </a:t>
            </a:r>
            <a:r>
              <a:rPr lang="en-CA" sz="1100" dirty="0" err="1">
                <a:highlight>
                  <a:srgbClr val="00FF00"/>
                </a:highlight>
              </a:rPr>
              <a:t>Marsulex</a:t>
            </a:r>
            <a:r>
              <a:rPr lang="en-CA" sz="1100" dirty="0">
                <a:highlight>
                  <a:srgbClr val="00FF00"/>
                </a:highlight>
              </a:rPr>
              <a:t> Met_60 (E278829) contains met data, </a:t>
            </a:r>
          </a:p>
          <a:p>
            <a:pPr marL="171450" indent="-171450">
              <a:buFont typeface="Arial" panose="020B0604020202020204" pitchFamily="34" charset="0"/>
              <a:buChar char="•"/>
            </a:pPr>
            <a:r>
              <a:rPr lang="en-CA" sz="1100" b="1" dirty="0">
                <a:highlight>
                  <a:srgbClr val="00FF00"/>
                </a:highlight>
              </a:rPr>
              <a:t>Delete: </a:t>
            </a:r>
            <a:r>
              <a:rPr lang="en-CA" sz="1100" dirty="0">
                <a:highlight>
                  <a:srgbClr val="00FF00"/>
                </a:highlight>
              </a:rPr>
              <a:t>Prince George </a:t>
            </a:r>
            <a:r>
              <a:rPr lang="en-CA" sz="1100" dirty="0" err="1">
                <a:highlight>
                  <a:srgbClr val="00FF00"/>
                </a:highlight>
              </a:rPr>
              <a:t>Marsulex</a:t>
            </a:r>
            <a:r>
              <a:rPr lang="en-CA" sz="1100" dirty="0">
                <a:highlight>
                  <a:srgbClr val="00FF00"/>
                </a:highlight>
              </a:rPr>
              <a:t> Acid Plant (E270963) only contains SO2 data</a:t>
            </a:r>
          </a:p>
          <a:p>
            <a:pPr marL="171450" indent="-171450">
              <a:buFont typeface="Arial" panose="020B0604020202020204" pitchFamily="34" charset="0"/>
              <a:buChar char="•"/>
            </a:pPr>
            <a:r>
              <a:rPr lang="en-CA" sz="1100" dirty="0">
                <a:highlight>
                  <a:srgbClr val="00FF00"/>
                </a:highlight>
              </a:rPr>
              <a:t>Prince Rupert Roosevelt Park School Met_60 (E288469): contains met data – some concerns about quality</a:t>
            </a:r>
          </a:p>
          <a:p>
            <a:pPr marL="171450" indent="-171450">
              <a:buFont typeface="Arial" panose="020B0604020202020204" pitchFamily="34" charset="0"/>
              <a:buChar char="•"/>
            </a:pPr>
            <a:r>
              <a:rPr lang="en-CA" sz="1100" dirty="0" err="1">
                <a:highlight>
                  <a:srgbClr val="00FF00"/>
                </a:highlight>
              </a:rPr>
              <a:t>Valemount</a:t>
            </a:r>
            <a:r>
              <a:rPr lang="en-CA" sz="1100" dirty="0">
                <a:highlight>
                  <a:srgbClr val="00FF00"/>
                </a:highlight>
              </a:rPr>
              <a:t> Met_60: contains met data</a:t>
            </a:r>
          </a:p>
          <a:p>
            <a:pPr marL="171450" indent="-171450">
              <a:buFont typeface="Arial" panose="020B0604020202020204" pitchFamily="34" charset="0"/>
              <a:buChar char="•"/>
            </a:pPr>
            <a:r>
              <a:rPr lang="en-CA" sz="1100" dirty="0">
                <a:highlight>
                  <a:srgbClr val="00FF00"/>
                </a:highlight>
              </a:rPr>
              <a:t>E237758 Trail Columbia Gardens Airport_60: contains met data</a:t>
            </a:r>
          </a:p>
          <a:p>
            <a:endParaRPr lang="en-CA" sz="1100" dirty="0">
              <a:highlight>
                <a:srgbClr val="00FF00"/>
              </a:highlight>
            </a:endParaRPr>
          </a:p>
        </p:txBody>
      </p:sp>
      <p:pic>
        <p:nvPicPr>
          <p:cNvPr id="7" name="Picture 6">
            <a:extLst>
              <a:ext uri="{FF2B5EF4-FFF2-40B4-BE49-F238E27FC236}">
                <a16:creationId xmlns:a16="http://schemas.microsoft.com/office/drawing/2014/main" id="{21236EEF-5732-8CB4-8245-0839F293F310}"/>
              </a:ext>
            </a:extLst>
          </p:cNvPr>
          <p:cNvPicPr>
            <a:picLocks noChangeAspect="1"/>
          </p:cNvPicPr>
          <p:nvPr/>
        </p:nvPicPr>
        <p:blipFill>
          <a:blip r:embed="rId2"/>
          <a:stretch>
            <a:fillRect/>
          </a:stretch>
        </p:blipFill>
        <p:spPr>
          <a:xfrm>
            <a:off x="948267" y="2430478"/>
            <a:ext cx="7772400" cy="776546"/>
          </a:xfrm>
          <a:prstGeom prst="rect">
            <a:avLst/>
          </a:prstGeom>
        </p:spPr>
      </p:pic>
      <p:graphicFrame>
        <p:nvGraphicFramePr>
          <p:cNvPr id="8" name="Table 7">
            <a:extLst>
              <a:ext uri="{FF2B5EF4-FFF2-40B4-BE49-F238E27FC236}">
                <a16:creationId xmlns:a16="http://schemas.microsoft.com/office/drawing/2014/main" id="{510AE748-36DA-3028-BF5D-7091706F37C7}"/>
              </a:ext>
            </a:extLst>
          </p:cNvPr>
          <p:cNvGraphicFramePr>
            <a:graphicFrameLocks noGrp="1"/>
          </p:cNvGraphicFramePr>
          <p:nvPr>
            <p:extLst>
              <p:ext uri="{D42A27DB-BD31-4B8C-83A1-F6EECF244321}">
                <p14:modId xmlns:p14="http://schemas.microsoft.com/office/powerpoint/2010/main" val="3950159204"/>
              </p:ext>
            </p:extLst>
          </p:nvPr>
        </p:nvGraphicFramePr>
        <p:xfrm>
          <a:off x="952056" y="2147231"/>
          <a:ext cx="10515599" cy="152400"/>
        </p:xfrm>
        <a:graphic>
          <a:graphicData uri="http://schemas.openxmlformats.org/drawingml/2006/table">
            <a:tbl>
              <a:tblPr>
                <a:tableStyleId>{5C22544A-7EE6-4342-B048-85BDC9FD1C3A}</a:tableStyleId>
              </a:tblPr>
              <a:tblGrid>
                <a:gridCol w="2646434">
                  <a:extLst>
                    <a:ext uri="{9D8B030D-6E8A-4147-A177-3AD203B41FA5}">
                      <a16:colId xmlns:a16="http://schemas.microsoft.com/office/drawing/2014/main" val="1864786353"/>
                    </a:ext>
                  </a:extLst>
                </a:gridCol>
                <a:gridCol w="907081">
                  <a:extLst>
                    <a:ext uri="{9D8B030D-6E8A-4147-A177-3AD203B41FA5}">
                      <a16:colId xmlns:a16="http://schemas.microsoft.com/office/drawing/2014/main" val="199320335"/>
                    </a:ext>
                  </a:extLst>
                </a:gridCol>
                <a:gridCol w="1535960">
                  <a:extLst>
                    <a:ext uri="{9D8B030D-6E8A-4147-A177-3AD203B41FA5}">
                      <a16:colId xmlns:a16="http://schemas.microsoft.com/office/drawing/2014/main" val="564654014"/>
                    </a:ext>
                  </a:extLst>
                </a:gridCol>
                <a:gridCol w="2237312">
                  <a:extLst>
                    <a:ext uri="{9D8B030D-6E8A-4147-A177-3AD203B41FA5}">
                      <a16:colId xmlns:a16="http://schemas.microsoft.com/office/drawing/2014/main" val="3607504411"/>
                    </a:ext>
                  </a:extLst>
                </a:gridCol>
                <a:gridCol w="907081">
                  <a:extLst>
                    <a:ext uri="{9D8B030D-6E8A-4147-A177-3AD203B41FA5}">
                      <a16:colId xmlns:a16="http://schemas.microsoft.com/office/drawing/2014/main" val="748201793"/>
                    </a:ext>
                  </a:extLst>
                </a:gridCol>
                <a:gridCol w="2281731">
                  <a:extLst>
                    <a:ext uri="{9D8B030D-6E8A-4147-A177-3AD203B41FA5}">
                      <a16:colId xmlns:a16="http://schemas.microsoft.com/office/drawing/2014/main" val="4051761472"/>
                    </a:ext>
                  </a:extLst>
                </a:gridCol>
              </a:tblGrid>
              <a:tr h="133316">
                <a:tc>
                  <a:txBody>
                    <a:bodyPr/>
                    <a:lstStyle/>
                    <a:p>
                      <a:pPr algn="l" fontAlgn="b">
                        <a:buNone/>
                      </a:pPr>
                      <a:r>
                        <a:rPr lang="en-CA" sz="1000" u="none" strike="noStrike">
                          <a:effectLst/>
                        </a:rPr>
                        <a:t>Concatenate</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CA" sz="1000" u="none" strike="noStrike">
                          <a:effectLst/>
                        </a:rPr>
                        <a:t>9</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000" u="none" strike="noStrike">
                          <a:effectLst/>
                        </a:rPr>
                        <a:t>BC-Air</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000" u="none" strike="noStrike">
                          <a:effectLst/>
                        </a:rPr>
                        <a:t>Kitimat Riverlodge -&gt; 77</a:t>
                      </a:r>
                      <a:endParaRPr lang="en-CA" sz="1000" b="1" i="0" u="none" strike="noStrike">
                        <a:solidFill>
                          <a:srgbClr val="9C0006"/>
                        </a:solidFill>
                        <a:effectLst/>
                        <a:latin typeface="Aptos Narrow" panose="020B0004020202020204" pitchFamily="34" charset="0"/>
                      </a:endParaRPr>
                    </a:p>
                  </a:txBody>
                  <a:tcPr marL="0" marR="0" marT="0" marB="0" anchor="b"/>
                </a:tc>
                <a:tc>
                  <a:txBody>
                    <a:bodyPr/>
                    <a:lstStyle/>
                    <a:p>
                      <a:pPr algn="r" fontAlgn="b">
                        <a:buNone/>
                      </a:pPr>
                      <a:r>
                        <a:rPr lang="en-CA" sz="1000" u="none" strike="noStrike">
                          <a:effectLst/>
                        </a:rPr>
                        <a:t>12598</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000" u="none" strike="noStrike" dirty="0">
                          <a:effectLst/>
                        </a:rPr>
                        <a:t>NA</a:t>
                      </a:r>
                      <a:endParaRPr lang="en-CA" sz="1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56417046"/>
                  </a:ext>
                </a:extLst>
              </a:tr>
            </a:tbl>
          </a:graphicData>
        </a:graphic>
      </p:graphicFrame>
      <p:sp>
        <p:nvSpPr>
          <p:cNvPr id="9" name="TextBox 8">
            <a:extLst>
              <a:ext uri="{FF2B5EF4-FFF2-40B4-BE49-F238E27FC236}">
                <a16:creationId xmlns:a16="http://schemas.microsoft.com/office/drawing/2014/main" id="{75AAE4CC-97C0-3C32-584C-A60FB714A2D4}"/>
              </a:ext>
            </a:extLst>
          </p:cNvPr>
          <p:cNvSpPr txBox="1"/>
          <p:nvPr/>
        </p:nvSpPr>
        <p:spPr>
          <a:xfrm>
            <a:off x="863600" y="6147161"/>
            <a:ext cx="6060826"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t>Why _60?</a:t>
            </a:r>
          </a:p>
          <a:p>
            <a:pPr marL="285750" indent="-285750">
              <a:buFont typeface="Arial" panose="020B0604020202020204" pitchFamily="34" charset="0"/>
              <a:buChar char="•"/>
            </a:pPr>
            <a:r>
              <a:rPr lang="en-US" sz="1600" dirty="0"/>
              <a:t>These stations are all exist (have meta data), just no data record</a:t>
            </a:r>
          </a:p>
        </p:txBody>
      </p:sp>
      <p:sp>
        <p:nvSpPr>
          <p:cNvPr id="10" name="TextBox 9">
            <a:extLst>
              <a:ext uri="{FF2B5EF4-FFF2-40B4-BE49-F238E27FC236}">
                <a16:creationId xmlns:a16="http://schemas.microsoft.com/office/drawing/2014/main" id="{7393799C-7D69-64EC-DA95-B5BC26E3E248}"/>
              </a:ext>
            </a:extLst>
          </p:cNvPr>
          <p:cNvSpPr txBox="1"/>
          <p:nvPr/>
        </p:nvSpPr>
        <p:spPr>
          <a:xfrm>
            <a:off x="9601200" y="2785533"/>
            <a:ext cx="2581604" cy="369332"/>
          </a:xfrm>
          <a:prstGeom prst="rect">
            <a:avLst/>
          </a:prstGeom>
          <a:noFill/>
        </p:spPr>
        <p:txBody>
          <a:bodyPr wrap="none" rtlCol="0">
            <a:spAutoFit/>
          </a:bodyPr>
          <a:lstStyle/>
          <a:p>
            <a:r>
              <a:rPr lang="en-US" dirty="0">
                <a:highlight>
                  <a:srgbClr val="00FFFF"/>
                </a:highlight>
              </a:rPr>
              <a:t>Use 126, 122 to </a:t>
            </a:r>
            <a:r>
              <a:rPr lang="en-US" dirty="0" err="1">
                <a:highlight>
                  <a:srgbClr val="00FFFF"/>
                </a:highlight>
              </a:rPr>
              <a:t>concate</a:t>
            </a:r>
            <a:endParaRPr lang="en-US" dirty="0">
              <a:highlight>
                <a:srgbClr val="00FFFF"/>
              </a:highlight>
            </a:endParaRPr>
          </a:p>
        </p:txBody>
      </p:sp>
      <p:sp>
        <p:nvSpPr>
          <p:cNvPr id="11" name="TextBox 10">
            <a:extLst>
              <a:ext uri="{FF2B5EF4-FFF2-40B4-BE49-F238E27FC236}">
                <a16:creationId xmlns:a16="http://schemas.microsoft.com/office/drawing/2014/main" id="{58F9F910-F18D-7389-0839-02A14BFECD86}"/>
              </a:ext>
            </a:extLst>
          </p:cNvPr>
          <p:cNvSpPr txBox="1"/>
          <p:nvPr/>
        </p:nvSpPr>
        <p:spPr>
          <a:xfrm>
            <a:off x="7416800" y="4461933"/>
            <a:ext cx="4164282" cy="1200329"/>
          </a:xfrm>
          <a:prstGeom prst="rect">
            <a:avLst/>
          </a:prstGeom>
          <a:noFill/>
        </p:spPr>
        <p:txBody>
          <a:bodyPr wrap="none" rtlCol="0">
            <a:spAutoFit/>
          </a:bodyPr>
          <a:lstStyle/>
          <a:p>
            <a:r>
              <a:rPr lang="en-US" dirty="0">
                <a:highlight>
                  <a:srgbClr val="00FFFF"/>
                </a:highlight>
              </a:rPr>
              <a:t>Neglect _60;</a:t>
            </a:r>
          </a:p>
          <a:p>
            <a:endParaRPr lang="en-US" dirty="0"/>
          </a:p>
          <a:p>
            <a:r>
              <a:rPr lang="en-US" dirty="0">
                <a:highlight>
                  <a:srgbClr val="00FFFF"/>
                </a:highlight>
              </a:rPr>
              <a:t>No records, so don’t need to do anything</a:t>
            </a:r>
          </a:p>
          <a:p>
            <a:endParaRPr lang="en-US" dirty="0"/>
          </a:p>
        </p:txBody>
      </p:sp>
    </p:spTree>
    <p:extLst>
      <p:ext uri="{BB962C8B-B14F-4D97-AF65-F5344CB8AC3E}">
        <p14:creationId xmlns:p14="http://schemas.microsoft.com/office/powerpoint/2010/main" val="79144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5A62-55ED-A137-5D72-85C1A84FDC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B08677-932D-ECF4-AC59-024FBC3886D7}"/>
              </a:ext>
            </a:extLst>
          </p:cNvPr>
          <p:cNvSpPr txBox="1"/>
          <p:nvPr/>
        </p:nvSpPr>
        <p:spPr>
          <a:xfrm>
            <a:off x="440266" y="314867"/>
            <a:ext cx="7103533"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Additional: Replaces </a:t>
            </a:r>
            <a:r>
              <a:rPr lang="en-CA" b="1" dirty="0"/>
              <a:t>(a station)</a:t>
            </a:r>
            <a:r>
              <a:rPr lang="en-CA" sz="1800" b="1" dirty="0"/>
              <a:t> </a:t>
            </a:r>
            <a:r>
              <a:rPr lang="en-CA" b="1" dirty="0"/>
              <a:t>with</a:t>
            </a:r>
            <a:r>
              <a:rPr lang="en-CA" sz="1800" b="1" dirty="0"/>
              <a:t> </a:t>
            </a:r>
            <a:r>
              <a:rPr lang="en-CA" b="1" dirty="0"/>
              <a:t>c</a:t>
            </a:r>
            <a:r>
              <a:rPr lang="en-CA" sz="1800" b="1" dirty="0"/>
              <a:t>oncatenated data record</a:t>
            </a:r>
            <a:endParaRPr lang="en-US" b="1" dirty="0"/>
          </a:p>
        </p:txBody>
      </p:sp>
      <p:sp>
        <p:nvSpPr>
          <p:cNvPr id="6" name="TextBox 5">
            <a:extLst>
              <a:ext uri="{FF2B5EF4-FFF2-40B4-BE49-F238E27FC236}">
                <a16:creationId xmlns:a16="http://schemas.microsoft.com/office/drawing/2014/main" id="{500E6FA2-6AD2-880B-5CC4-F231BF82E1DE}"/>
              </a:ext>
            </a:extLst>
          </p:cNvPr>
          <p:cNvSpPr txBox="1"/>
          <p:nvPr/>
        </p:nvSpPr>
        <p:spPr>
          <a:xfrm>
            <a:off x="758567" y="888274"/>
            <a:ext cx="10329335" cy="3939540"/>
          </a:xfrm>
          <a:prstGeom prst="rect">
            <a:avLst/>
          </a:prstGeom>
          <a:solidFill>
            <a:srgbClr val="F2F2F2"/>
          </a:solidFill>
        </p:spPr>
        <p:txBody>
          <a:bodyPr wrap="square" rtlCol="0">
            <a:spAutoFit/>
          </a:bodyPr>
          <a:lstStyle>
            <a:defPPr>
              <a:defRPr lang="en-US"/>
            </a:defPPr>
            <a:lvl1pPr marL="285750" indent="-285750">
              <a:spcBef>
                <a:spcPts val="600"/>
              </a:spcBef>
              <a:spcAft>
                <a:spcPts val="600"/>
              </a:spcAft>
              <a:buFont typeface="Arial" panose="020B0604020202020204" pitchFamily="34" charset="0"/>
              <a:buChar char="•"/>
              <a:defRPr sz="1600"/>
            </a:lvl1pPr>
            <a:lvl2pPr marL="742950" lvl="1" indent="-285750">
              <a:spcBef>
                <a:spcPts val="600"/>
              </a:spcBef>
              <a:spcAft>
                <a:spcPts val="600"/>
              </a:spcAft>
              <a:buFont typeface="Arial" panose="020B0604020202020204" pitchFamily="34" charset="0"/>
              <a:buChar char="•"/>
              <a:defRPr sz="1600"/>
            </a:lvl2pPr>
            <a:lvl3pPr marL="1200150" lvl="2" indent="-285750">
              <a:spcBef>
                <a:spcPts val="600"/>
              </a:spcBef>
              <a:spcAft>
                <a:spcPts val="600"/>
              </a:spcAft>
              <a:buFont typeface="Arial" panose="020B0604020202020204" pitchFamily="34" charset="0"/>
              <a:buChar char="•"/>
              <a:defRPr sz="1600"/>
            </a:lvl3pPr>
          </a:lstStyle>
          <a:p>
            <a:r>
              <a:rPr lang="en-CA" dirty="0"/>
              <a:t>All new stations have been inserted into the database.</a:t>
            </a:r>
          </a:p>
          <a:p>
            <a:r>
              <a:rPr lang="en-CA" b="1" dirty="0">
                <a:highlight>
                  <a:srgbClr val="FF00FF"/>
                </a:highlight>
              </a:rPr>
              <a:t>Issues (22 cases identified):</a:t>
            </a:r>
          </a:p>
          <a:p>
            <a:pPr marL="457200" lvl="1" indent="0">
              <a:buNone/>
            </a:pPr>
            <a:r>
              <a:rPr lang="en-US" dirty="0"/>
              <a:t>- It is not clear what to concatenate because only one station id for concatenation is identified</a:t>
            </a:r>
            <a:endParaRPr lang="en-CA" dirty="0"/>
          </a:p>
          <a:p>
            <a:pPr marL="457200" lvl="1" indent="0">
              <a:buNone/>
            </a:pPr>
            <a:r>
              <a:rPr lang="en-CA" dirty="0"/>
              <a:t>- Most old stations do not exist in the database (18 of 22 cases).</a:t>
            </a:r>
          </a:p>
          <a:p>
            <a:r>
              <a:rPr lang="en-CA" b="1" dirty="0"/>
              <a:t>Action taken (4 cases):</a:t>
            </a:r>
          </a:p>
          <a:p>
            <a:pPr marL="457200" lvl="1" indent="0">
              <a:buNone/>
            </a:pPr>
            <a:r>
              <a:rPr lang="en-CA" dirty="0"/>
              <a:t>- Existing old stations: SBC19, 24547, bc65, SBC35 (</a:t>
            </a:r>
            <a:r>
              <a:rPr lang="en-CA" dirty="0" err="1"/>
              <a:t>native_id</a:t>
            </a:r>
            <a:r>
              <a:rPr lang="en-CA" dirty="0"/>
              <a:t>).</a:t>
            </a:r>
          </a:p>
          <a:p>
            <a:pPr marL="457200" lvl="1" indent="0">
              <a:buNone/>
            </a:pPr>
            <a:r>
              <a:rPr lang="en-CA" dirty="0"/>
              <a:t>- Updated their </a:t>
            </a:r>
            <a:r>
              <a:rPr lang="en-CA" dirty="0" err="1"/>
              <a:t>history_id</a:t>
            </a:r>
            <a:r>
              <a:rPr lang="en-CA" dirty="0"/>
              <a:t> to point to the corresponding new stations.</a:t>
            </a:r>
          </a:p>
          <a:p>
            <a:pPr marL="457200" lvl="1" indent="0">
              <a:buNone/>
            </a:pPr>
            <a:r>
              <a:rPr lang="en-CA" dirty="0"/>
              <a:t>- Deleted the old station records after successful update.</a:t>
            </a:r>
          </a:p>
          <a:p>
            <a:r>
              <a:rPr lang="en-CA" b="1" dirty="0"/>
              <a:t>Seems no action required (18 cases):</a:t>
            </a:r>
          </a:p>
          <a:p>
            <a:pPr marL="457200" lvl="1" indent="0">
              <a:buNone/>
            </a:pPr>
            <a:r>
              <a:rPr lang="en-CA" dirty="0"/>
              <a:t>Old stations do not exist in the database and are assumed to have been replaced.</a:t>
            </a:r>
          </a:p>
        </p:txBody>
      </p:sp>
      <p:sp>
        <p:nvSpPr>
          <p:cNvPr id="4" name="Rectangle 1">
            <a:extLst>
              <a:ext uri="{FF2B5EF4-FFF2-40B4-BE49-F238E27FC236}">
                <a16:creationId xmlns:a16="http://schemas.microsoft.com/office/drawing/2014/main" id="{80142FFF-E3F8-5130-DAF9-CCA4EDA99B32}"/>
              </a:ext>
            </a:extLst>
          </p:cNvPr>
          <p:cNvSpPr>
            <a:spLocks noChangeArrowheads="1"/>
          </p:cNvSpPr>
          <p:nvPr/>
        </p:nvSpPr>
        <p:spPr bwMode="auto">
          <a:xfrm>
            <a:off x="838200" y="3825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descr="A pink background with red lines&#10;&#10;AI-generated content may be incorrect.">
            <a:extLst>
              <a:ext uri="{FF2B5EF4-FFF2-40B4-BE49-F238E27FC236}">
                <a16:creationId xmlns:a16="http://schemas.microsoft.com/office/drawing/2014/main" id="{5253AD45-7DBF-8061-26F9-721F0466DDEC}"/>
              </a:ext>
            </a:extLst>
          </p:cNvPr>
          <p:cNvPicPr>
            <a:picLocks noChangeAspect="1"/>
          </p:cNvPicPr>
          <p:nvPr/>
        </p:nvPicPr>
        <p:blipFill>
          <a:blip r:embed="rId2"/>
          <a:stretch>
            <a:fillRect/>
          </a:stretch>
        </p:blipFill>
        <p:spPr>
          <a:xfrm>
            <a:off x="838200" y="5031889"/>
            <a:ext cx="10329334" cy="1599343"/>
          </a:xfrm>
          <a:prstGeom prst="rect">
            <a:avLst/>
          </a:prstGeom>
        </p:spPr>
      </p:pic>
      <p:sp>
        <p:nvSpPr>
          <p:cNvPr id="2" name="TextBox 1">
            <a:extLst>
              <a:ext uri="{FF2B5EF4-FFF2-40B4-BE49-F238E27FC236}">
                <a16:creationId xmlns:a16="http://schemas.microsoft.com/office/drawing/2014/main" id="{3EE1554A-39B8-1020-B1E9-0924646BEA9B}"/>
              </a:ext>
            </a:extLst>
          </p:cNvPr>
          <p:cNvSpPr txBox="1"/>
          <p:nvPr/>
        </p:nvSpPr>
        <p:spPr>
          <a:xfrm rot="19896404">
            <a:off x="7663441" y="2331804"/>
            <a:ext cx="2980347" cy="1477328"/>
          </a:xfrm>
          <a:prstGeom prst="rect">
            <a:avLst/>
          </a:prstGeom>
          <a:noFill/>
        </p:spPr>
        <p:txBody>
          <a:bodyPr wrap="square" rtlCol="0">
            <a:spAutoFit/>
          </a:bodyPr>
          <a:lstStyle/>
          <a:p>
            <a:r>
              <a:rPr lang="en-CA" dirty="0">
                <a:highlight>
                  <a:srgbClr val="00FF00"/>
                </a:highlight>
              </a:rPr>
              <a:t>Okay – I am thinking that these are stations that may have been added to metadata table but no data at that time. </a:t>
            </a:r>
          </a:p>
        </p:txBody>
      </p:sp>
      <p:sp>
        <p:nvSpPr>
          <p:cNvPr id="5" name="TextBox 4">
            <a:extLst>
              <a:ext uri="{FF2B5EF4-FFF2-40B4-BE49-F238E27FC236}">
                <a16:creationId xmlns:a16="http://schemas.microsoft.com/office/drawing/2014/main" id="{00E55618-7F75-5E9A-0030-29AA7FC316C3}"/>
              </a:ext>
            </a:extLst>
          </p:cNvPr>
          <p:cNvSpPr txBox="1"/>
          <p:nvPr/>
        </p:nvSpPr>
        <p:spPr>
          <a:xfrm rot="19838712">
            <a:off x="9040073" y="3510525"/>
            <a:ext cx="2116667" cy="1200329"/>
          </a:xfrm>
          <a:prstGeom prst="rect">
            <a:avLst/>
          </a:prstGeom>
          <a:noFill/>
        </p:spPr>
        <p:txBody>
          <a:bodyPr wrap="square" rtlCol="0">
            <a:spAutoFit/>
          </a:bodyPr>
          <a:lstStyle/>
          <a:p>
            <a:r>
              <a:rPr lang="en-US" dirty="0">
                <a:highlight>
                  <a:srgbClr val="00FFFF"/>
                </a:highlight>
              </a:rPr>
              <a:t>I think these 18 stations has no </a:t>
            </a:r>
            <a:r>
              <a:rPr lang="en-US" dirty="0" err="1">
                <a:highlight>
                  <a:srgbClr val="00FFFF"/>
                </a:highlight>
              </a:rPr>
              <a:t>matedata</a:t>
            </a:r>
            <a:r>
              <a:rPr lang="en-US" dirty="0">
                <a:highlight>
                  <a:srgbClr val="00FFFF"/>
                </a:highlight>
              </a:rPr>
              <a:t>, so neglect them</a:t>
            </a:r>
          </a:p>
        </p:txBody>
      </p:sp>
    </p:spTree>
    <p:extLst>
      <p:ext uri="{BB962C8B-B14F-4D97-AF65-F5344CB8AC3E}">
        <p14:creationId xmlns:p14="http://schemas.microsoft.com/office/powerpoint/2010/main" val="4055236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DEC0-9939-72A4-0C26-4906D162DB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B32519-5813-0192-CE86-E7E20ACA21EF}"/>
              </a:ext>
            </a:extLst>
          </p:cNvPr>
          <p:cNvSpPr txBox="1"/>
          <p:nvPr/>
        </p:nvSpPr>
        <p:spPr>
          <a:xfrm>
            <a:off x="431799" y="374134"/>
            <a:ext cx="7830457"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Replaced by new station native id – Move data record, delete station</a:t>
            </a:r>
          </a:p>
        </p:txBody>
      </p:sp>
      <p:sp>
        <p:nvSpPr>
          <p:cNvPr id="5" name="TextBox 4">
            <a:extLst>
              <a:ext uri="{FF2B5EF4-FFF2-40B4-BE49-F238E27FC236}">
                <a16:creationId xmlns:a16="http://schemas.microsoft.com/office/drawing/2014/main" id="{02444CDB-06FB-B1C7-55A4-413F32933FFD}"/>
              </a:ext>
            </a:extLst>
          </p:cNvPr>
          <p:cNvSpPr txBox="1"/>
          <p:nvPr/>
        </p:nvSpPr>
        <p:spPr>
          <a:xfrm>
            <a:off x="738201" y="916548"/>
            <a:ext cx="10329335" cy="3154710"/>
          </a:xfrm>
          <a:prstGeom prst="rect">
            <a:avLst/>
          </a:prstGeom>
          <a:solidFill>
            <a:srgbClr val="F2F2F2"/>
          </a:solidFill>
        </p:spPr>
        <p:txBody>
          <a:bodyPr wrap="square" rtlCol="0">
            <a:spAutoFit/>
          </a:bodyPr>
          <a:lstStyle/>
          <a:p>
            <a:pPr marL="285750" indent="-285750">
              <a:spcBef>
                <a:spcPts val="600"/>
              </a:spcBef>
              <a:buFont typeface="Arial" panose="020B0604020202020204" pitchFamily="34" charset="0"/>
              <a:buChar char="•"/>
            </a:pPr>
            <a:r>
              <a:rPr lang="en-US" sz="1400" dirty="0"/>
              <a:t>Identify stations:</a:t>
            </a:r>
          </a:p>
          <a:p>
            <a:pPr marL="742950" lvl="1" indent="-285750">
              <a:spcBef>
                <a:spcPts val="600"/>
              </a:spcBef>
              <a:buFont typeface="Arial" panose="020B0604020202020204" pitchFamily="34" charset="0"/>
              <a:buChar char="•"/>
            </a:pPr>
            <a:r>
              <a:rPr lang="en-US" sz="1400" dirty="0"/>
              <a:t>Old stations by </a:t>
            </a:r>
            <a:r>
              <a:rPr lang="en-US" sz="1400" dirty="0" err="1">
                <a:highlight>
                  <a:srgbClr val="FFFF00"/>
                </a:highlight>
              </a:rPr>
              <a:t>station_id</a:t>
            </a:r>
            <a:r>
              <a:rPr lang="en-US" sz="1400" dirty="0">
                <a:highlight>
                  <a:srgbClr val="FFFF00"/>
                </a:highlight>
              </a:rPr>
              <a:t> </a:t>
            </a:r>
            <a:r>
              <a:rPr lang="en-US" sz="1400" dirty="0"/>
              <a:t>(</a:t>
            </a:r>
            <a:r>
              <a:rPr lang="en-US" sz="1400" dirty="0">
                <a:highlight>
                  <a:srgbClr val="FF00FF"/>
                </a:highlight>
              </a:rPr>
              <a:t>based on </a:t>
            </a:r>
            <a:r>
              <a:rPr lang="en-US" sz="1400" dirty="0" err="1">
                <a:highlight>
                  <a:srgbClr val="FF00FF"/>
                </a:highlight>
              </a:rPr>
              <a:t>native_id</a:t>
            </a:r>
            <a:r>
              <a:rPr lang="en-US" sz="1400" dirty="0">
                <a:highlight>
                  <a:srgbClr val="FF00FF"/>
                </a:highlight>
              </a:rPr>
              <a:t>, no stations founded</a:t>
            </a:r>
            <a:r>
              <a:rPr lang="en-US" sz="1400" dirty="0"/>
              <a:t>), so this means </a:t>
            </a:r>
            <a:r>
              <a:rPr lang="en-US" sz="1400" dirty="0">
                <a:highlight>
                  <a:srgbClr val="FFFF00"/>
                </a:highlight>
              </a:rPr>
              <a:t>the </a:t>
            </a:r>
            <a:r>
              <a:rPr lang="en-US" sz="1400" dirty="0" err="1">
                <a:highlight>
                  <a:srgbClr val="FFFF00"/>
                </a:highlight>
              </a:rPr>
              <a:t>station_id</a:t>
            </a:r>
            <a:r>
              <a:rPr lang="en-US" sz="1400" dirty="0">
                <a:highlight>
                  <a:srgbClr val="FFFF00"/>
                </a:highlight>
              </a:rPr>
              <a:t> and </a:t>
            </a:r>
            <a:r>
              <a:rPr lang="en-US" sz="1400" dirty="0" err="1">
                <a:highlight>
                  <a:srgbClr val="FFFF00"/>
                </a:highlight>
              </a:rPr>
              <a:t>native_id</a:t>
            </a:r>
            <a:r>
              <a:rPr lang="en-US" sz="1400" dirty="0">
                <a:highlight>
                  <a:srgbClr val="FFFF00"/>
                </a:highlight>
              </a:rPr>
              <a:t> summarized in the table are not consistent</a:t>
            </a:r>
          </a:p>
          <a:p>
            <a:pPr marL="742950" lvl="1" indent="-285750">
              <a:spcBef>
                <a:spcPts val="600"/>
              </a:spcBef>
              <a:buFont typeface="Arial" panose="020B0604020202020204" pitchFamily="34" charset="0"/>
              <a:buChar char="•"/>
            </a:pPr>
            <a:r>
              <a:rPr lang="en-US" sz="1400" dirty="0"/>
              <a:t>New stations by </a:t>
            </a:r>
            <a:r>
              <a:rPr lang="en-US" sz="1400" dirty="0" err="1"/>
              <a:t>native_id</a:t>
            </a:r>
            <a:r>
              <a:rPr lang="en-US" sz="1400" dirty="0"/>
              <a:t>.</a:t>
            </a:r>
          </a:p>
          <a:p>
            <a:pPr marL="285750" indent="-285750">
              <a:spcBef>
                <a:spcPts val="600"/>
              </a:spcBef>
              <a:buFont typeface="Arial" panose="020B0604020202020204" pitchFamily="34" charset="0"/>
              <a:buChar char="•"/>
            </a:pPr>
            <a:r>
              <a:rPr lang="en-US" sz="1400" dirty="0"/>
              <a:t>Existence check:</a:t>
            </a:r>
          </a:p>
          <a:p>
            <a:pPr marL="742950" lvl="1" indent="-285750">
              <a:spcBef>
                <a:spcPts val="600"/>
              </a:spcBef>
              <a:buFont typeface="Arial" panose="020B0604020202020204" pitchFamily="34" charset="0"/>
              <a:buChar char="•"/>
            </a:pPr>
            <a:r>
              <a:rPr lang="en-US" sz="1400" dirty="0"/>
              <a:t>4 old stations missing → assumed replaced, no action needed </a:t>
            </a:r>
            <a:r>
              <a:rPr lang="en-US" sz="1400" dirty="0">
                <a:highlight>
                  <a:srgbClr val="FF00FF"/>
                </a:highlight>
              </a:rPr>
              <a:t>(</a:t>
            </a:r>
            <a:r>
              <a:rPr lang="en-US" sz="1400" dirty="0" err="1">
                <a:highlight>
                  <a:srgbClr val="FF00FF"/>
                </a:highlight>
              </a:rPr>
              <a:t>station_id</a:t>
            </a:r>
            <a:r>
              <a:rPr lang="en-US" sz="1400" dirty="0">
                <a:highlight>
                  <a:srgbClr val="FF00FF"/>
                </a:highlight>
              </a:rPr>
              <a:t> = 1538, 1523, 3102, 3110)</a:t>
            </a:r>
          </a:p>
          <a:p>
            <a:pPr marL="742950" lvl="1" indent="-285750">
              <a:spcBef>
                <a:spcPts val="600"/>
              </a:spcBef>
              <a:buFont typeface="Arial" panose="020B0604020202020204" pitchFamily="34" charset="0"/>
              <a:buChar char="•"/>
            </a:pPr>
            <a:r>
              <a:rPr lang="en-US" sz="1400" dirty="0"/>
              <a:t>1 new station missing → marked for review </a:t>
            </a:r>
            <a:r>
              <a:rPr lang="en-US" sz="1400" dirty="0">
                <a:highlight>
                  <a:srgbClr val="FF00FF"/>
                </a:highlight>
              </a:rPr>
              <a:t>(</a:t>
            </a:r>
            <a:r>
              <a:rPr lang="en-US" sz="1400" dirty="0" err="1">
                <a:highlight>
                  <a:srgbClr val="FF00FF"/>
                </a:highlight>
              </a:rPr>
              <a:t>native_id</a:t>
            </a:r>
            <a:r>
              <a:rPr lang="zh-CN" altLang="en-US" sz="1400" dirty="0">
                <a:highlight>
                  <a:srgbClr val="FF00FF"/>
                </a:highlight>
              </a:rPr>
              <a:t> </a:t>
            </a:r>
            <a:r>
              <a:rPr lang="en-US" sz="1400" dirty="0">
                <a:highlight>
                  <a:srgbClr val="FF00FF"/>
                </a:highlight>
              </a:rPr>
              <a:t>=</a:t>
            </a:r>
            <a:r>
              <a:rPr lang="zh-CN" altLang="en-US" sz="1400" dirty="0">
                <a:highlight>
                  <a:srgbClr val="FF00FF"/>
                </a:highlight>
              </a:rPr>
              <a:t> </a:t>
            </a:r>
            <a:r>
              <a:rPr lang="en-US" sz="1400" dirty="0">
                <a:highlight>
                  <a:srgbClr val="FF00FF"/>
                </a:highlight>
              </a:rPr>
              <a:t>AMGL019)</a:t>
            </a:r>
          </a:p>
          <a:p>
            <a:pPr marL="285750" indent="-285750">
              <a:spcBef>
                <a:spcPts val="600"/>
              </a:spcBef>
              <a:buFont typeface="Arial" panose="020B0604020202020204" pitchFamily="34" charset="0"/>
              <a:buChar char="•"/>
            </a:pPr>
            <a:r>
              <a:rPr lang="en-US" sz="1400" dirty="0"/>
              <a:t>Concatenation process:</a:t>
            </a:r>
          </a:p>
          <a:p>
            <a:pPr marL="742950" lvl="1" indent="-285750">
              <a:spcBef>
                <a:spcPts val="600"/>
              </a:spcBef>
              <a:buFont typeface="Arial" panose="020B0604020202020204" pitchFamily="34" charset="0"/>
              <a:buChar char="•"/>
            </a:pPr>
            <a:r>
              <a:rPr lang="en-US" sz="1400" dirty="0"/>
              <a:t>For pairs where both old &amp; new stations exist:</a:t>
            </a:r>
          </a:p>
          <a:p>
            <a:pPr marL="742950" lvl="1" indent="-285750">
              <a:spcBef>
                <a:spcPts val="600"/>
              </a:spcBef>
              <a:buFont typeface="Arial" panose="020B0604020202020204" pitchFamily="34" charset="0"/>
              <a:buChar char="•"/>
            </a:pPr>
            <a:r>
              <a:rPr lang="en-US" sz="1400" dirty="0"/>
              <a:t>Update </a:t>
            </a:r>
            <a:r>
              <a:rPr lang="en-US" sz="1400" dirty="0" err="1"/>
              <a:t>history_id</a:t>
            </a:r>
            <a:r>
              <a:rPr lang="en-US" sz="1400" dirty="0"/>
              <a:t> in </a:t>
            </a:r>
            <a:r>
              <a:rPr lang="en-US" sz="1400" dirty="0" err="1"/>
              <a:t>obs_raw</a:t>
            </a:r>
            <a:r>
              <a:rPr lang="en-US" sz="1400" dirty="0"/>
              <a:t> for non-overlapping entries.</a:t>
            </a:r>
          </a:p>
          <a:p>
            <a:pPr marL="742950" lvl="1" indent="-285750">
              <a:spcBef>
                <a:spcPts val="600"/>
              </a:spcBef>
              <a:buFont typeface="Arial" panose="020B0604020202020204" pitchFamily="34" charset="0"/>
              <a:buChar char="•"/>
            </a:pPr>
            <a:r>
              <a:rPr lang="en-US" sz="1400" dirty="0"/>
              <a:t>Delete old stations from DB.</a:t>
            </a:r>
          </a:p>
        </p:txBody>
      </p:sp>
      <p:sp>
        <p:nvSpPr>
          <p:cNvPr id="2" name="TextBox 1">
            <a:extLst>
              <a:ext uri="{FF2B5EF4-FFF2-40B4-BE49-F238E27FC236}">
                <a16:creationId xmlns:a16="http://schemas.microsoft.com/office/drawing/2014/main" id="{808B475E-A497-81B3-0290-1F3AC1711285}"/>
              </a:ext>
            </a:extLst>
          </p:cNvPr>
          <p:cNvSpPr txBox="1"/>
          <p:nvPr/>
        </p:nvSpPr>
        <p:spPr>
          <a:xfrm>
            <a:off x="2125133" y="5054600"/>
            <a:ext cx="7872733" cy="923330"/>
          </a:xfrm>
          <a:prstGeom prst="rect">
            <a:avLst/>
          </a:prstGeom>
          <a:noFill/>
        </p:spPr>
        <p:txBody>
          <a:bodyPr wrap="none" rtlCol="0">
            <a:spAutoFit/>
          </a:bodyPr>
          <a:lstStyle/>
          <a:p>
            <a:r>
              <a:rPr lang="en-US" dirty="0">
                <a:highlight>
                  <a:srgbClr val="00FFFF"/>
                </a:highlight>
              </a:rPr>
              <a:t>Ted should probs double check the </a:t>
            </a:r>
            <a:r>
              <a:rPr lang="en-US" dirty="0" err="1">
                <a:highlight>
                  <a:srgbClr val="00FFFF"/>
                </a:highlight>
              </a:rPr>
              <a:t>native_id</a:t>
            </a:r>
            <a:r>
              <a:rPr lang="en-US" dirty="0">
                <a:highlight>
                  <a:srgbClr val="00FFFF"/>
                </a:highlight>
              </a:rPr>
              <a:t> and </a:t>
            </a:r>
            <a:r>
              <a:rPr lang="en-US" dirty="0" err="1">
                <a:highlight>
                  <a:srgbClr val="00FFFF"/>
                </a:highlight>
              </a:rPr>
              <a:t>station_id</a:t>
            </a:r>
            <a:r>
              <a:rPr lang="en-US" dirty="0">
                <a:highlight>
                  <a:srgbClr val="00FFFF"/>
                </a:highlight>
              </a:rPr>
              <a:t> summarized here;</a:t>
            </a:r>
          </a:p>
          <a:p>
            <a:endParaRPr lang="en-US" dirty="0">
              <a:highlight>
                <a:srgbClr val="00FFFF"/>
              </a:highlight>
            </a:endParaRPr>
          </a:p>
          <a:p>
            <a:r>
              <a:rPr lang="en-US" dirty="0">
                <a:highlight>
                  <a:srgbClr val="00FFFF"/>
                </a:highlight>
              </a:rPr>
              <a:t>1 new station missing → marked for review (</a:t>
            </a:r>
            <a:r>
              <a:rPr lang="en-US" dirty="0" err="1">
                <a:highlight>
                  <a:srgbClr val="00FFFF"/>
                </a:highlight>
              </a:rPr>
              <a:t>native_id</a:t>
            </a:r>
            <a:r>
              <a:rPr lang="zh-CN" altLang="en-US" dirty="0">
                <a:highlight>
                  <a:srgbClr val="00FFFF"/>
                </a:highlight>
              </a:rPr>
              <a:t> </a:t>
            </a:r>
            <a:r>
              <a:rPr lang="en-US" dirty="0">
                <a:highlight>
                  <a:srgbClr val="00FFFF"/>
                </a:highlight>
              </a:rPr>
              <a:t>=</a:t>
            </a:r>
            <a:r>
              <a:rPr lang="zh-CN" altLang="en-US" dirty="0">
                <a:highlight>
                  <a:srgbClr val="00FFFF"/>
                </a:highlight>
              </a:rPr>
              <a:t> </a:t>
            </a:r>
            <a:r>
              <a:rPr lang="en-US" dirty="0">
                <a:highlight>
                  <a:srgbClr val="00FFFF"/>
                </a:highlight>
              </a:rPr>
              <a:t>AMGL019</a:t>
            </a:r>
          </a:p>
        </p:txBody>
      </p:sp>
    </p:spTree>
    <p:extLst>
      <p:ext uri="{BB962C8B-B14F-4D97-AF65-F5344CB8AC3E}">
        <p14:creationId xmlns:p14="http://schemas.microsoft.com/office/powerpoint/2010/main" val="3027839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355A-FEE4-0E66-9B35-02E839DC51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336C83-6A3C-7410-A4D3-BC729DD33523}"/>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Concatenate data and delete this station</a:t>
            </a:r>
          </a:p>
        </p:txBody>
      </p:sp>
      <p:pic>
        <p:nvPicPr>
          <p:cNvPr id="4" name="Picture 3" descr="A screenshot of a computer&#10;&#10;AI-generated content may be incorrect.">
            <a:extLst>
              <a:ext uri="{FF2B5EF4-FFF2-40B4-BE49-F238E27FC236}">
                <a16:creationId xmlns:a16="http://schemas.microsoft.com/office/drawing/2014/main" id="{B7B75B2F-0738-2781-B89A-AA7E7FC34C0A}"/>
              </a:ext>
            </a:extLst>
          </p:cNvPr>
          <p:cNvPicPr>
            <a:picLocks noChangeAspect="1"/>
          </p:cNvPicPr>
          <p:nvPr/>
        </p:nvPicPr>
        <p:blipFill>
          <a:blip r:embed="rId2"/>
          <a:stretch>
            <a:fillRect/>
          </a:stretch>
        </p:blipFill>
        <p:spPr>
          <a:xfrm>
            <a:off x="1270184" y="2229142"/>
            <a:ext cx="9358309" cy="2587296"/>
          </a:xfrm>
          <a:prstGeom prst="rect">
            <a:avLst/>
          </a:prstGeom>
        </p:spPr>
      </p:pic>
      <p:sp>
        <p:nvSpPr>
          <p:cNvPr id="5" name="TextBox 4">
            <a:extLst>
              <a:ext uri="{FF2B5EF4-FFF2-40B4-BE49-F238E27FC236}">
                <a16:creationId xmlns:a16="http://schemas.microsoft.com/office/drawing/2014/main" id="{1DBE5C0A-89D7-B322-7325-D3ACA5B549E2}"/>
              </a:ext>
            </a:extLst>
          </p:cNvPr>
          <p:cNvSpPr txBox="1"/>
          <p:nvPr/>
        </p:nvSpPr>
        <p:spPr>
          <a:xfrm>
            <a:off x="784672" y="1087362"/>
            <a:ext cx="10329335" cy="738664"/>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Similar to concatenate, based on </a:t>
            </a:r>
            <a:r>
              <a:rPr lang="en-US" sz="1600" dirty="0" err="1"/>
              <a:t>station_id</a:t>
            </a:r>
            <a:r>
              <a:rPr lang="en-US" sz="1600" dirty="0"/>
              <a:t> or </a:t>
            </a:r>
            <a:r>
              <a:rPr lang="en-US" sz="1600" dirty="0" err="1"/>
              <a:t>native_id</a:t>
            </a:r>
            <a:r>
              <a:rPr lang="en-US" sz="1600" dirty="0"/>
              <a:t> of old station to search, get same entry.</a:t>
            </a:r>
          </a:p>
          <a:p>
            <a:pPr marL="285750" indent="-285750">
              <a:spcBef>
                <a:spcPts val="600"/>
              </a:spcBef>
              <a:spcAft>
                <a:spcPts val="600"/>
              </a:spcAft>
              <a:buFont typeface="Arial" panose="020B0604020202020204" pitchFamily="34" charset="0"/>
              <a:buChar char="•"/>
            </a:pPr>
            <a:r>
              <a:rPr lang="en-US" sz="1600" dirty="0"/>
              <a:t>Concatenate, then delete.</a:t>
            </a:r>
          </a:p>
        </p:txBody>
      </p:sp>
    </p:spTree>
    <p:extLst>
      <p:ext uri="{BB962C8B-B14F-4D97-AF65-F5344CB8AC3E}">
        <p14:creationId xmlns:p14="http://schemas.microsoft.com/office/powerpoint/2010/main" val="1898000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699F0-D634-4FD4-A028-D9463EFC484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A38589E-8FCA-022B-468F-E85280DE3677}"/>
              </a:ext>
            </a:extLst>
          </p:cNvPr>
          <p:cNvSpPr txBox="1"/>
          <p:nvPr/>
        </p:nvSpPr>
        <p:spPr>
          <a:xfrm>
            <a:off x="363682" y="384755"/>
            <a:ext cx="6097384" cy="369332"/>
          </a:xfrm>
          <a:prstGeom prst="rect">
            <a:avLst/>
          </a:prstGeom>
          <a:noFill/>
        </p:spPr>
        <p:txBody>
          <a:bodyPr wrap="square">
            <a:spAutoFit/>
          </a:bodyPr>
          <a:lstStyle/>
          <a:p>
            <a:r>
              <a:rPr lang="en-CA" sz="1800" b="1" dirty="0"/>
              <a:t>Case-by-case “ISSUE” items</a:t>
            </a:r>
            <a:endParaRPr lang="en-US" b="1" dirty="0"/>
          </a:p>
        </p:txBody>
      </p:sp>
      <p:graphicFrame>
        <p:nvGraphicFramePr>
          <p:cNvPr id="9" name="Table 8">
            <a:extLst>
              <a:ext uri="{FF2B5EF4-FFF2-40B4-BE49-F238E27FC236}">
                <a16:creationId xmlns:a16="http://schemas.microsoft.com/office/drawing/2014/main" id="{757B2918-BC75-2A85-88F3-2ED51DB17CCC}"/>
              </a:ext>
            </a:extLst>
          </p:cNvPr>
          <p:cNvGraphicFramePr>
            <a:graphicFrameLocks noGrp="1"/>
          </p:cNvGraphicFramePr>
          <p:nvPr>
            <p:extLst>
              <p:ext uri="{D42A27DB-BD31-4B8C-83A1-F6EECF244321}">
                <p14:modId xmlns:p14="http://schemas.microsoft.com/office/powerpoint/2010/main" val="421994438"/>
              </p:ext>
            </p:extLst>
          </p:nvPr>
        </p:nvGraphicFramePr>
        <p:xfrm>
          <a:off x="1196339" y="2132395"/>
          <a:ext cx="9799321" cy="3298547"/>
        </p:xfrm>
        <a:graphic>
          <a:graphicData uri="http://schemas.openxmlformats.org/drawingml/2006/table">
            <a:tbl>
              <a:tblPr>
                <a:tableStyleId>{5C22544A-7EE6-4342-B048-85BDC9FD1C3A}</a:tableStyleId>
              </a:tblPr>
              <a:tblGrid>
                <a:gridCol w="3865880">
                  <a:extLst>
                    <a:ext uri="{9D8B030D-6E8A-4147-A177-3AD203B41FA5}">
                      <a16:colId xmlns:a16="http://schemas.microsoft.com/office/drawing/2014/main" val="2278772058"/>
                    </a:ext>
                  </a:extLst>
                </a:gridCol>
                <a:gridCol w="2834640">
                  <a:extLst>
                    <a:ext uri="{9D8B030D-6E8A-4147-A177-3AD203B41FA5}">
                      <a16:colId xmlns:a16="http://schemas.microsoft.com/office/drawing/2014/main" val="1952719858"/>
                    </a:ext>
                  </a:extLst>
                </a:gridCol>
                <a:gridCol w="3098801">
                  <a:extLst>
                    <a:ext uri="{9D8B030D-6E8A-4147-A177-3AD203B41FA5}">
                      <a16:colId xmlns:a16="http://schemas.microsoft.com/office/drawing/2014/main" val="4183562072"/>
                    </a:ext>
                  </a:extLst>
                </a:gridCol>
              </a:tblGrid>
              <a:tr h="359747">
                <a:tc>
                  <a:txBody>
                    <a:bodyPr/>
                    <a:lstStyle/>
                    <a:p>
                      <a:pPr algn="l" fontAlgn="b">
                        <a:buNone/>
                      </a:pPr>
                      <a:r>
                        <a:rPr lang="en-CA" sz="1400" b="1" i="0" u="none" strike="noStrike" dirty="0">
                          <a:solidFill>
                            <a:srgbClr val="000000"/>
                          </a:solidFill>
                          <a:effectLst/>
                          <a:latin typeface="Aptos Narrow" panose="020B0004020202020204" pitchFamily="34" charset="0"/>
                        </a:rPr>
                        <a:t>ISSUE</a:t>
                      </a:r>
                    </a:p>
                  </a:txBody>
                  <a:tcPr marL="0" marR="0" marT="0" marB="0" anchor="ctr"/>
                </a:tc>
                <a:tc>
                  <a:txBody>
                    <a:bodyPr/>
                    <a:lstStyle/>
                    <a:p>
                      <a:pPr algn="l" fontAlgn="b">
                        <a:buNone/>
                      </a:pPr>
                      <a:r>
                        <a:rPr lang="en-CA" sz="1400" b="1" i="0" u="none" strike="noStrike" dirty="0" err="1">
                          <a:solidFill>
                            <a:schemeClr val="tx1"/>
                          </a:solidFill>
                          <a:effectLst/>
                          <a:latin typeface="Aptos Narrow" panose="020B0004020202020204" pitchFamily="34" charset="0"/>
                        </a:rPr>
                        <a:t>Native_id</a:t>
                      </a:r>
                      <a:endParaRPr lang="en-CA" sz="1400" b="1" i="0" u="none" strike="noStrike" dirty="0">
                        <a:solidFill>
                          <a:schemeClr val="tx1"/>
                        </a:solidFill>
                        <a:effectLst/>
                        <a:latin typeface="Aptos Narrow" panose="020B0004020202020204" pitchFamily="34" charset="0"/>
                      </a:endParaRPr>
                    </a:p>
                  </a:txBody>
                  <a:tcPr marL="0" marR="0" marT="0" marB="0" anchor="ctr"/>
                </a:tc>
                <a:tc>
                  <a:txBody>
                    <a:bodyPr/>
                    <a:lstStyle/>
                    <a:p>
                      <a:pPr algn="l" fontAlgn="b">
                        <a:buNone/>
                      </a:pPr>
                      <a:r>
                        <a:rPr lang="en-CA" sz="1400" b="1" i="0" u="none" strike="noStrike" dirty="0">
                          <a:solidFill>
                            <a:schemeClr val="tx1"/>
                          </a:solidFill>
                          <a:effectLst/>
                          <a:latin typeface="Aptos Narrow" panose="020B0004020202020204" pitchFamily="34" charset="0"/>
                        </a:rPr>
                        <a:t>Notes</a:t>
                      </a:r>
                    </a:p>
                  </a:txBody>
                  <a:tcPr marL="0" marR="0" marT="0" marB="0" anchor="ctr"/>
                </a:tc>
                <a:extLst>
                  <a:ext uri="{0D108BD9-81ED-4DB2-BD59-A6C34878D82A}">
                    <a16:rowId xmlns:a16="http://schemas.microsoft.com/office/drawing/2014/main" val="1070987994"/>
                  </a:ext>
                </a:extLst>
              </a:tr>
              <a:tr h="576253">
                <a:tc>
                  <a:txBody>
                    <a:bodyPr/>
                    <a:lstStyle/>
                    <a:p>
                      <a:pPr algn="l" fontAlgn="b">
                        <a:buNone/>
                      </a:pPr>
                      <a:r>
                        <a:rPr lang="en-CA" sz="1400" u="none" strike="noStrike" dirty="0">
                          <a:effectLst/>
                        </a:rPr>
                        <a:t>Concatenate data with 13217, then delete</a:t>
                      </a:r>
                      <a:endParaRPr lang="en-CA" sz="1400" b="1"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JHL </a:t>
                      </a:r>
                      <a:r>
                        <a:rPr lang="en-CA" sz="1400" u="none" strike="noStrike" dirty="0">
                          <a:effectLst/>
                          <a:highlight>
                            <a:srgbClr val="C0C0C0"/>
                          </a:highlight>
                        </a:rPr>
                        <a:t>-&gt;JHL</a:t>
                      </a:r>
                      <a:endParaRPr lang="en-CA" sz="1400" b="1" i="0" u="none" strike="noStrike" dirty="0">
                        <a:solidFill>
                          <a:srgbClr val="FF0000"/>
                        </a:solidFill>
                        <a:effectLst/>
                        <a:highlight>
                          <a:srgbClr val="C0C0C0"/>
                        </a:highlight>
                        <a:latin typeface="Aptos Narrow" panose="020B0004020202020204" pitchFamily="34" charset="0"/>
                      </a:endParaRPr>
                    </a:p>
                  </a:txBody>
                  <a:tcPr marL="0" marR="0" marT="0" marB="0" anchor="ctr"/>
                </a:tc>
                <a:tc>
                  <a:txBody>
                    <a:bodyPr/>
                    <a:lstStyle/>
                    <a:p>
                      <a:pPr algn="l" fontAlgn="b">
                        <a:buNone/>
                      </a:pPr>
                      <a:r>
                        <a:rPr lang="en-CA" sz="1400" b="0" i="0" u="none" strike="noStrike" dirty="0">
                          <a:solidFill>
                            <a:schemeClr val="tx1"/>
                          </a:solidFill>
                          <a:effectLst/>
                          <a:highlight>
                            <a:srgbClr val="C0C0C0"/>
                          </a:highlight>
                          <a:latin typeface="Aptos Narrow" panose="020B0004020202020204" pitchFamily="34" charset="0"/>
                        </a:rPr>
                        <a:t>Original station id is 13218, both old and new </a:t>
                      </a:r>
                      <a:r>
                        <a:rPr lang="en-CA" sz="1400" b="0" i="0" u="none" strike="noStrike" dirty="0" err="1">
                          <a:solidFill>
                            <a:schemeClr val="tx1"/>
                          </a:solidFill>
                          <a:effectLst/>
                          <a:highlight>
                            <a:srgbClr val="C0C0C0"/>
                          </a:highlight>
                          <a:latin typeface="Aptos Narrow" panose="020B0004020202020204" pitchFamily="34" charset="0"/>
                        </a:rPr>
                        <a:t>native_id</a:t>
                      </a:r>
                      <a:r>
                        <a:rPr lang="en-CA" sz="1400" b="0" i="0" u="none" strike="noStrike" dirty="0">
                          <a:solidFill>
                            <a:schemeClr val="tx1"/>
                          </a:solidFill>
                          <a:effectLst/>
                          <a:highlight>
                            <a:srgbClr val="C0C0C0"/>
                          </a:highlight>
                          <a:latin typeface="Aptos Narrow" panose="020B0004020202020204" pitchFamily="34" charset="0"/>
                        </a:rPr>
                        <a:t> are JHL </a:t>
                      </a:r>
                    </a:p>
                  </a:txBody>
                  <a:tcPr marL="0" marR="0" marT="0" marB="0" anchor="ctr"/>
                </a:tc>
                <a:extLst>
                  <a:ext uri="{0D108BD9-81ED-4DB2-BD59-A6C34878D82A}">
                    <a16:rowId xmlns:a16="http://schemas.microsoft.com/office/drawing/2014/main" val="2744445653"/>
                  </a:ext>
                </a:extLst>
              </a:tr>
              <a:tr h="359747">
                <a:tc>
                  <a:txBody>
                    <a:bodyPr/>
                    <a:lstStyle/>
                    <a:p>
                      <a:pPr algn="l" fontAlgn="b">
                        <a:buNone/>
                      </a:pPr>
                      <a:r>
                        <a:rPr lang="en-CA" sz="1400" u="none" strike="noStrike" dirty="0">
                          <a:effectLst/>
                        </a:rPr>
                        <a:t>Concatenate with 12283 and delete</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M107005 -&gt; 171</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b="0" i="0" u="none" strike="noStrike" dirty="0">
                          <a:solidFill>
                            <a:srgbClr val="000000"/>
                          </a:solidFill>
                          <a:effectLst/>
                          <a:latin typeface="Aptos Narrow" panose="020B0004020202020204" pitchFamily="34" charset="0"/>
                        </a:rPr>
                        <a:t>New station: </a:t>
                      </a:r>
                      <a:r>
                        <a:rPr lang="en-CA" sz="1400" u="none" strike="noStrike" dirty="0">
                          <a:effectLst/>
                        </a:rPr>
                        <a:t>12283 (171)</a:t>
                      </a:r>
                      <a:endParaRPr lang="en-CA" sz="1400" b="0" i="0" u="none" strike="noStrike" dirty="0">
                        <a:solidFill>
                          <a:srgbClr val="000000"/>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3829269637"/>
                  </a:ext>
                </a:extLst>
              </a:tr>
              <a:tr h="359747">
                <a:tc>
                  <a:txBody>
                    <a:bodyPr/>
                    <a:lstStyle/>
                    <a:p>
                      <a:pPr algn="l" fontAlgn="b">
                        <a:buNone/>
                      </a:pPr>
                      <a:r>
                        <a:rPr lang="en-CA" sz="1400" u="none" strike="noStrike" dirty="0">
                          <a:effectLst/>
                        </a:rPr>
                        <a:t>Concatenate with 12441 and delete</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Smithers </a:t>
                      </a:r>
                      <a:r>
                        <a:rPr lang="en-CA" sz="1400" u="none" strike="noStrike" dirty="0" err="1">
                          <a:effectLst/>
                        </a:rPr>
                        <a:t>Muheim</a:t>
                      </a:r>
                      <a:r>
                        <a:rPr lang="en-CA" sz="1400" u="none" strike="noStrike" dirty="0">
                          <a:effectLst/>
                        </a:rPr>
                        <a:t> Memorial -&gt; 563</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b="0" i="0" u="none" strike="noStrike" dirty="0">
                          <a:solidFill>
                            <a:srgbClr val="000000"/>
                          </a:solidFill>
                          <a:effectLst/>
                          <a:latin typeface="Aptos Narrow" panose="020B0004020202020204" pitchFamily="34" charset="0"/>
                        </a:rPr>
                        <a:t>New station: 12441 (563)</a:t>
                      </a:r>
                    </a:p>
                  </a:txBody>
                  <a:tcPr marL="0" marR="0" marT="0" marB="0" anchor="ctr"/>
                </a:tc>
                <a:extLst>
                  <a:ext uri="{0D108BD9-81ED-4DB2-BD59-A6C34878D82A}">
                    <a16:rowId xmlns:a16="http://schemas.microsoft.com/office/drawing/2014/main" val="1298017884"/>
                  </a:ext>
                </a:extLst>
              </a:tr>
              <a:tr h="57625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400" u="none" strike="noStrike" dirty="0">
                          <a:effectLst/>
                        </a:rPr>
                        <a:t>Data needs concatenating with 12170</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M106010 </a:t>
                      </a:r>
                      <a:r>
                        <a:rPr lang="en-CA" sz="1400" u="none" strike="noStrike" dirty="0">
                          <a:solidFill>
                            <a:srgbClr val="FF0000"/>
                          </a:solidFill>
                          <a:effectLst/>
                        </a:rPr>
                        <a:t>-&gt; 80</a:t>
                      </a:r>
                      <a:endParaRPr lang="en-CA" sz="1400" b="1" i="0" u="none" strike="noStrike" dirty="0">
                        <a:solidFill>
                          <a:srgbClr val="FF0000"/>
                        </a:solidFill>
                        <a:effectLst/>
                        <a:latin typeface="Aptos Narrow" panose="020B0004020202020204" pitchFamily="34" charset="0"/>
                      </a:endParaRPr>
                    </a:p>
                  </a:txBody>
                  <a:tcPr marL="0" marR="0" marT="0" marB="0" anchor="ctr"/>
                </a:tc>
                <a:tc>
                  <a:txBody>
                    <a:bodyPr/>
                    <a:lstStyle/>
                    <a:p>
                      <a:pPr algn="l" fontAlgn="b">
                        <a:buNone/>
                      </a:pPr>
                      <a:r>
                        <a:rPr lang="en-CA" sz="1400" b="0" i="0" u="none" strike="noStrike" dirty="0">
                          <a:solidFill>
                            <a:srgbClr val="000000"/>
                          </a:solidFill>
                          <a:effectLst/>
                          <a:latin typeface="Aptos Narrow" panose="020B0004020202020204" pitchFamily="34" charset="0"/>
                        </a:rPr>
                        <a:t>New station: 12170 (102), </a:t>
                      </a:r>
                      <a:r>
                        <a:rPr lang="en-CA" sz="1400" b="0" i="0" u="none" strike="noStrike" dirty="0">
                          <a:solidFill>
                            <a:srgbClr val="FF0000"/>
                          </a:solidFill>
                          <a:effectLst/>
                          <a:latin typeface="Aptos Narrow" panose="020B0004020202020204" pitchFamily="34" charset="0"/>
                        </a:rPr>
                        <a:t>rather than 80. So update the new station </a:t>
                      </a:r>
                      <a:r>
                        <a:rPr lang="en-CA" sz="1400" b="0" i="0" u="none" strike="noStrike" dirty="0" err="1">
                          <a:solidFill>
                            <a:srgbClr val="FF0000"/>
                          </a:solidFill>
                          <a:effectLst/>
                          <a:latin typeface="Aptos Narrow" panose="020B0004020202020204" pitchFamily="34" charset="0"/>
                        </a:rPr>
                        <a:t>native_id</a:t>
                      </a:r>
                      <a:r>
                        <a:rPr lang="en-CA" sz="1400" b="0" i="0" u="none" strike="noStrike" dirty="0">
                          <a:solidFill>
                            <a:srgbClr val="FF0000"/>
                          </a:solidFill>
                          <a:effectLst/>
                          <a:latin typeface="Aptos Narrow" panose="020B0004020202020204" pitchFamily="34" charset="0"/>
                        </a:rPr>
                        <a:t> to 80? Or concatenate them into the new native id 80?? The </a:t>
                      </a:r>
                      <a:r>
                        <a:rPr lang="en-CA" sz="1400" b="0" i="0" u="none" strike="noStrike" dirty="0" err="1">
                          <a:solidFill>
                            <a:srgbClr val="FF0000"/>
                          </a:solidFill>
                          <a:effectLst/>
                          <a:latin typeface="Aptos Narrow" panose="020B0004020202020204" pitchFamily="34" charset="0"/>
                        </a:rPr>
                        <a:t>native_id</a:t>
                      </a:r>
                      <a:r>
                        <a:rPr lang="en-CA" sz="1400" b="0" i="0" u="none" strike="noStrike" dirty="0">
                          <a:solidFill>
                            <a:srgbClr val="FF0000"/>
                          </a:solidFill>
                          <a:effectLst/>
                          <a:latin typeface="Aptos Narrow" panose="020B0004020202020204" pitchFamily="34" charset="0"/>
                        </a:rPr>
                        <a:t> 80 has the same </a:t>
                      </a:r>
                      <a:r>
                        <a:rPr lang="en-CA" sz="1400" b="0" i="0" u="none" strike="noStrike" dirty="0" err="1">
                          <a:solidFill>
                            <a:srgbClr val="FF0000"/>
                          </a:solidFill>
                          <a:effectLst/>
                          <a:latin typeface="Aptos Narrow" panose="020B0004020202020204" pitchFamily="34" charset="0"/>
                        </a:rPr>
                        <a:t>station_name</a:t>
                      </a:r>
                      <a:r>
                        <a:rPr lang="en-CA" sz="1400" b="0" i="0" u="none" strike="noStrike" dirty="0">
                          <a:solidFill>
                            <a:srgbClr val="FF0000"/>
                          </a:solidFill>
                          <a:effectLst/>
                          <a:latin typeface="Aptos Narrow" panose="020B0004020202020204" pitchFamily="34" charset="0"/>
                        </a:rPr>
                        <a:t> in the table</a:t>
                      </a:r>
                      <a:endParaRPr lang="en-CA" sz="1400" b="1" i="0" u="none" strike="noStrike" dirty="0">
                        <a:solidFill>
                          <a:srgbClr val="FF0000"/>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3036870695"/>
                  </a:ext>
                </a:extLst>
              </a:tr>
              <a:tr h="57625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400" u="none" strike="noStrike" dirty="0">
                          <a:effectLst/>
                        </a:rPr>
                        <a:t>Data should be concatenated into one record</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solidFill>
                            <a:srgbClr val="FF0000"/>
                          </a:solidFill>
                          <a:effectLst/>
                        </a:rPr>
                        <a:t>M109912 -&gt; 144</a:t>
                      </a:r>
                      <a:endParaRPr lang="en-CA" sz="1400" b="1" i="0" u="none" strike="noStrike" dirty="0">
                        <a:solidFill>
                          <a:srgbClr val="FF0000"/>
                        </a:solidFill>
                        <a:effectLst/>
                        <a:latin typeface="Aptos Narrow" panose="020B0004020202020204" pitchFamily="34" charset="0"/>
                      </a:endParaRPr>
                    </a:p>
                  </a:txBody>
                  <a:tcPr marL="0" marR="0" marT="0" marB="0" anchor="ct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CA" sz="1400" b="0" i="0" u="none" strike="noStrike" dirty="0">
                          <a:solidFill>
                            <a:srgbClr val="FF0000"/>
                          </a:solidFill>
                          <a:effectLst/>
                          <a:latin typeface="Aptos Narrow" panose="020B0004020202020204" pitchFamily="34" charset="0"/>
                        </a:rPr>
                        <a:t>Only new station </a:t>
                      </a:r>
                      <a:r>
                        <a:rPr lang="en-CA" sz="1400" b="0" i="0" u="none" strike="noStrike" dirty="0" err="1">
                          <a:solidFill>
                            <a:srgbClr val="FF0000"/>
                          </a:solidFill>
                          <a:effectLst/>
                          <a:latin typeface="Aptos Narrow" panose="020B0004020202020204" pitchFamily="34" charset="0"/>
                        </a:rPr>
                        <a:t>native_id</a:t>
                      </a:r>
                      <a:r>
                        <a:rPr lang="en-CA" sz="1400" b="0" i="0" u="none" strike="noStrike" dirty="0">
                          <a:solidFill>
                            <a:srgbClr val="FF0000"/>
                          </a:solidFill>
                          <a:effectLst/>
                          <a:latin typeface="Aptos Narrow" panose="020B0004020202020204" pitchFamily="34" charset="0"/>
                        </a:rPr>
                        <a:t> (144) provided, the new </a:t>
                      </a:r>
                      <a:r>
                        <a:rPr lang="en-CA" sz="1400" b="0" i="0" u="none" strike="noStrike" dirty="0" err="1">
                          <a:solidFill>
                            <a:srgbClr val="FF0000"/>
                          </a:solidFill>
                          <a:effectLst/>
                          <a:latin typeface="Aptos Narrow" panose="020B0004020202020204" pitchFamily="34" charset="0"/>
                        </a:rPr>
                        <a:t>station_id</a:t>
                      </a:r>
                      <a:r>
                        <a:rPr lang="en-CA" sz="1400" b="0" i="0" u="none" strike="noStrike" dirty="0">
                          <a:solidFill>
                            <a:srgbClr val="FF0000"/>
                          </a:solidFill>
                          <a:effectLst/>
                          <a:latin typeface="Aptos Narrow" panose="020B0004020202020204" pitchFamily="34" charset="0"/>
                        </a:rPr>
                        <a:t> is 12254.</a:t>
                      </a:r>
                    </a:p>
                  </a:txBody>
                  <a:tcPr marL="0" marR="0" marT="0" marB="0" anchor="ctr"/>
                </a:tc>
                <a:extLst>
                  <a:ext uri="{0D108BD9-81ED-4DB2-BD59-A6C34878D82A}">
                    <a16:rowId xmlns:a16="http://schemas.microsoft.com/office/drawing/2014/main" val="860071752"/>
                  </a:ext>
                </a:extLst>
              </a:tr>
            </a:tbl>
          </a:graphicData>
        </a:graphic>
      </p:graphicFrame>
      <p:sp>
        <p:nvSpPr>
          <p:cNvPr id="2" name="TextBox 1">
            <a:extLst>
              <a:ext uri="{FF2B5EF4-FFF2-40B4-BE49-F238E27FC236}">
                <a16:creationId xmlns:a16="http://schemas.microsoft.com/office/drawing/2014/main" id="{EA421712-406F-9024-9F89-0D0B6BC75474}"/>
              </a:ext>
            </a:extLst>
          </p:cNvPr>
          <p:cNvSpPr txBox="1"/>
          <p:nvPr/>
        </p:nvSpPr>
        <p:spPr>
          <a:xfrm>
            <a:off x="694266" y="1176352"/>
            <a:ext cx="8867492" cy="369332"/>
          </a:xfrm>
          <a:prstGeom prst="rect">
            <a:avLst/>
          </a:prstGeom>
          <a:noFill/>
        </p:spPr>
        <p:txBody>
          <a:bodyPr wrap="none" rtlCol="0">
            <a:spAutoFit/>
          </a:bodyPr>
          <a:lstStyle/>
          <a:p>
            <a:r>
              <a:rPr lang="en-US" dirty="0">
                <a:highlight>
                  <a:srgbClr val="FF00FF"/>
                </a:highlight>
              </a:rPr>
              <a:t>In the case of concatenating based on </a:t>
            </a:r>
            <a:r>
              <a:rPr lang="en-US" dirty="0" err="1">
                <a:highlight>
                  <a:srgbClr val="FF00FF"/>
                </a:highlight>
              </a:rPr>
              <a:t>station_id</a:t>
            </a:r>
            <a:r>
              <a:rPr lang="en-US" dirty="0">
                <a:highlight>
                  <a:srgbClr val="FF00FF"/>
                </a:highlight>
              </a:rPr>
              <a:t>, not sure how to deal with the </a:t>
            </a:r>
            <a:r>
              <a:rPr lang="en-US" dirty="0" err="1">
                <a:highlight>
                  <a:srgbClr val="FF00FF"/>
                </a:highlight>
              </a:rPr>
              <a:t>native_id</a:t>
            </a:r>
            <a:endParaRPr lang="en-US" dirty="0">
              <a:highlight>
                <a:srgbClr val="FF00FF"/>
              </a:highlight>
            </a:endParaRPr>
          </a:p>
        </p:txBody>
      </p:sp>
      <p:sp>
        <p:nvSpPr>
          <p:cNvPr id="3" name="TextBox 2">
            <a:extLst>
              <a:ext uri="{FF2B5EF4-FFF2-40B4-BE49-F238E27FC236}">
                <a16:creationId xmlns:a16="http://schemas.microsoft.com/office/drawing/2014/main" id="{18004B47-AE89-D9E7-B6C2-51C7903AA975}"/>
              </a:ext>
            </a:extLst>
          </p:cNvPr>
          <p:cNvSpPr txBox="1"/>
          <p:nvPr/>
        </p:nvSpPr>
        <p:spPr>
          <a:xfrm>
            <a:off x="5291667" y="5825067"/>
            <a:ext cx="3585982" cy="369332"/>
          </a:xfrm>
          <a:prstGeom prst="rect">
            <a:avLst/>
          </a:prstGeom>
          <a:noFill/>
        </p:spPr>
        <p:txBody>
          <a:bodyPr wrap="none" rtlCol="0">
            <a:spAutoFit/>
          </a:bodyPr>
          <a:lstStyle/>
          <a:p>
            <a:r>
              <a:rPr lang="en-US" dirty="0">
                <a:highlight>
                  <a:srgbClr val="00FFFF"/>
                </a:highlight>
              </a:rPr>
              <a:t>Update the new stations’ </a:t>
            </a:r>
            <a:r>
              <a:rPr lang="en-US" dirty="0" err="1">
                <a:highlight>
                  <a:srgbClr val="00FFFF"/>
                </a:highlight>
              </a:rPr>
              <a:t>native_id</a:t>
            </a:r>
            <a:endParaRPr lang="en-US" dirty="0">
              <a:highlight>
                <a:srgbClr val="00FFFF"/>
              </a:highlight>
            </a:endParaRPr>
          </a:p>
        </p:txBody>
      </p:sp>
    </p:spTree>
    <p:extLst>
      <p:ext uri="{BB962C8B-B14F-4D97-AF65-F5344CB8AC3E}">
        <p14:creationId xmlns:p14="http://schemas.microsoft.com/office/powerpoint/2010/main" val="2174942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E2E2DC-8AFB-0E19-024A-7574D2E4068E}"/>
              </a:ext>
            </a:extLst>
          </p:cNvPr>
          <p:cNvSpPr txBox="1"/>
          <p:nvPr/>
        </p:nvSpPr>
        <p:spPr>
          <a:xfrm>
            <a:off x="333375" y="518160"/>
            <a:ext cx="10922000" cy="646331"/>
          </a:xfrm>
          <a:prstGeom prst="rect">
            <a:avLst/>
          </a:prstGeom>
          <a:noFill/>
        </p:spPr>
        <p:txBody>
          <a:bodyPr wrap="square" rtlCol="0">
            <a:spAutoFit/>
          </a:bodyPr>
          <a:lstStyle/>
          <a:p>
            <a:pPr marL="285750" indent="-285750">
              <a:buFont typeface="Arial" panose="020B0604020202020204" pitchFamily="34" charset="0"/>
              <a:buChar char="•"/>
            </a:pPr>
            <a:r>
              <a:rPr lang="en-CA" b="1" dirty="0"/>
              <a:t>Confirm data time series overlap with 12454, if the same then delete, if gap fill the concatenate into 12454, and then delete</a:t>
            </a:r>
            <a:endParaRPr lang="en-CA" dirty="0"/>
          </a:p>
        </p:txBody>
      </p:sp>
      <p:pic>
        <p:nvPicPr>
          <p:cNvPr id="6" name="Picture 5" descr="A screenshot of a computer&#10;&#10;AI-generated content may be incorrect.">
            <a:extLst>
              <a:ext uri="{FF2B5EF4-FFF2-40B4-BE49-F238E27FC236}">
                <a16:creationId xmlns:a16="http://schemas.microsoft.com/office/drawing/2014/main" id="{5DBF213E-CC70-EF47-7ACA-F8C38915888D}"/>
              </a:ext>
            </a:extLst>
          </p:cNvPr>
          <p:cNvPicPr>
            <a:picLocks noChangeAspect="1"/>
          </p:cNvPicPr>
          <p:nvPr/>
        </p:nvPicPr>
        <p:blipFill>
          <a:blip r:embed="rId2"/>
          <a:stretch>
            <a:fillRect/>
          </a:stretch>
        </p:blipFill>
        <p:spPr>
          <a:xfrm>
            <a:off x="1566334" y="2590408"/>
            <a:ext cx="8883226" cy="1677184"/>
          </a:xfrm>
          <a:prstGeom prst="rect">
            <a:avLst/>
          </a:prstGeom>
        </p:spPr>
      </p:pic>
      <p:sp>
        <p:nvSpPr>
          <p:cNvPr id="7" name="TextBox 6">
            <a:extLst>
              <a:ext uri="{FF2B5EF4-FFF2-40B4-BE49-F238E27FC236}">
                <a16:creationId xmlns:a16="http://schemas.microsoft.com/office/drawing/2014/main" id="{1137039B-F71E-AFD1-5F48-C8835A05382E}"/>
              </a:ext>
            </a:extLst>
          </p:cNvPr>
          <p:cNvSpPr txBox="1"/>
          <p:nvPr/>
        </p:nvSpPr>
        <p:spPr>
          <a:xfrm>
            <a:off x="841163" y="1304540"/>
            <a:ext cx="1113535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station has been concatenated into station 12454, and the original station has been deleted.</a:t>
            </a:r>
          </a:p>
          <a:p>
            <a:endParaRPr lang="en-US" dirty="0">
              <a:highlight>
                <a:srgbClr val="FFFF00"/>
              </a:highlight>
            </a:endParaRPr>
          </a:p>
          <a:p>
            <a:r>
              <a:rPr lang="en-US" dirty="0">
                <a:highlight>
                  <a:srgbClr val="FFFF00"/>
                </a:highlight>
              </a:rPr>
              <a:t>It is unclear whether a </a:t>
            </a:r>
            <a:r>
              <a:rPr lang="en-US" dirty="0" err="1">
                <a:highlight>
                  <a:srgbClr val="FFFF00"/>
                </a:highlight>
              </a:rPr>
              <a:t>native_id</a:t>
            </a:r>
            <a:r>
              <a:rPr lang="en-US" dirty="0">
                <a:highlight>
                  <a:srgbClr val="FFFF00"/>
                </a:highlight>
              </a:rPr>
              <a:t> or </a:t>
            </a:r>
            <a:r>
              <a:rPr lang="en-US" dirty="0" err="1">
                <a:highlight>
                  <a:srgbClr val="FFFF00"/>
                </a:highlight>
              </a:rPr>
              <a:t>station_name</a:t>
            </a:r>
            <a:r>
              <a:rPr lang="en-US" dirty="0">
                <a:highlight>
                  <a:srgbClr val="FFFF00"/>
                </a:highlight>
              </a:rPr>
              <a:t> update is required, as </a:t>
            </a:r>
            <a:r>
              <a:rPr lang="en-US" dirty="0" err="1">
                <a:highlight>
                  <a:srgbClr val="FFFF00"/>
                </a:highlight>
              </a:rPr>
              <a:t>native_id</a:t>
            </a:r>
            <a:r>
              <a:rPr lang="en-US" dirty="0">
                <a:highlight>
                  <a:srgbClr val="FFFF00"/>
                </a:highlight>
              </a:rPr>
              <a:t> 564 appears to exist under network 12.</a:t>
            </a:r>
          </a:p>
        </p:txBody>
      </p:sp>
      <p:pic>
        <p:nvPicPr>
          <p:cNvPr id="2" name="table">
            <a:extLst>
              <a:ext uri="{FF2B5EF4-FFF2-40B4-BE49-F238E27FC236}">
                <a16:creationId xmlns:a16="http://schemas.microsoft.com/office/drawing/2014/main" id="{CC54BB0A-F30B-7853-F8B9-785E795B96A8}"/>
              </a:ext>
            </a:extLst>
          </p:cNvPr>
          <p:cNvPicPr>
            <a:picLocks noChangeAspect="1"/>
          </p:cNvPicPr>
          <p:nvPr/>
        </p:nvPicPr>
        <p:blipFill>
          <a:blip r:embed="rId3"/>
          <a:stretch>
            <a:fillRect/>
          </a:stretch>
        </p:blipFill>
        <p:spPr>
          <a:xfrm>
            <a:off x="677334" y="4648201"/>
            <a:ext cx="10515600" cy="509086"/>
          </a:xfrm>
          <a:prstGeom prst="rect">
            <a:avLst/>
          </a:prstGeom>
        </p:spPr>
      </p:pic>
      <p:sp>
        <p:nvSpPr>
          <p:cNvPr id="3" name="TextBox 2">
            <a:extLst>
              <a:ext uri="{FF2B5EF4-FFF2-40B4-BE49-F238E27FC236}">
                <a16:creationId xmlns:a16="http://schemas.microsoft.com/office/drawing/2014/main" id="{F6A9D928-59BC-1A4E-7D60-3C267CC00EB0}"/>
              </a:ext>
            </a:extLst>
          </p:cNvPr>
          <p:cNvSpPr txBox="1"/>
          <p:nvPr/>
        </p:nvSpPr>
        <p:spPr>
          <a:xfrm>
            <a:off x="1066801" y="5554851"/>
            <a:ext cx="10016140" cy="92333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It shows concatenate with 12949, while this station itself is 12949…</a:t>
            </a:r>
          </a:p>
          <a:p>
            <a:endParaRPr lang="en-US" dirty="0"/>
          </a:p>
          <a:p>
            <a:r>
              <a:rPr lang="en-US" dirty="0">
                <a:highlight>
                  <a:srgbClr val="FFFF00"/>
                </a:highlight>
              </a:rPr>
              <a:t>How should I do with the </a:t>
            </a:r>
            <a:r>
              <a:rPr lang="en-US" dirty="0" err="1">
                <a:highlight>
                  <a:srgbClr val="FFFF00"/>
                </a:highlight>
              </a:rPr>
              <a:t>native_id</a:t>
            </a:r>
            <a:r>
              <a:rPr lang="en-US" dirty="0">
                <a:highlight>
                  <a:srgbClr val="FFFF00"/>
                </a:highlight>
              </a:rPr>
              <a:t> T050? Which is not exist. We want to update its </a:t>
            </a:r>
            <a:r>
              <a:rPr lang="en-US" dirty="0" err="1">
                <a:highlight>
                  <a:srgbClr val="FFFF00"/>
                </a:highlight>
              </a:rPr>
              <a:t>native_id</a:t>
            </a:r>
            <a:r>
              <a:rPr lang="en-US" dirty="0">
                <a:highlight>
                  <a:srgbClr val="FFFF00"/>
                </a:highlight>
              </a:rPr>
              <a:t> to T050?</a:t>
            </a:r>
          </a:p>
        </p:txBody>
      </p:sp>
      <p:sp>
        <p:nvSpPr>
          <p:cNvPr id="5" name="TextBox 4">
            <a:extLst>
              <a:ext uri="{FF2B5EF4-FFF2-40B4-BE49-F238E27FC236}">
                <a16:creationId xmlns:a16="http://schemas.microsoft.com/office/drawing/2014/main" id="{369F279A-6D26-901E-D789-D743BCD2AA41}"/>
              </a:ext>
            </a:extLst>
          </p:cNvPr>
          <p:cNvSpPr txBox="1"/>
          <p:nvPr/>
        </p:nvSpPr>
        <p:spPr>
          <a:xfrm>
            <a:off x="8390540" y="5647184"/>
            <a:ext cx="3585982" cy="369332"/>
          </a:xfrm>
          <a:prstGeom prst="rect">
            <a:avLst/>
          </a:prstGeom>
          <a:noFill/>
        </p:spPr>
        <p:txBody>
          <a:bodyPr wrap="none" rtlCol="0">
            <a:spAutoFit/>
          </a:bodyPr>
          <a:lstStyle/>
          <a:p>
            <a:r>
              <a:rPr lang="en-US" dirty="0">
                <a:highlight>
                  <a:srgbClr val="00FFFF"/>
                </a:highlight>
              </a:rPr>
              <a:t>Update the new stations’ </a:t>
            </a:r>
            <a:r>
              <a:rPr lang="en-US" dirty="0" err="1">
                <a:highlight>
                  <a:srgbClr val="00FFFF"/>
                </a:highlight>
              </a:rPr>
              <a:t>native_id</a:t>
            </a:r>
            <a:endParaRPr lang="en-US" dirty="0">
              <a:highlight>
                <a:srgbClr val="00FFFF"/>
              </a:highlight>
            </a:endParaRPr>
          </a:p>
        </p:txBody>
      </p:sp>
    </p:spTree>
    <p:extLst>
      <p:ext uri="{BB962C8B-B14F-4D97-AF65-F5344CB8AC3E}">
        <p14:creationId xmlns:p14="http://schemas.microsoft.com/office/powerpoint/2010/main" val="4072982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8">
            <a:extLst>
              <a:ext uri="{FF2B5EF4-FFF2-40B4-BE49-F238E27FC236}">
                <a16:creationId xmlns:a16="http://schemas.microsoft.com/office/drawing/2014/main" id="{5E6B468A-DBDA-4709-F459-8767F1851E42}"/>
              </a:ext>
            </a:extLst>
          </p:cNvPr>
          <p:cNvSpPr txBox="1"/>
          <p:nvPr/>
        </p:nvSpPr>
        <p:spPr>
          <a:xfrm>
            <a:off x="570383" y="1014466"/>
            <a:ext cx="10861288" cy="22159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b="1" dirty="0"/>
              <a:t>Amalgamated with 12559, then Delete</a:t>
            </a:r>
          </a:p>
          <a:p>
            <a:endParaRPr lang="en-CA" dirty="0"/>
          </a:p>
          <a:p>
            <a:pPr marL="285750" indent="-285750">
              <a:buFont typeface="Arial" panose="020B0604020202020204" pitchFamily="34" charset="0"/>
              <a:buChar char="•"/>
            </a:pPr>
            <a:r>
              <a:rPr lang="en-CA" sz="1600" dirty="0"/>
              <a:t>Info: E304453 -&gt; AFU, Peace Valley </a:t>
            </a:r>
            <a:r>
              <a:rPr lang="en-CA" sz="1600" dirty="0" err="1"/>
              <a:t>Attachie</a:t>
            </a:r>
            <a:r>
              <a:rPr lang="en-CA" sz="1600" dirty="0"/>
              <a:t> Flat Upper Terrace_60 -&gt; Peace Valley </a:t>
            </a:r>
            <a:r>
              <a:rPr lang="en-CA" sz="1600" dirty="0" err="1"/>
              <a:t>Attachie</a:t>
            </a:r>
            <a:r>
              <a:rPr lang="en-CA" sz="1600" dirty="0"/>
              <a:t> Flat Upper Terrace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highlight>
                  <a:srgbClr val="FFFF00"/>
                </a:highlight>
              </a:rPr>
              <a:t>The new station </a:t>
            </a:r>
            <a:r>
              <a:rPr lang="en-CA" sz="1600" dirty="0">
                <a:highlight>
                  <a:srgbClr val="FFFF00"/>
                </a:highlight>
              </a:rPr>
              <a:t>12559’s </a:t>
            </a:r>
            <a:r>
              <a:rPr lang="en-CA" sz="1600" dirty="0" err="1">
                <a:highlight>
                  <a:srgbClr val="FFFF00"/>
                </a:highlight>
              </a:rPr>
              <a:t>native_id</a:t>
            </a:r>
            <a:r>
              <a:rPr lang="en-CA" sz="1600" dirty="0">
                <a:highlight>
                  <a:srgbClr val="FFFF00"/>
                </a:highlight>
              </a:rPr>
              <a:t> is ‘Peace Valley </a:t>
            </a:r>
            <a:r>
              <a:rPr lang="en-CA" sz="1600" dirty="0" err="1">
                <a:highlight>
                  <a:srgbClr val="FFFF00"/>
                </a:highlight>
              </a:rPr>
              <a:t>Attachie</a:t>
            </a:r>
            <a:r>
              <a:rPr lang="en-CA" sz="1600" dirty="0">
                <a:highlight>
                  <a:srgbClr val="FFFF00"/>
                </a:highlight>
              </a:rPr>
              <a:t> Flat Upper Terrace’. Change it to AFU? </a:t>
            </a:r>
          </a:p>
          <a:p>
            <a:pPr marL="285750" indent="-285750">
              <a:buFont typeface="Arial" panose="020B0604020202020204" pitchFamily="34" charset="0"/>
              <a:buChar char="•"/>
            </a:pPr>
            <a:endParaRPr lang="en-CA" sz="1600" dirty="0"/>
          </a:p>
          <a:p>
            <a:pPr marL="285750" indent="-285750">
              <a:buFont typeface="Arial" panose="020B0604020202020204" pitchFamily="34" charset="0"/>
              <a:buChar char="•"/>
            </a:pPr>
            <a:r>
              <a:rPr lang="en-CA" sz="1600" dirty="0"/>
              <a:t>I checked the </a:t>
            </a:r>
            <a:r>
              <a:rPr lang="en-CA" sz="1600" dirty="0" err="1"/>
              <a:t>native_id</a:t>
            </a:r>
            <a:r>
              <a:rPr lang="en-CA" sz="1600" dirty="0"/>
              <a:t> AFU: it is under </a:t>
            </a:r>
            <a:r>
              <a:rPr lang="en-US" sz="1600" dirty="0"/>
              <a:t>5,BCH-GSO-HMP, with </a:t>
            </a:r>
            <a:r>
              <a:rPr lang="en-US" sz="1600" dirty="0" err="1"/>
              <a:t>station_id</a:t>
            </a:r>
            <a:r>
              <a:rPr lang="en-US" sz="1600" dirty="0"/>
              <a:t> 12342</a:t>
            </a:r>
          </a:p>
          <a:p>
            <a:endParaRPr lang="en-US" dirty="0"/>
          </a:p>
        </p:txBody>
      </p:sp>
      <p:sp>
        <p:nvSpPr>
          <p:cNvPr id="2" name="TextBox 2">
            <a:extLst>
              <a:ext uri="{FF2B5EF4-FFF2-40B4-BE49-F238E27FC236}">
                <a16:creationId xmlns:a16="http://schemas.microsoft.com/office/drawing/2014/main" id="{18004B47-AE89-D9E7-B6C2-51C7903AA975}"/>
              </a:ext>
            </a:extLst>
          </p:cNvPr>
          <p:cNvSpPr txBox="1"/>
          <p:nvPr/>
        </p:nvSpPr>
        <p:spPr>
          <a:xfrm>
            <a:off x="3855748" y="3790986"/>
            <a:ext cx="6354047"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highlight>
                  <a:srgbClr val="00FFFF"/>
                </a:highlight>
              </a:rPr>
              <a:t>Update the new stations’ </a:t>
            </a:r>
            <a:r>
              <a:rPr lang="en-US" dirty="0" err="1">
                <a:highlight>
                  <a:srgbClr val="00FFFF"/>
                </a:highlight>
              </a:rPr>
              <a:t>native_id</a:t>
            </a:r>
            <a:r>
              <a:rPr lang="en-US" dirty="0">
                <a:highlight>
                  <a:srgbClr val="00FFFF"/>
                </a:highlight>
              </a:rPr>
              <a:t> to AFU, name to </a:t>
            </a:r>
            <a:r>
              <a:rPr lang="en-US" dirty="0" err="1">
                <a:highlight>
                  <a:srgbClr val="00FFFF"/>
                </a:highlight>
              </a:rPr>
              <a:t>new_name</a:t>
            </a:r>
            <a:endParaRPr lang="en-US" dirty="0">
              <a:highlight>
                <a:srgbClr val="00FFFF"/>
              </a:highlight>
            </a:endParaRPr>
          </a:p>
        </p:txBody>
      </p:sp>
    </p:spTree>
    <p:extLst>
      <p:ext uri="{BB962C8B-B14F-4D97-AF65-F5344CB8AC3E}">
        <p14:creationId xmlns:p14="http://schemas.microsoft.com/office/powerpoint/2010/main" val="289168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1EB96-7795-72AD-335E-5D7905E7C929}"/>
              </a:ext>
            </a:extLst>
          </p:cNvPr>
          <p:cNvSpPr txBox="1"/>
          <p:nvPr/>
        </p:nvSpPr>
        <p:spPr>
          <a:xfrm>
            <a:off x="426721" y="314960"/>
            <a:ext cx="11043919" cy="1815882"/>
          </a:xfrm>
          <a:prstGeom prst="rect">
            <a:avLst/>
          </a:prstGeom>
          <a:noFill/>
        </p:spPr>
        <p:txBody>
          <a:bodyPr wrap="square" rtlCol="0">
            <a:spAutoFit/>
          </a:bodyPr>
          <a:lstStyle/>
          <a:p>
            <a:pPr marL="285750" indent="-285750">
              <a:buFont typeface="Arial" panose="020B0604020202020204" pitchFamily="34" charset="0"/>
              <a:buChar char="•"/>
            </a:pPr>
            <a:r>
              <a:rPr lang="en-CA" sz="1400" dirty="0"/>
              <a:t>Confirm data time series overlap with 12442. If data time series is the same then delete, </a:t>
            </a:r>
            <a:r>
              <a:rPr lang="en-CA" sz="1400" dirty="0">
                <a:solidFill>
                  <a:srgbClr val="FF0000"/>
                </a:solidFill>
              </a:rPr>
              <a:t>if not then concatenate with 12442 into the Additional PRPA station (ENV Native ID 547) and delete</a:t>
            </a:r>
          </a:p>
          <a:p>
            <a:endParaRPr lang="en-CA" sz="1400" dirty="0"/>
          </a:p>
          <a:p>
            <a:pPr marL="285750" indent="-285750">
              <a:buFont typeface="Arial" panose="020B0604020202020204" pitchFamily="34" charset="0"/>
              <a:buChar char="•"/>
            </a:pPr>
            <a:r>
              <a:rPr lang="en-CA" sz="1400" dirty="0"/>
              <a:t>Confirm data time series overlap with 12568. If data time series is the same then delete 12568, if not then concatenate with 12568 into the Additional PRPA station (ENV Native ID 547) and delete."]</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dirty="0"/>
              <a:t>Additional (see stations 12568 and 12442), </a:t>
            </a:r>
            <a:r>
              <a:rPr lang="en-CA" sz="1400" dirty="0" err="1"/>
              <a:t>native_id</a:t>
            </a:r>
            <a:r>
              <a:rPr lang="en-CA" sz="1400" dirty="0"/>
              <a:t>: 547</a:t>
            </a:r>
          </a:p>
          <a:p>
            <a:endParaRPr lang="en-CA" sz="1400" dirty="0"/>
          </a:p>
        </p:txBody>
      </p:sp>
      <p:grpSp>
        <p:nvGrpSpPr>
          <p:cNvPr id="9" name="Group 8">
            <a:extLst>
              <a:ext uri="{FF2B5EF4-FFF2-40B4-BE49-F238E27FC236}">
                <a16:creationId xmlns:a16="http://schemas.microsoft.com/office/drawing/2014/main" id="{BCA72133-1CC1-87B4-52B2-0080516E7DBF}"/>
              </a:ext>
            </a:extLst>
          </p:cNvPr>
          <p:cNvGrpSpPr/>
          <p:nvPr/>
        </p:nvGrpSpPr>
        <p:grpSpPr>
          <a:xfrm>
            <a:off x="918846" y="2130842"/>
            <a:ext cx="9718674" cy="1906270"/>
            <a:chOff x="721360" y="1177707"/>
            <a:chExt cx="9718674" cy="1906270"/>
          </a:xfrm>
        </p:grpSpPr>
        <p:pic>
          <p:nvPicPr>
            <p:cNvPr id="6" name="Picture 5" descr="A screenshot of a computer&#10;&#10;AI-generated content may be incorrect.">
              <a:extLst>
                <a:ext uri="{FF2B5EF4-FFF2-40B4-BE49-F238E27FC236}">
                  <a16:creationId xmlns:a16="http://schemas.microsoft.com/office/drawing/2014/main" id="{EC841E27-FBA9-FE91-6184-E03CDBCA2C13}"/>
                </a:ext>
              </a:extLst>
            </p:cNvPr>
            <p:cNvPicPr>
              <a:picLocks noChangeAspect="1"/>
            </p:cNvPicPr>
            <p:nvPr/>
          </p:nvPicPr>
          <p:blipFill>
            <a:blip r:embed="rId2"/>
            <a:stretch>
              <a:fillRect/>
            </a:stretch>
          </p:blipFill>
          <p:spPr>
            <a:xfrm>
              <a:off x="721360" y="1177707"/>
              <a:ext cx="9718674" cy="1906270"/>
            </a:xfrm>
            <a:prstGeom prst="rect">
              <a:avLst/>
            </a:prstGeom>
          </p:spPr>
        </p:pic>
        <p:sp>
          <p:nvSpPr>
            <p:cNvPr id="7" name="Rectangle 6">
              <a:extLst>
                <a:ext uri="{FF2B5EF4-FFF2-40B4-BE49-F238E27FC236}">
                  <a16:creationId xmlns:a16="http://schemas.microsoft.com/office/drawing/2014/main" id="{D80BB614-10A6-18EC-E459-1B57639EEE93}"/>
                </a:ext>
              </a:extLst>
            </p:cNvPr>
            <p:cNvSpPr/>
            <p:nvPr/>
          </p:nvSpPr>
          <p:spPr>
            <a:xfrm>
              <a:off x="6096000" y="2291502"/>
              <a:ext cx="4216400" cy="64325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E31A4841-C4AE-F1EC-48DC-B001102F7219}"/>
              </a:ext>
            </a:extLst>
          </p:cNvPr>
          <p:cNvSpPr txBox="1"/>
          <p:nvPr/>
        </p:nvSpPr>
        <p:spPr>
          <a:xfrm>
            <a:off x="784012" y="4501991"/>
            <a:ext cx="10329335" cy="2031325"/>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Have inserted the new station, have concatenated concatenate according to station id, have deleted the old ones.</a:t>
            </a:r>
          </a:p>
          <a:p>
            <a:pPr marL="285750" indent="-285750">
              <a:spcBef>
                <a:spcPts val="600"/>
              </a:spcBef>
              <a:spcAft>
                <a:spcPts val="600"/>
              </a:spcAft>
              <a:buFont typeface="Arial" panose="020B0604020202020204" pitchFamily="34" charset="0"/>
              <a:buChar char="•"/>
            </a:pPr>
            <a:r>
              <a:rPr lang="en-US" sz="1600" dirty="0">
                <a:highlight>
                  <a:srgbClr val="FFFF00"/>
                </a:highlight>
              </a:rPr>
              <a:t>The </a:t>
            </a:r>
            <a:r>
              <a:rPr lang="en-US" sz="1600" dirty="0" err="1">
                <a:highlight>
                  <a:srgbClr val="FFFF00"/>
                </a:highlight>
              </a:rPr>
              <a:t>native_id</a:t>
            </a:r>
            <a:r>
              <a:rPr lang="en-US" sz="1600" dirty="0">
                <a:highlight>
                  <a:srgbClr val="FFFF00"/>
                </a:highlight>
              </a:rPr>
              <a:t> 547 already exists in PCDS under network 12 (FLNRO-WMB). What </a:t>
            </a:r>
            <a:r>
              <a:rPr lang="en-US" sz="1600" dirty="0" err="1">
                <a:highlight>
                  <a:srgbClr val="FFFF00"/>
                </a:highlight>
              </a:rPr>
              <a:t>native_id</a:t>
            </a:r>
            <a:r>
              <a:rPr lang="en-US" sz="1600" dirty="0">
                <a:highlight>
                  <a:srgbClr val="FFFF00"/>
                </a:highlight>
              </a:rPr>
              <a:t> means? Why same one under different network? </a:t>
            </a:r>
          </a:p>
          <a:p>
            <a:pPr marL="285750" indent="-285750">
              <a:spcBef>
                <a:spcPts val="600"/>
              </a:spcBef>
              <a:spcAft>
                <a:spcPts val="600"/>
              </a:spcAft>
              <a:buFont typeface="Arial" panose="020B0604020202020204" pitchFamily="34" charset="0"/>
              <a:buChar char="•"/>
            </a:pPr>
            <a:r>
              <a:rPr lang="en-US" sz="1600" dirty="0"/>
              <a:t>Caution: Always double-check record counts and time coverage before deleting old stations.</a:t>
            </a:r>
          </a:p>
          <a:p>
            <a:pPr marL="285750" indent="-285750">
              <a:spcBef>
                <a:spcPts val="600"/>
              </a:spcBef>
              <a:spcAft>
                <a:spcPts val="600"/>
              </a:spcAft>
              <a:buFont typeface="Arial" panose="020B0604020202020204" pitchFamily="34" charset="0"/>
              <a:buChar char="•"/>
            </a:pPr>
            <a:endParaRPr lang="en-US" sz="1600" dirty="0"/>
          </a:p>
        </p:txBody>
      </p:sp>
      <p:sp>
        <p:nvSpPr>
          <p:cNvPr id="3" name="TextBox 2">
            <a:extLst>
              <a:ext uri="{FF2B5EF4-FFF2-40B4-BE49-F238E27FC236}">
                <a16:creationId xmlns:a16="http://schemas.microsoft.com/office/drawing/2014/main" id="{18004B47-AE89-D9E7-B6C2-51C7903AA975}"/>
              </a:ext>
            </a:extLst>
          </p:cNvPr>
          <p:cNvSpPr txBox="1"/>
          <p:nvPr/>
        </p:nvSpPr>
        <p:spPr>
          <a:xfrm>
            <a:off x="8401686" y="5668328"/>
            <a:ext cx="3762120"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highlight>
                  <a:srgbClr val="00FFFF"/>
                </a:highlight>
              </a:rPr>
              <a:t>Update the new stations’ </a:t>
            </a:r>
            <a:r>
              <a:rPr lang="en-US" dirty="0" err="1">
                <a:highlight>
                  <a:srgbClr val="00FFFF"/>
                </a:highlight>
              </a:rPr>
              <a:t>native_id</a:t>
            </a:r>
            <a:r>
              <a:rPr lang="en-US" dirty="0">
                <a:highlight>
                  <a:srgbClr val="00FFFF"/>
                </a:highlight>
              </a:rPr>
              <a:t>,</a:t>
            </a:r>
          </a:p>
          <a:p>
            <a:r>
              <a:rPr lang="en-US" dirty="0">
                <a:highlight>
                  <a:srgbClr val="00FFFF"/>
                </a:highlight>
              </a:rPr>
              <a:t>Different network, so doesn’t matter</a:t>
            </a:r>
          </a:p>
        </p:txBody>
      </p:sp>
    </p:spTree>
    <p:extLst>
      <p:ext uri="{BB962C8B-B14F-4D97-AF65-F5344CB8AC3E}">
        <p14:creationId xmlns:p14="http://schemas.microsoft.com/office/powerpoint/2010/main" val="1934028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7AACC-D554-F8C1-139E-5325442176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46698-6607-13C8-DA76-7E50493B2089}"/>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Missing data</a:t>
            </a:r>
          </a:p>
        </p:txBody>
      </p:sp>
      <p:sp>
        <p:nvSpPr>
          <p:cNvPr id="8" name="TextBox 7">
            <a:extLst>
              <a:ext uri="{FF2B5EF4-FFF2-40B4-BE49-F238E27FC236}">
                <a16:creationId xmlns:a16="http://schemas.microsoft.com/office/drawing/2014/main" id="{91C0B7EC-CA0C-1983-995E-12A8F6919B1E}"/>
              </a:ext>
            </a:extLst>
          </p:cNvPr>
          <p:cNvSpPr txBox="1"/>
          <p:nvPr/>
        </p:nvSpPr>
        <p:spPr>
          <a:xfrm>
            <a:off x="1031774" y="4476138"/>
            <a:ext cx="10329335" cy="338554"/>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The Missing data, anything we should or can do?</a:t>
            </a:r>
          </a:p>
        </p:txBody>
      </p:sp>
      <p:sp>
        <p:nvSpPr>
          <p:cNvPr id="4" name="TextBox 3">
            <a:extLst>
              <a:ext uri="{FF2B5EF4-FFF2-40B4-BE49-F238E27FC236}">
                <a16:creationId xmlns:a16="http://schemas.microsoft.com/office/drawing/2014/main" id="{219FF110-DF07-80D7-0C8F-86C155C71381}"/>
              </a:ext>
            </a:extLst>
          </p:cNvPr>
          <p:cNvSpPr txBox="1"/>
          <p:nvPr/>
        </p:nvSpPr>
        <p:spPr>
          <a:xfrm>
            <a:off x="1031774" y="5161132"/>
            <a:ext cx="6330152" cy="1169551"/>
          </a:xfrm>
          <a:prstGeom prst="rect">
            <a:avLst/>
          </a:prstGeom>
          <a:noFill/>
        </p:spPr>
        <p:txBody>
          <a:bodyPr wrap="square" rtlCol="0">
            <a:spAutoFit/>
          </a:bodyPr>
          <a:lstStyle/>
          <a:p>
            <a:r>
              <a:rPr lang="en-CA" sz="1400" dirty="0">
                <a:highlight>
                  <a:srgbClr val="00FF00"/>
                </a:highlight>
              </a:rPr>
              <a:t>I think the best way to go is to make the attribution changes, then outline the stations where you have no data – this should be communicated to my replacement with a timeline attached for when the data should be reported and when it could be appended into the PCDS – they would then communicate this to the Network Coordinators.</a:t>
            </a:r>
          </a:p>
        </p:txBody>
      </p:sp>
      <p:pic>
        <p:nvPicPr>
          <p:cNvPr id="5" name="Picture 4" descr="A screenshot of a computer&#10;&#10;AI-generated content may be incorrect.">
            <a:extLst>
              <a:ext uri="{FF2B5EF4-FFF2-40B4-BE49-F238E27FC236}">
                <a16:creationId xmlns:a16="http://schemas.microsoft.com/office/drawing/2014/main" id="{893FD335-93D7-F081-15A0-3529187B765A}"/>
              </a:ext>
            </a:extLst>
          </p:cNvPr>
          <p:cNvPicPr>
            <a:picLocks noChangeAspect="1"/>
          </p:cNvPicPr>
          <p:nvPr/>
        </p:nvPicPr>
        <p:blipFill>
          <a:blip r:embed="rId2"/>
          <a:stretch>
            <a:fillRect/>
          </a:stretch>
        </p:blipFill>
        <p:spPr>
          <a:xfrm>
            <a:off x="1858249" y="736680"/>
            <a:ext cx="7772400" cy="3566238"/>
          </a:xfrm>
          <a:prstGeom prst="rect">
            <a:avLst/>
          </a:prstGeom>
        </p:spPr>
      </p:pic>
      <p:sp>
        <p:nvSpPr>
          <p:cNvPr id="11" name="TextBox 10">
            <a:extLst>
              <a:ext uri="{FF2B5EF4-FFF2-40B4-BE49-F238E27FC236}">
                <a16:creationId xmlns:a16="http://schemas.microsoft.com/office/drawing/2014/main" id="{4631A258-8398-AE3A-30B9-BA4E76F20EB9}"/>
              </a:ext>
            </a:extLst>
          </p:cNvPr>
          <p:cNvSpPr txBox="1"/>
          <p:nvPr/>
        </p:nvSpPr>
        <p:spPr>
          <a:xfrm>
            <a:off x="8255000" y="5723467"/>
            <a:ext cx="3632213" cy="369332"/>
          </a:xfrm>
          <a:prstGeom prst="rect">
            <a:avLst/>
          </a:prstGeom>
          <a:noFill/>
        </p:spPr>
        <p:txBody>
          <a:bodyPr wrap="none" rtlCol="0">
            <a:spAutoFit/>
          </a:bodyPr>
          <a:lstStyle/>
          <a:p>
            <a:r>
              <a:rPr lang="en-US" dirty="0">
                <a:highlight>
                  <a:srgbClr val="00FFFF"/>
                </a:highlight>
              </a:rPr>
              <a:t>Update data records, in the future?</a:t>
            </a:r>
          </a:p>
        </p:txBody>
      </p:sp>
      <p:sp>
        <p:nvSpPr>
          <p:cNvPr id="12" name="TextBox 11">
            <a:extLst>
              <a:ext uri="{FF2B5EF4-FFF2-40B4-BE49-F238E27FC236}">
                <a16:creationId xmlns:a16="http://schemas.microsoft.com/office/drawing/2014/main" id="{82D82612-96A1-AEDC-2569-3F6E384C89C9}"/>
              </a:ext>
            </a:extLst>
          </p:cNvPr>
          <p:cNvSpPr txBox="1"/>
          <p:nvPr/>
        </p:nvSpPr>
        <p:spPr>
          <a:xfrm>
            <a:off x="7842476" y="6353699"/>
            <a:ext cx="4349524" cy="369332"/>
          </a:xfrm>
          <a:prstGeom prst="rect">
            <a:avLst/>
          </a:prstGeom>
          <a:noFill/>
        </p:spPr>
        <p:txBody>
          <a:bodyPr wrap="none" rtlCol="0">
            <a:spAutoFit/>
          </a:bodyPr>
          <a:lstStyle/>
          <a:p>
            <a:r>
              <a:rPr lang="en-US" dirty="0">
                <a:highlight>
                  <a:srgbClr val="00FFFF"/>
                </a:highlight>
              </a:rPr>
              <a:t>For all stations, records each year </a:t>
            </a:r>
            <a:r>
              <a:rPr lang="en-US" dirty="0" err="1">
                <a:highlight>
                  <a:srgbClr val="00FFFF"/>
                </a:highlight>
              </a:rPr>
              <a:t>obs</a:t>
            </a:r>
            <a:r>
              <a:rPr lang="en-US" dirty="0">
                <a:highlight>
                  <a:srgbClr val="00FFFF"/>
                </a:highlight>
              </a:rPr>
              <a:t> gap</a:t>
            </a:r>
          </a:p>
        </p:txBody>
      </p:sp>
    </p:spTree>
    <p:extLst>
      <p:ext uri="{BB962C8B-B14F-4D97-AF65-F5344CB8AC3E}">
        <p14:creationId xmlns:p14="http://schemas.microsoft.com/office/powerpoint/2010/main" val="3046623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A75C1F48-AE18-79CB-E881-15983FBB7D64}"/>
              </a:ext>
            </a:extLst>
          </p:cNvPr>
          <p:cNvPicPr>
            <a:picLocks noChangeAspect="1"/>
          </p:cNvPicPr>
          <p:nvPr/>
        </p:nvPicPr>
        <p:blipFill>
          <a:blip r:embed="rId2"/>
          <a:stretch>
            <a:fillRect/>
          </a:stretch>
        </p:blipFill>
        <p:spPr>
          <a:xfrm>
            <a:off x="2413024" y="431800"/>
            <a:ext cx="6954089" cy="6239933"/>
          </a:xfrm>
          <a:prstGeom prst="rect">
            <a:avLst/>
          </a:prstGeom>
        </p:spPr>
      </p:pic>
    </p:spTree>
    <p:extLst>
      <p:ext uri="{BB962C8B-B14F-4D97-AF65-F5344CB8AC3E}">
        <p14:creationId xmlns:p14="http://schemas.microsoft.com/office/powerpoint/2010/main" val="3600475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1AF06-24B6-4A0B-B4EB-CAB3C6730015}"/>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E4146367-05CD-2E77-7CFE-B827E5F3727D}"/>
              </a:ext>
            </a:extLst>
          </p:cNvPr>
          <p:cNvPicPr>
            <a:picLocks noChangeAspect="1"/>
          </p:cNvPicPr>
          <p:nvPr/>
        </p:nvPicPr>
        <p:blipFill>
          <a:blip r:embed="rId2"/>
          <a:stretch>
            <a:fillRect/>
          </a:stretch>
        </p:blipFill>
        <p:spPr>
          <a:xfrm>
            <a:off x="702526" y="1762537"/>
            <a:ext cx="9322419" cy="2275617"/>
          </a:xfrm>
          <a:prstGeom prst="rect">
            <a:avLst/>
          </a:prstGeom>
        </p:spPr>
      </p:pic>
      <p:sp>
        <p:nvSpPr>
          <p:cNvPr id="9" name="TextBox 8">
            <a:extLst>
              <a:ext uri="{FF2B5EF4-FFF2-40B4-BE49-F238E27FC236}">
                <a16:creationId xmlns:a16="http://schemas.microsoft.com/office/drawing/2014/main" id="{DC3952EF-5746-A56A-C800-5F10A5A16F74}"/>
              </a:ext>
            </a:extLst>
          </p:cNvPr>
          <p:cNvSpPr txBox="1"/>
          <p:nvPr/>
        </p:nvSpPr>
        <p:spPr>
          <a:xfrm>
            <a:off x="462983" y="4202970"/>
            <a:ext cx="10001817" cy="1200329"/>
          </a:xfrm>
          <a:prstGeom prst="rect">
            <a:avLst/>
          </a:prstGeom>
          <a:noFill/>
        </p:spPr>
        <p:txBody>
          <a:bodyPr wrap="square" rtlCol="0">
            <a:spAutoFit/>
          </a:bodyPr>
          <a:lstStyle/>
          <a:p>
            <a:pPr marL="285750" indent="-285750">
              <a:buFont typeface="Arial" panose="020B0604020202020204" pitchFamily="34" charset="0"/>
              <a:buChar char="•"/>
            </a:pPr>
            <a:r>
              <a:rPr lang="en-US" dirty="0">
                <a:highlight>
                  <a:srgbClr val="FFFF00"/>
                </a:highlight>
              </a:rPr>
              <a:t>These old stations have no data records (the last one don’t have meta data, the others have). What do we want to do?</a:t>
            </a:r>
          </a:p>
          <a:p>
            <a:pPr marL="285750" indent="-285750">
              <a:buFont typeface="Arial" panose="020B0604020202020204" pitchFamily="34" charset="0"/>
              <a:buChar char="•"/>
            </a:pPr>
            <a:endParaRPr lang="en-US" dirty="0">
              <a:highlight>
                <a:srgbClr val="FFFF00"/>
              </a:highlight>
            </a:endParaRPr>
          </a:p>
          <a:p>
            <a:pPr marL="285750" indent="-285750">
              <a:buFont typeface="Arial" panose="020B0604020202020204" pitchFamily="34" charset="0"/>
              <a:buChar char="•"/>
            </a:pPr>
            <a:r>
              <a:rPr lang="en-US" dirty="0">
                <a:highlight>
                  <a:srgbClr val="FFFF00"/>
                </a:highlight>
              </a:rPr>
              <a:t>What delete reference to means?</a:t>
            </a:r>
          </a:p>
        </p:txBody>
      </p:sp>
      <p:sp>
        <p:nvSpPr>
          <p:cNvPr id="10" name="TextBox 9">
            <a:extLst>
              <a:ext uri="{FF2B5EF4-FFF2-40B4-BE49-F238E27FC236}">
                <a16:creationId xmlns:a16="http://schemas.microsoft.com/office/drawing/2014/main" id="{3C86ECC1-41B2-B112-E9BD-771D4B21EF6B}"/>
              </a:ext>
            </a:extLst>
          </p:cNvPr>
          <p:cNvSpPr txBox="1"/>
          <p:nvPr/>
        </p:nvSpPr>
        <p:spPr>
          <a:xfrm>
            <a:off x="755374" y="785191"/>
            <a:ext cx="3953903" cy="369332"/>
          </a:xfrm>
          <a:prstGeom prst="rect">
            <a:avLst/>
          </a:prstGeom>
          <a:noFill/>
        </p:spPr>
        <p:txBody>
          <a:bodyPr wrap="none" rtlCol="0">
            <a:spAutoFit/>
          </a:bodyPr>
          <a:lstStyle/>
          <a:p>
            <a:pPr marL="285750" indent="-285750">
              <a:buFont typeface="Arial" panose="020B0604020202020204" pitchFamily="34" charset="0"/>
              <a:buChar char="•"/>
            </a:pPr>
            <a:r>
              <a:rPr lang="en-CA" b="1" dirty="0"/>
              <a:t>Attribution, Delete Reference to *</a:t>
            </a:r>
            <a:endParaRPr lang="en-US" b="1" dirty="0"/>
          </a:p>
        </p:txBody>
      </p:sp>
      <p:sp>
        <p:nvSpPr>
          <p:cNvPr id="2" name="TextBox 1">
            <a:extLst>
              <a:ext uri="{FF2B5EF4-FFF2-40B4-BE49-F238E27FC236}">
                <a16:creationId xmlns:a16="http://schemas.microsoft.com/office/drawing/2014/main" id="{83EC8134-665D-C9C5-E5A5-0C9F3B68986A}"/>
              </a:ext>
            </a:extLst>
          </p:cNvPr>
          <p:cNvSpPr txBox="1"/>
          <p:nvPr/>
        </p:nvSpPr>
        <p:spPr>
          <a:xfrm>
            <a:off x="1989667" y="5969000"/>
            <a:ext cx="1136850" cy="369332"/>
          </a:xfrm>
          <a:prstGeom prst="rect">
            <a:avLst/>
          </a:prstGeom>
          <a:noFill/>
        </p:spPr>
        <p:txBody>
          <a:bodyPr wrap="none" rtlCol="0">
            <a:spAutoFit/>
          </a:bodyPr>
          <a:lstStyle/>
          <a:p>
            <a:r>
              <a:rPr lang="en-US" dirty="0">
                <a:highlight>
                  <a:srgbClr val="00FFFF"/>
                </a:highlight>
              </a:rPr>
              <a:t>Neglect it</a:t>
            </a:r>
          </a:p>
        </p:txBody>
      </p:sp>
    </p:spTree>
    <p:extLst>
      <p:ext uri="{BB962C8B-B14F-4D97-AF65-F5344CB8AC3E}">
        <p14:creationId xmlns:p14="http://schemas.microsoft.com/office/powerpoint/2010/main" val="1051304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38BEE4-C8BC-EAE4-2834-71A4C8CE3287}"/>
              </a:ext>
            </a:extLst>
          </p:cNvPr>
          <p:cNvSpPr txBox="1"/>
          <p:nvPr/>
        </p:nvSpPr>
        <p:spPr>
          <a:xfrm>
            <a:off x="536713" y="971402"/>
            <a:ext cx="8840946" cy="738664"/>
          </a:xfrm>
          <a:prstGeom prst="rect">
            <a:avLst/>
          </a:prstGeom>
          <a:noFill/>
        </p:spPr>
        <p:txBody>
          <a:bodyPr wrap="none" rtlCol="0">
            <a:spAutoFit/>
          </a:bodyPr>
          <a:lstStyle/>
          <a:p>
            <a:pPr marL="285750" indent="-285750">
              <a:buFont typeface="Arial" panose="020B0604020202020204" pitchFamily="34" charset="0"/>
              <a:buChar char="•"/>
            </a:pPr>
            <a:r>
              <a:rPr lang="en-CA" sz="1400" dirty="0"/>
              <a:t>"Additional - Responsibility Change - move any data from 2436 collected from Octo0ber 1, 2022 to this site",</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dirty="0"/>
              <a:t>'Site CLOSED - Move all data collected post October 1, 2022 to new ENV-ASP site "Breanda Mines" Line 1718'</a:t>
            </a:r>
          </a:p>
        </p:txBody>
      </p:sp>
      <p:sp>
        <p:nvSpPr>
          <p:cNvPr id="5" name="TextBox 4">
            <a:extLst>
              <a:ext uri="{FF2B5EF4-FFF2-40B4-BE49-F238E27FC236}">
                <a16:creationId xmlns:a16="http://schemas.microsoft.com/office/drawing/2014/main" id="{EB2BBE6B-EC16-6857-A5D3-94F8CF7FFBCB}"/>
              </a:ext>
            </a:extLst>
          </p:cNvPr>
          <p:cNvSpPr txBox="1"/>
          <p:nvPr/>
        </p:nvSpPr>
        <p:spPr>
          <a:xfrm>
            <a:off x="679174" y="1948071"/>
            <a:ext cx="10833651" cy="954107"/>
          </a:xfrm>
          <a:prstGeom prst="rect">
            <a:avLst/>
          </a:prstGeom>
          <a:solidFill>
            <a:schemeClr val="bg1">
              <a:lumMod val="85000"/>
            </a:schemeClr>
          </a:solidFill>
        </p:spPr>
        <p:txBody>
          <a:bodyPr wrap="square" rtlCol="0">
            <a:spAutoFit/>
          </a:bodyPr>
          <a:lstStyle/>
          <a:p>
            <a:pPr marL="285750" indent="-285750">
              <a:buFontTx/>
              <a:buChar char="-"/>
            </a:pPr>
            <a:r>
              <a:rPr lang="en-US" sz="1400" dirty="0"/>
              <a:t>I build the new station </a:t>
            </a:r>
            <a:r>
              <a:rPr lang="en-CA" sz="1400" dirty="0"/>
              <a:t>"Breanda Mines"</a:t>
            </a:r>
            <a:r>
              <a:rPr lang="en-US" sz="1400" dirty="0"/>
              <a:t> first, then select all data after Oct 1 of the closed station, points to the new station.</a:t>
            </a:r>
          </a:p>
          <a:p>
            <a:pPr marL="285750" indent="-285750">
              <a:buFontTx/>
              <a:buChar char="-"/>
            </a:pPr>
            <a:endParaRPr lang="en-US" sz="1400" dirty="0">
              <a:highlight>
                <a:srgbClr val="FFFF00"/>
              </a:highlight>
            </a:endParaRPr>
          </a:p>
          <a:p>
            <a:pPr marL="285750" indent="-285750">
              <a:buFontTx/>
              <a:buChar char="-"/>
            </a:pPr>
            <a:r>
              <a:rPr lang="en-US" sz="1400" dirty="0">
                <a:highlight>
                  <a:srgbClr val="FFFF00"/>
                </a:highlight>
              </a:rPr>
              <a:t> we still want to keep this station’s record before Oct 1, 2022, I guess? In this way, we have the same </a:t>
            </a:r>
            <a:r>
              <a:rPr lang="en-US" sz="1400" dirty="0" err="1">
                <a:highlight>
                  <a:srgbClr val="FFFF00"/>
                </a:highlight>
              </a:rPr>
              <a:t>station_name</a:t>
            </a:r>
            <a:r>
              <a:rPr lang="en-US" sz="1400" dirty="0">
                <a:highlight>
                  <a:srgbClr val="FFFF00"/>
                </a:highlight>
              </a:rPr>
              <a:t> “Brenda Mines” under two network</a:t>
            </a:r>
          </a:p>
        </p:txBody>
      </p:sp>
      <p:graphicFrame>
        <p:nvGraphicFramePr>
          <p:cNvPr id="6" name="Table 5">
            <a:extLst>
              <a:ext uri="{FF2B5EF4-FFF2-40B4-BE49-F238E27FC236}">
                <a16:creationId xmlns:a16="http://schemas.microsoft.com/office/drawing/2014/main" id="{96D66DF4-4308-B37C-69E4-0C2D2056162D}"/>
              </a:ext>
            </a:extLst>
          </p:cNvPr>
          <p:cNvGraphicFramePr>
            <a:graphicFrameLocks noGrp="1"/>
          </p:cNvGraphicFramePr>
          <p:nvPr>
            <p:extLst>
              <p:ext uri="{D42A27DB-BD31-4B8C-83A1-F6EECF244321}">
                <p14:modId xmlns:p14="http://schemas.microsoft.com/office/powerpoint/2010/main" val="1033251461"/>
              </p:ext>
            </p:extLst>
          </p:nvPr>
        </p:nvGraphicFramePr>
        <p:xfrm>
          <a:off x="679174" y="3514196"/>
          <a:ext cx="10515600" cy="213360"/>
        </p:xfrm>
        <a:graphic>
          <a:graphicData uri="http://schemas.openxmlformats.org/drawingml/2006/table">
            <a:tbl>
              <a:tblPr>
                <a:tableStyleId>{5C22544A-7EE6-4342-B048-85BDC9FD1C3A}</a:tableStyleId>
              </a:tblPr>
              <a:tblGrid>
                <a:gridCol w="6316910">
                  <a:extLst>
                    <a:ext uri="{9D8B030D-6E8A-4147-A177-3AD203B41FA5}">
                      <a16:colId xmlns:a16="http://schemas.microsoft.com/office/drawing/2014/main" val="721916529"/>
                    </a:ext>
                  </a:extLst>
                </a:gridCol>
                <a:gridCol w="813732">
                  <a:extLst>
                    <a:ext uri="{9D8B030D-6E8A-4147-A177-3AD203B41FA5}">
                      <a16:colId xmlns:a16="http://schemas.microsoft.com/office/drawing/2014/main" val="2577262931"/>
                    </a:ext>
                  </a:extLst>
                </a:gridCol>
                <a:gridCol w="1377892">
                  <a:extLst>
                    <a:ext uri="{9D8B030D-6E8A-4147-A177-3AD203B41FA5}">
                      <a16:colId xmlns:a16="http://schemas.microsoft.com/office/drawing/2014/main" val="3091653698"/>
                    </a:ext>
                  </a:extLst>
                </a:gridCol>
                <a:gridCol w="2007066">
                  <a:extLst>
                    <a:ext uri="{9D8B030D-6E8A-4147-A177-3AD203B41FA5}">
                      <a16:colId xmlns:a16="http://schemas.microsoft.com/office/drawing/2014/main" val="3297818718"/>
                    </a:ext>
                  </a:extLst>
                </a:gridCol>
              </a:tblGrid>
              <a:tr h="119591">
                <a:tc>
                  <a:txBody>
                    <a:bodyPr/>
                    <a:lstStyle/>
                    <a:p>
                      <a:pPr algn="l" fontAlgn="b">
                        <a:buNone/>
                      </a:pPr>
                      <a:r>
                        <a:rPr lang="en-CA" sz="1400" u="none" strike="noStrike" dirty="0">
                          <a:effectLst/>
                        </a:rPr>
                        <a:t>CLOSED - Possibly Trail Butler park pre 2010</a:t>
                      </a:r>
                      <a:endParaRPr lang="en-CA" sz="1400" b="0" i="0" u="none" strike="noStrike" dirty="0">
                        <a:solidFill>
                          <a:srgbClr val="000000"/>
                        </a:solidFill>
                        <a:effectLst/>
                        <a:latin typeface="Aptos Narrow" panose="020B0004020202020204" pitchFamily="34" charset="0"/>
                      </a:endParaRPr>
                    </a:p>
                  </a:txBody>
                  <a:tcPr marL="0" marR="0" marT="0" marB="0" anchor="b"/>
                </a:tc>
                <a:tc>
                  <a:txBody>
                    <a:bodyPr/>
                    <a:lstStyle/>
                    <a:p>
                      <a:pPr algn="r" fontAlgn="b">
                        <a:buNone/>
                      </a:pPr>
                      <a:r>
                        <a:rPr lang="en-CA" sz="1400" u="none" strike="noStrike">
                          <a:effectLst/>
                        </a:rPr>
                        <a:t>9</a:t>
                      </a:r>
                      <a:endParaRPr lang="en-CA" sz="1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400" u="none" strike="noStrike">
                          <a:effectLst/>
                        </a:rPr>
                        <a:t>BC-Air</a:t>
                      </a:r>
                      <a:endParaRPr lang="en-CA" sz="1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400" u="none" strike="noStrike" dirty="0">
                          <a:effectLst/>
                        </a:rPr>
                        <a:t>M114902</a:t>
                      </a:r>
                      <a:endParaRPr lang="en-CA" sz="14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73024593"/>
                  </a:ext>
                </a:extLst>
              </a:tr>
            </a:tbl>
          </a:graphicData>
        </a:graphic>
      </p:graphicFrame>
      <p:sp>
        <p:nvSpPr>
          <p:cNvPr id="7" name="TextBox 6">
            <a:extLst>
              <a:ext uri="{FF2B5EF4-FFF2-40B4-BE49-F238E27FC236}">
                <a16:creationId xmlns:a16="http://schemas.microsoft.com/office/drawing/2014/main" id="{1722C4C5-293D-328F-E84F-9222896CED32}"/>
              </a:ext>
            </a:extLst>
          </p:cNvPr>
          <p:cNvSpPr txBox="1"/>
          <p:nvPr/>
        </p:nvSpPr>
        <p:spPr>
          <a:xfrm>
            <a:off x="599617" y="4009162"/>
            <a:ext cx="7337502" cy="2585323"/>
          </a:xfrm>
          <a:prstGeom prst="rect">
            <a:avLst/>
          </a:prstGeom>
          <a:noFill/>
        </p:spPr>
        <p:txBody>
          <a:bodyPr wrap="square" rtlCol="0">
            <a:spAutoFit/>
          </a:bodyPr>
          <a:lstStyle/>
          <a:p>
            <a:r>
              <a:rPr lang="en-US" dirty="0"/>
              <a:t>Found </a:t>
            </a:r>
            <a:r>
              <a:rPr lang="en-CA" dirty="0"/>
              <a:t>Trail Butler Park (12579)</a:t>
            </a:r>
            <a:r>
              <a:rPr lang="en-US" dirty="0"/>
              <a:t> as </a:t>
            </a:r>
            <a:r>
              <a:rPr lang="en-US" dirty="0" err="1"/>
              <a:t>native_id</a:t>
            </a:r>
            <a:r>
              <a:rPr lang="en-US" dirty="0"/>
              <a:t> in network 9.</a:t>
            </a:r>
          </a:p>
          <a:p>
            <a:endParaRPr lang="en-US" dirty="0"/>
          </a:p>
          <a:p>
            <a:r>
              <a:rPr lang="en-US" dirty="0">
                <a:highlight>
                  <a:srgbClr val="FFFF00"/>
                </a:highlight>
              </a:rPr>
              <a:t>What do we want to do? </a:t>
            </a:r>
            <a:r>
              <a:rPr lang="en-US" dirty="0" err="1">
                <a:highlight>
                  <a:srgbClr val="FFFF00"/>
                </a:highlight>
              </a:rPr>
              <a:t>Concatnate</a:t>
            </a:r>
            <a:r>
              <a:rPr lang="en-US" dirty="0">
                <a:highlight>
                  <a:srgbClr val="FFFF00"/>
                </a:highlight>
              </a:rPr>
              <a:t> it to the 12579?</a:t>
            </a:r>
          </a:p>
          <a:p>
            <a:endParaRPr lang="en-US" dirty="0">
              <a:highlight>
                <a:srgbClr val="00FFFF"/>
              </a:highlight>
            </a:endParaRPr>
          </a:p>
          <a:p>
            <a:r>
              <a:rPr lang="en-US" dirty="0">
                <a:highlight>
                  <a:srgbClr val="00FFFF"/>
                </a:highlight>
              </a:rPr>
              <a:t>I forgot how do we want to do with this…</a:t>
            </a:r>
          </a:p>
          <a:p>
            <a:endParaRPr lang="en-US" dirty="0"/>
          </a:p>
          <a:p>
            <a:endParaRPr lang="en-US" dirty="0"/>
          </a:p>
          <a:p>
            <a:endParaRPr lang="en-US" dirty="0"/>
          </a:p>
          <a:p>
            <a:endParaRPr lang="en-US" dirty="0"/>
          </a:p>
        </p:txBody>
      </p:sp>
      <p:pic>
        <p:nvPicPr>
          <p:cNvPr id="11" name="Picture 10" descr="A computer screen with numbers and numbers&#10;&#10;AI-generated content may be incorrect.">
            <a:extLst>
              <a:ext uri="{FF2B5EF4-FFF2-40B4-BE49-F238E27FC236}">
                <a16:creationId xmlns:a16="http://schemas.microsoft.com/office/drawing/2014/main" id="{3DE04AAB-0FA4-735D-1ED7-6C088E025306}"/>
              </a:ext>
            </a:extLst>
          </p:cNvPr>
          <p:cNvPicPr>
            <a:picLocks noChangeAspect="1"/>
          </p:cNvPicPr>
          <p:nvPr/>
        </p:nvPicPr>
        <p:blipFill>
          <a:blip r:embed="rId2"/>
          <a:stretch>
            <a:fillRect/>
          </a:stretch>
        </p:blipFill>
        <p:spPr>
          <a:xfrm>
            <a:off x="6897756" y="4224605"/>
            <a:ext cx="4108174" cy="2310848"/>
          </a:xfrm>
          <a:prstGeom prst="rect">
            <a:avLst/>
          </a:prstGeom>
        </p:spPr>
      </p:pic>
      <p:sp>
        <p:nvSpPr>
          <p:cNvPr id="12" name="TextBox 11">
            <a:extLst>
              <a:ext uri="{FF2B5EF4-FFF2-40B4-BE49-F238E27FC236}">
                <a16:creationId xmlns:a16="http://schemas.microsoft.com/office/drawing/2014/main" id="{A35F0A2A-ECF7-4414-92C8-757CB786D258}"/>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Closed</a:t>
            </a:r>
          </a:p>
        </p:txBody>
      </p:sp>
      <p:sp>
        <p:nvSpPr>
          <p:cNvPr id="2" name="TextBox 1">
            <a:extLst>
              <a:ext uri="{FF2B5EF4-FFF2-40B4-BE49-F238E27FC236}">
                <a16:creationId xmlns:a16="http://schemas.microsoft.com/office/drawing/2014/main" id="{6DCAA330-52FB-16BF-A32F-012F8F7A4146}"/>
              </a:ext>
            </a:extLst>
          </p:cNvPr>
          <p:cNvSpPr txBox="1"/>
          <p:nvPr/>
        </p:nvSpPr>
        <p:spPr>
          <a:xfrm>
            <a:off x="783452" y="6166121"/>
            <a:ext cx="5392695" cy="369332"/>
          </a:xfrm>
          <a:prstGeom prst="rect">
            <a:avLst/>
          </a:prstGeom>
          <a:noFill/>
        </p:spPr>
        <p:txBody>
          <a:bodyPr wrap="none" rtlCol="0">
            <a:spAutoFit/>
          </a:bodyPr>
          <a:lstStyle/>
          <a:p>
            <a:r>
              <a:rPr lang="en-US" dirty="0">
                <a:highlight>
                  <a:srgbClr val="00FFFF"/>
                </a:highlight>
              </a:rPr>
              <a:t>We want to keep both the new and old station, I think</a:t>
            </a:r>
          </a:p>
        </p:txBody>
      </p:sp>
    </p:spTree>
    <p:extLst>
      <p:ext uri="{BB962C8B-B14F-4D97-AF65-F5344CB8AC3E}">
        <p14:creationId xmlns:p14="http://schemas.microsoft.com/office/powerpoint/2010/main" val="2294193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5254BA0-2CBE-E5CC-3680-FDBE3099BF60}"/>
              </a:ext>
            </a:extLst>
          </p:cNvPr>
          <p:cNvSpPr txBox="1"/>
          <p:nvPr/>
        </p:nvSpPr>
        <p:spPr>
          <a:xfrm>
            <a:off x="442332" y="880574"/>
            <a:ext cx="10719312" cy="3108543"/>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en-CA" sz="1400" dirty="0"/>
              <a:t>CLOSED - responsibility change - Move any data from this site collected from October 1, 2022 on to New </a:t>
            </a:r>
            <a:r>
              <a:rPr lang="en-CA" sz="1400" dirty="0" err="1"/>
              <a:t>addditional</a:t>
            </a:r>
            <a:r>
              <a:rPr lang="en-CA" sz="1400" dirty="0"/>
              <a:t> station (line 1932 - "Moyie Mountain", BC H)</a:t>
            </a:r>
          </a:p>
          <a:p>
            <a:r>
              <a:rPr lang="en-CA" sz="1400" dirty="0"/>
              <a:t>	14 BC-Snow </a:t>
            </a:r>
            <a:r>
              <a:rPr lang="en-CA" sz="1400" i="1" dirty="0"/>
              <a:t>2C10P</a:t>
            </a:r>
            <a:r>
              <a:rPr lang="en-CA" sz="1400" dirty="0"/>
              <a:t> 2549 Moyie Mountain 115.767 W, 49.25 N, Elev. 1930 m</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Additional - Responsibility Transfer - </a:t>
            </a:r>
            <a:r>
              <a:rPr lang="en-US" sz="1400" u="sng" dirty="0"/>
              <a:t>Move any data from 35092 </a:t>
            </a:r>
            <a:r>
              <a:rPr lang="en-US" sz="1400" dirty="0"/>
              <a:t>collected post October 1, 2022 to this record.</a:t>
            </a:r>
          </a:p>
          <a:p>
            <a:endParaRPr lang="en-US" sz="1400" dirty="0"/>
          </a:p>
          <a:p>
            <a:endParaRPr lang="en-US" sz="1400" dirty="0"/>
          </a:p>
          <a:p>
            <a:r>
              <a:rPr lang="en-US" sz="1400" dirty="0"/>
              <a:t>First insert the new station;</a:t>
            </a:r>
          </a:p>
          <a:p>
            <a:endParaRPr lang="en-US" sz="1400" dirty="0"/>
          </a:p>
          <a:p>
            <a:r>
              <a:rPr lang="en-US" sz="1400" dirty="0">
                <a:highlight>
                  <a:srgbClr val="FFFF00"/>
                </a:highlight>
              </a:rPr>
              <a:t>Then founds old station 2C10P has 0 observation records </a:t>
            </a:r>
          </a:p>
          <a:p>
            <a:endParaRPr lang="en-US" sz="1400" dirty="0">
              <a:highlight>
                <a:srgbClr val="FFFF00"/>
              </a:highlight>
            </a:endParaRPr>
          </a:p>
          <a:p>
            <a:r>
              <a:rPr lang="en-US" sz="1400" dirty="0">
                <a:highlight>
                  <a:srgbClr val="FFFF00"/>
                </a:highlight>
              </a:rPr>
              <a:t>Also seems no station with id 35092 (no meta data)</a:t>
            </a:r>
          </a:p>
          <a:p>
            <a:endParaRPr lang="en-US" sz="1400" dirty="0"/>
          </a:p>
          <a:p>
            <a:endParaRPr lang="en-US" sz="1400" dirty="0"/>
          </a:p>
        </p:txBody>
      </p:sp>
      <p:sp>
        <p:nvSpPr>
          <p:cNvPr id="11" name="TextBox 10">
            <a:extLst>
              <a:ext uri="{FF2B5EF4-FFF2-40B4-BE49-F238E27FC236}">
                <a16:creationId xmlns:a16="http://schemas.microsoft.com/office/drawing/2014/main" id="{9210367D-CB3C-88AC-A161-9FCEB7BA4660}"/>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Closed</a:t>
            </a:r>
          </a:p>
        </p:txBody>
      </p:sp>
      <p:sp>
        <p:nvSpPr>
          <p:cNvPr id="2" name="TextBox 1">
            <a:extLst>
              <a:ext uri="{FF2B5EF4-FFF2-40B4-BE49-F238E27FC236}">
                <a16:creationId xmlns:a16="http://schemas.microsoft.com/office/drawing/2014/main" id="{DE7F8445-7AF9-06C3-988A-B117215C1535}"/>
              </a:ext>
            </a:extLst>
          </p:cNvPr>
          <p:cNvSpPr txBox="1"/>
          <p:nvPr/>
        </p:nvSpPr>
        <p:spPr>
          <a:xfrm>
            <a:off x="3056467" y="4631267"/>
            <a:ext cx="6464590" cy="369332"/>
          </a:xfrm>
          <a:prstGeom prst="rect">
            <a:avLst/>
          </a:prstGeom>
          <a:noFill/>
        </p:spPr>
        <p:txBody>
          <a:bodyPr wrap="none" rtlCol="0">
            <a:spAutoFit/>
          </a:bodyPr>
          <a:lstStyle/>
          <a:p>
            <a:r>
              <a:rPr lang="en-US" dirty="0">
                <a:highlight>
                  <a:srgbClr val="00FFFF"/>
                </a:highlight>
              </a:rPr>
              <a:t>I’ve added the new station, seems don’t need to move any data.</a:t>
            </a:r>
          </a:p>
        </p:txBody>
      </p:sp>
    </p:spTree>
    <p:extLst>
      <p:ext uri="{BB962C8B-B14F-4D97-AF65-F5344CB8AC3E}">
        <p14:creationId xmlns:p14="http://schemas.microsoft.com/office/powerpoint/2010/main" val="2688043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D2AFB379-EFE1-CB0D-CBB1-6556F750E31F}"/>
              </a:ext>
            </a:extLst>
          </p:cNvPr>
          <p:cNvPicPr>
            <a:picLocks noChangeAspect="1"/>
          </p:cNvPicPr>
          <p:nvPr/>
        </p:nvPicPr>
        <p:blipFill>
          <a:blip r:embed="rId2"/>
          <a:stretch>
            <a:fillRect/>
          </a:stretch>
        </p:blipFill>
        <p:spPr>
          <a:xfrm>
            <a:off x="1242750" y="2362199"/>
            <a:ext cx="9401700" cy="1783080"/>
          </a:xfrm>
          <a:prstGeom prst="rect">
            <a:avLst/>
          </a:prstGeom>
        </p:spPr>
      </p:pic>
      <p:sp>
        <p:nvSpPr>
          <p:cNvPr id="6" name="TextBox 5">
            <a:extLst>
              <a:ext uri="{FF2B5EF4-FFF2-40B4-BE49-F238E27FC236}">
                <a16:creationId xmlns:a16="http://schemas.microsoft.com/office/drawing/2014/main" id="{CF0D1898-5A15-8DF0-8A93-77C57BFC51AF}"/>
              </a:ext>
            </a:extLst>
          </p:cNvPr>
          <p:cNvSpPr txBox="1"/>
          <p:nvPr/>
        </p:nvSpPr>
        <p:spPr>
          <a:xfrm>
            <a:off x="609600" y="283309"/>
            <a:ext cx="2016834" cy="584775"/>
          </a:xfrm>
          <a:prstGeom prst="rect">
            <a:avLst/>
          </a:prstGeom>
          <a:noFill/>
        </p:spPr>
        <p:txBody>
          <a:bodyPr wrap="none" rtlCol="0">
            <a:spAutoFit/>
          </a:bodyPr>
          <a:lstStyle/>
          <a:p>
            <a:pPr marL="285750" indent="-285750">
              <a:buFont typeface="Arial" panose="020B0604020202020204" pitchFamily="34" charset="0"/>
              <a:buChar char="•"/>
            </a:pPr>
            <a:r>
              <a:rPr lang="en-CA" sz="1600" b="1" dirty="0"/>
              <a:t>NOT on ENV LIST</a:t>
            </a:r>
          </a:p>
          <a:p>
            <a:pPr marL="285750" indent="-285750">
              <a:buFont typeface="Arial" panose="020B0604020202020204" pitchFamily="34" charset="0"/>
              <a:buChar char="•"/>
            </a:pPr>
            <a:r>
              <a:rPr lang="en-CA" sz="1600" b="1" dirty="0"/>
              <a:t>PARKS CANADA</a:t>
            </a:r>
            <a:endParaRPr lang="en-US" sz="1600" b="1" dirty="0"/>
          </a:p>
        </p:txBody>
      </p:sp>
      <p:sp>
        <p:nvSpPr>
          <p:cNvPr id="7" name="TextBox 6">
            <a:extLst>
              <a:ext uri="{FF2B5EF4-FFF2-40B4-BE49-F238E27FC236}">
                <a16:creationId xmlns:a16="http://schemas.microsoft.com/office/drawing/2014/main" id="{C78588A6-FCC6-8885-6A88-A152D00B311A}"/>
              </a:ext>
            </a:extLst>
          </p:cNvPr>
          <p:cNvSpPr txBox="1"/>
          <p:nvPr/>
        </p:nvSpPr>
        <p:spPr>
          <a:xfrm>
            <a:off x="1046480" y="1322754"/>
            <a:ext cx="9530080"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highlight>
                  <a:srgbClr val="FFFF00"/>
                </a:highlight>
              </a:rPr>
              <a:t>Seems all the information in the table are all correct, so we want to update their station name? What else we need to do to solve the ISSUE?</a:t>
            </a:r>
          </a:p>
        </p:txBody>
      </p:sp>
      <p:graphicFrame>
        <p:nvGraphicFramePr>
          <p:cNvPr id="2" name="Table 1">
            <a:extLst>
              <a:ext uri="{FF2B5EF4-FFF2-40B4-BE49-F238E27FC236}">
                <a16:creationId xmlns:a16="http://schemas.microsoft.com/office/drawing/2014/main" id="{9F9B38B3-D138-6C76-D90D-5AC77CC0DF3E}"/>
              </a:ext>
            </a:extLst>
          </p:cNvPr>
          <p:cNvGraphicFramePr>
            <a:graphicFrameLocks noGrp="1"/>
          </p:cNvGraphicFramePr>
          <p:nvPr>
            <p:extLst>
              <p:ext uri="{D42A27DB-BD31-4B8C-83A1-F6EECF244321}">
                <p14:modId xmlns:p14="http://schemas.microsoft.com/office/powerpoint/2010/main" val="1992772844"/>
              </p:ext>
            </p:extLst>
          </p:nvPr>
        </p:nvGraphicFramePr>
        <p:xfrm>
          <a:off x="1046481" y="5031246"/>
          <a:ext cx="10515600" cy="504000"/>
        </p:xfrm>
        <a:graphic>
          <a:graphicData uri="http://schemas.openxmlformats.org/drawingml/2006/table">
            <a:tbl>
              <a:tblPr>
                <a:tableStyleId>{5C22544A-7EE6-4342-B048-85BDC9FD1C3A}</a:tableStyleId>
              </a:tblPr>
              <a:tblGrid>
                <a:gridCol w="1752600">
                  <a:extLst>
                    <a:ext uri="{9D8B030D-6E8A-4147-A177-3AD203B41FA5}">
                      <a16:colId xmlns:a16="http://schemas.microsoft.com/office/drawing/2014/main" val="4172751357"/>
                    </a:ext>
                  </a:extLst>
                </a:gridCol>
                <a:gridCol w="685800">
                  <a:extLst>
                    <a:ext uri="{9D8B030D-6E8A-4147-A177-3AD203B41FA5}">
                      <a16:colId xmlns:a16="http://schemas.microsoft.com/office/drawing/2014/main" val="1614884677"/>
                    </a:ext>
                  </a:extLst>
                </a:gridCol>
                <a:gridCol w="2019300">
                  <a:extLst>
                    <a:ext uri="{9D8B030D-6E8A-4147-A177-3AD203B41FA5}">
                      <a16:colId xmlns:a16="http://schemas.microsoft.com/office/drawing/2014/main" val="3121469174"/>
                    </a:ext>
                  </a:extLst>
                </a:gridCol>
                <a:gridCol w="2019300">
                  <a:extLst>
                    <a:ext uri="{9D8B030D-6E8A-4147-A177-3AD203B41FA5}">
                      <a16:colId xmlns:a16="http://schemas.microsoft.com/office/drawing/2014/main" val="2606551220"/>
                    </a:ext>
                  </a:extLst>
                </a:gridCol>
                <a:gridCol w="756920">
                  <a:extLst>
                    <a:ext uri="{9D8B030D-6E8A-4147-A177-3AD203B41FA5}">
                      <a16:colId xmlns:a16="http://schemas.microsoft.com/office/drawing/2014/main" val="176993398"/>
                    </a:ext>
                  </a:extLst>
                </a:gridCol>
                <a:gridCol w="3281680">
                  <a:extLst>
                    <a:ext uri="{9D8B030D-6E8A-4147-A177-3AD203B41FA5}">
                      <a16:colId xmlns:a16="http://schemas.microsoft.com/office/drawing/2014/main" val="1747845894"/>
                    </a:ext>
                  </a:extLst>
                </a:gridCol>
              </a:tblGrid>
              <a:tr h="504000">
                <a:tc>
                  <a:txBody>
                    <a:bodyPr/>
                    <a:lstStyle/>
                    <a:p>
                      <a:pPr algn="l" fontAlgn="b">
                        <a:buNone/>
                      </a:pPr>
                      <a:r>
                        <a:rPr lang="en-CA" sz="1400" u="none" strike="noStrike" dirty="0">
                          <a:effectLst/>
                        </a:rPr>
                        <a:t>Name, ID, </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5</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BCH-GSO-HMP</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solidFill>
                            <a:srgbClr val="FF0000"/>
                          </a:solidFill>
                          <a:effectLst/>
                        </a:rPr>
                        <a:t>DBC -&gt; DBC2?</a:t>
                      </a:r>
                      <a:endParaRPr lang="en-CA" sz="1400" b="0" i="0" u="none" strike="noStrike" dirty="0">
                        <a:solidFill>
                          <a:srgbClr val="FF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2452</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Duncan R. </a:t>
                      </a:r>
                      <a:r>
                        <a:rPr lang="en-CA" sz="1400" u="none" strike="noStrike" dirty="0" err="1">
                          <a:effectLst/>
                        </a:rPr>
                        <a:t>blw</a:t>
                      </a:r>
                      <a:r>
                        <a:rPr lang="en-CA" sz="1400" u="none" strike="noStrike" dirty="0">
                          <a:effectLst/>
                        </a:rPr>
                        <a:t> BB Ck -&gt; Duncan River Below Blue Berry Creek 2</a:t>
                      </a:r>
                      <a:endParaRPr lang="en-CA" sz="1400" b="1" i="0" u="none" strike="noStrike" dirty="0">
                        <a:solidFill>
                          <a:srgbClr val="9C0006"/>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2864344170"/>
                  </a:ext>
                </a:extLst>
              </a:tr>
            </a:tbl>
          </a:graphicData>
        </a:graphic>
      </p:graphicFrame>
      <p:graphicFrame>
        <p:nvGraphicFramePr>
          <p:cNvPr id="3" name="Table 2">
            <a:extLst>
              <a:ext uri="{FF2B5EF4-FFF2-40B4-BE49-F238E27FC236}">
                <a16:creationId xmlns:a16="http://schemas.microsoft.com/office/drawing/2014/main" id="{6B2D3ACA-9BDE-35E2-D687-85AF78D06F7E}"/>
              </a:ext>
            </a:extLst>
          </p:cNvPr>
          <p:cNvGraphicFramePr>
            <a:graphicFrameLocks noGrp="1"/>
          </p:cNvGraphicFramePr>
          <p:nvPr>
            <p:extLst>
              <p:ext uri="{D42A27DB-BD31-4B8C-83A1-F6EECF244321}">
                <p14:modId xmlns:p14="http://schemas.microsoft.com/office/powerpoint/2010/main" val="174950813"/>
              </p:ext>
            </p:extLst>
          </p:nvPr>
        </p:nvGraphicFramePr>
        <p:xfrm>
          <a:off x="1046480" y="6010416"/>
          <a:ext cx="10515601" cy="213360"/>
        </p:xfrm>
        <a:graphic>
          <a:graphicData uri="http://schemas.openxmlformats.org/drawingml/2006/table">
            <a:tbl>
              <a:tblPr>
                <a:tableStyleId>{5C22544A-7EE6-4342-B048-85BDC9FD1C3A}</a:tableStyleId>
              </a:tblPr>
              <a:tblGrid>
                <a:gridCol w="1986280">
                  <a:extLst>
                    <a:ext uri="{9D8B030D-6E8A-4147-A177-3AD203B41FA5}">
                      <a16:colId xmlns:a16="http://schemas.microsoft.com/office/drawing/2014/main" val="1853256533"/>
                    </a:ext>
                  </a:extLst>
                </a:gridCol>
                <a:gridCol w="518160">
                  <a:extLst>
                    <a:ext uri="{9D8B030D-6E8A-4147-A177-3AD203B41FA5}">
                      <a16:colId xmlns:a16="http://schemas.microsoft.com/office/drawing/2014/main" val="2160192770"/>
                    </a:ext>
                  </a:extLst>
                </a:gridCol>
                <a:gridCol w="1493520">
                  <a:extLst>
                    <a:ext uri="{9D8B030D-6E8A-4147-A177-3AD203B41FA5}">
                      <a16:colId xmlns:a16="http://schemas.microsoft.com/office/drawing/2014/main" val="1126891242"/>
                    </a:ext>
                  </a:extLst>
                </a:gridCol>
                <a:gridCol w="1442720">
                  <a:extLst>
                    <a:ext uri="{9D8B030D-6E8A-4147-A177-3AD203B41FA5}">
                      <a16:colId xmlns:a16="http://schemas.microsoft.com/office/drawing/2014/main" val="2800357047"/>
                    </a:ext>
                  </a:extLst>
                </a:gridCol>
                <a:gridCol w="812800">
                  <a:extLst>
                    <a:ext uri="{9D8B030D-6E8A-4147-A177-3AD203B41FA5}">
                      <a16:colId xmlns:a16="http://schemas.microsoft.com/office/drawing/2014/main" val="3193739177"/>
                    </a:ext>
                  </a:extLst>
                </a:gridCol>
                <a:gridCol w="1999094">
                  <a:extLst>
                    <a:ext uri="{9D8B030D-6E8A-4147-A177-3AD203B41FA5}">
                      <a16:colId xmlns:a16="http://schemas.microsoft.com/office/drawing/2014/main" val="1133128954"/>
                    </a:ext>
                  </a:extLst>
                </a:gridCol>
                <a:gridCol w="2263027">
                  <a:extLst>
                    <a:ext uri="{9D8B030D-6E8A-4147-A177-3AD203B41FA5}">
                      <a16:colId xmlns:a16="http://schemas.microsoft.com/office/drawing/2014/main" val="3401152719"/>
                    </a:ext>
                  </a:extLst>
                </a:gridCol>
              </a:tblGrid>
              <a:tr h="66070">
                <a:tc>
                  <a:txBody>
                    <a:bodyPr/>
                    <a:lstStyle/>
                    <a:p>
                      <a:pPr algn="l" fontAlgn="b">
                        <a:buNone/>
                      </a:pPr>
                      <a:r>
                        <a:rPr lang="en-CA" sz="1400" u="none" strike="noStrike">
                          <a:effectLst/>
                        </a:rPr>
                        <a:t>Name, Location?</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5</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BCH-GSO-HMP</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ELK</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2455</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Elk R. ab Campbell Lk</a:t>
                      </a:r>
                      <a:endParaRPr lang="en-CA" sz="1400" b="1" i="0" u="none" strike="noStrike">
                        <a:solidFill>
                          <a:srgbClr val="9C0006"/>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 </a:t>
                      </a:r>
                      <a:r>
                        <a:rPr lang="en-CA" sz="1400" u="none" strike="noStrike" dirty="0">
                          <a:solidFill>
                            <a:srgbClr val="FF0000"/>
                          </a:solidFill>
                          <a:effectLst/>
                        </a:rPr>
                        <a:t>BLANK</a:t>
                      </a:r>
                      <a:endParaRPr lang="en-CA" sz="1400" b="0" i="0" u="none" strike="noStrike" dirty="0">
                        <a:solidFill>
                          <a:srgbClr val="FF0000"/>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1733459560"/>
                  </a:ext>
                </a:extLst>
              </a:tr>
            </a:tbl>
          </a:graphicData>
        </a:graphic>
      </p:graphicFrame>
      <p:sp>
        <p:nvSpPr>
          <p:cNvPr id="4" name="TextBox 3">
            <a:extLst>
              <a:ext uri="{FF2B5EF4-FFF2-40B4-BE49-F238E27FC236}">
                <a16:creationId xmlns:a16="http://schemas.microsoft.com/office/drawing/2014/main" id="{551C1A35-5443-47E1-BB4B-8D368F381DCE}"/>
              </a:ext>
            </a:extLst>
          </p:cNvPr>
          <p:cNvSpPr txBox="1"/>
          <p:nvPr/>
        </p:nvSpPr>
        <p:spPr>
          <a:xfrm>
            <a:off x="545862" y="4556076"/>
            <a:ext cx="1001236" cy="369332"/>
          </a:xfrm>
          <a:prstGeom prst="rect">
            <a:avLst/>
          </a:prstGeom>
          <a:noFill/>
        </p:spPr>
        <p:txBody>
          <a:bodyPr wrap="none" rtlCol="0">
            <a:spAutoFit/>
          </a:bodyPr>
          <a:lstStyle/>
          <a:p>
            <a:r>
              <a:rPr lang="en-US" b="1" dirty="0"/>
              <a:t>The red </a:t>
            </a:r>
          </a:p>
        </p:txBody>
      </p:sp>
      <p:sp>
        <p:nvSpPr>
          <p:cNvPr id="8" name="TextBox 7">
            <a:extLst>
              <a:ext uri="{FF2B5EF4-FFF2-40B4-BE49-F238E27FC236}">
                <a16:creationId xmlns:a16="http://schemas.microsoft.com/office/drawing/2014/main" id="{3ABBE4A5-64A9-2783-EDE3-09F6CB53C4DD}"/>
              </a:ext>
            </a:extLst>
          </p:cNvPr>
          <p:cNvSpPr txBox="1"/>
          <p:nvPr/>
        </p:nvSpPr>
        <p:spPr>
          <a:xfrm>
            <a:off x="6096000" y="391030"/>
            <a:ext cx="6067687" cy="369332"/>
          </a:xfrm>
          <a:prstGeom prst="rect">
            <a:avLst/>
          </a:prstGeom>
          <a:noFill/>
        </p:spPr>
        <p:txBody>
          <a:bodyPr wrap="none" rtlCol="0">
            <a:spAutoFit/>
          </a:bodyPr>
          <a:lstStyle/>
          <a:p>
            <a:r>
              <a:rPr lang="en-US" dirty="0">
                <a:highlight>
                  <a:srgbClr val="00FFFF"/>
                </a:highlight>
              </a:rPr>
              <a:t>I want to replace their name? Also record </a:t>
            </a:r>
            <a:r>
              <a:rPr lang="en-US" dirty="0" err="1">
                <a:highlight>
                  <a:srgbClr val="00FFFF"/>
                </a:highlight>
              </a:rPr>
              <a:t>geom</a:t>
            </a:r>
            <a:r>
              <a:rPr lang="en-US" dirty="0">
                <a:highlight>
                  <a:srgbClr val="00FFFF"/>
                </a:highlight>
              </a:rPr>
              <a:t>, back to Ted</a:t>
            </a:r>
          </a:p>
        </p:txBody>
      </p:sp>
    </p:spTree>
    <p:extLst>
      <p:ext uri="{BB962C8B-B14F-4D97-AF65-F5344CB8AC3E}">
        <p14:creationId xmlns:p14="http://schemas.microsoft.com/office/powerpoint/2010/main" val="1854314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857714-6BD2-194C-E8E7-6C94C7528F82}"/>
              </a:ext>
            </a:extLst>
          </p:cNvPr>
          <p:cNvPicPr>
            <a:picLocks noChangeAspect="1"/>
          </p:cNvPicPr>
          <p:nvPr/>
        </p:nvPicPr>
        <p:blipFill>
          <a:blip r:embed="rId2"/>
          <a:srcRect t="17913"/>
          <a:stretch>
            <a:fillRect/>
          </a:stretch>
        </p:blipFill>
        <p:spPr>
          <a:xfrm>
            <a:off x="308112" y="1120160"/>
            <a:ext cx="11054155" cy="780656"/>
          </a:xfrm>
          <a:prstGeom prst="rect">
            <a:avLst/>
          </a:prstGeom>
        </p:spPr>
      </p:pic>
      <p:sp>
        <p:nvSpPr>
          <p:cNvPr id="6" name="TextBox 5">
            <a:extLst>
              <a:ext uri="{FF2B5EF4-FFF2-40B4-BE49-F238E27FC236}">
                <a16:creationId xmlns:a16="http://schemas.microsoft.com/office/drawing/2014/main" id="{002D2AD0-A66A-DDC7-EC0E-B70F5A11B859}"/>
              </a:ext>
            </a:extLst>
          </p:cNvPr>
          <p:cNvSpPr txBox="1"/>
          <p:nvPr/>
        </p:nvSpPr>
        <p:spPr>
          <a:xfrm>
            <a:off x="616226" y="2216427"/>
            <a:ext cx="6019981"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t>Seems don’t need to change attribution for these four stations. </a:t>
            </a:r>
          </a:p>
        </p:txBody>
      </p:sp>
      <p:sp>
        <p:nvSpPr>
          <p:cNvPr id="2" name="TextBox 1">
            <a:extLst>
              <a:ext uri="{FF2B5EF4-FFF2-40B4-BE49-F238E27FC236}">
                <a16:creationId xmlns:a16="http://schemas.microsoft.com/office/drawing/2014/main" id="{46650ECC-C391-3815-BA32-62D6F0240F6E}"/>
              </a:ext>
            </a:extLst>
          </p:cNvPr>
          <p:cNvSpPr txBox="1"/>
          <p:nvPr/>
        </p:nvSpPr>
        <p:spPr>
          <a:xfrm>
            <a:off x="308112" y="251843"/>
            <a:ext cx="6782241" cy="338554"/>
          </a:xfrm>
          <a:prstGeom prst="rect">
            <a:avLst/>
          </a:prstGeom>
          <a:noFill/>
        </p:spPr>
        <p:txBody>
          <a:bodyPr wrap="none" rtlCol="0">
            <a:spAutoFit/>
          </a:bodyPr>
          <a:lstStyle/>
          <a:p>
            <a:pPr marL="285750" indent="-285750">
              <a:buFont typeface="Arial" panose="020B0604020202020204" pitchFamily="34" charset="0"/>
              <a:buChar char="•"/>
            </a:pPr>
            <a:r>
              <a:rPr lang="en-US" sz="1600" b="1" dirty="0"/>
              <a:t>Attribution related (better double check to make sure I did correctly)</a:t>
            </a:r>
          </a:p>
        </p:txBody>
      </p:sp>
      <p:sp>
        <p:nvSpPr>
          <p:cNvPr id="3" name="Rectangle 2">
            <a:extLst>
              <a:ext uri="{FF2B5EF4-FFF2-40B4-BE49-F238E27FC236}">
                <a16:creationId xmlns:a16="http://schemas.microsoft.com/office/drawing/2014/main" id="{974973E1-2CE3-B719-3DC3-B6444676375E}"/>
              </a:ext>
            </a:extLst>
          </p:cNvPr>
          <p:cNvSpPr/>
          <p:nvPr/>
        </p:nvSpPr>
        <p:spPr>
          <a:xfrm>
            <a:off x="228600" y="1075267"/>
            <a:ext cx="702733" cy="77893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2190909-B4B9-B0A3-443B-367FEB641187}"/>
              </a:ext>
            </a:extLst>
          </p:cNvPr>
          <p:cNvSpPr txBox="1"/>
          <p:nvPr/>
        </p:nvSpPr>
        <p:spPr>
          <a:xfrm>
            <a:off x="1989667" y="5969000"/>
            <a:ext cx="1136850" cy="369332"/>
          </a:xfrm>
          <a:prstGeom prst="rect">
            <a:avLst/>
          </a:prstGeom>
          <a:noFill/>
        </p:spPr>
        <p:txBody>
          <a:bodyPr wrap="none" rtlCol="0">
            <a:spAutoFit/>
          </a:bodyPr>
          <a:lstStyle/>
          <a:p>
            <a:r>
              <a:rPr lang="en-US" dirty="0">
                <a:highlight>
                  <a:srgbClr val="00FFFF"/>
                </a:highlight>
              </a:rPr>
              <a:t>Neglect it</a:t>
            </a:r>
          </a:p>
        </p:txBody>
      </p:sp>
    </p:spTree>
    <p:extLst>
      <p:ext uri="{BB962C8B-B14F-4D97-AF65-F5344CB8AC3E}">
        <p14:creationId xmlns:p14="http://schemas.microsoft.com/office/powerpoint/2010/main" val="1189024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884A3-C135-0E37-3133-C5BE69B0D1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52A3A5-8825-6956-FF06-5435224CB476}"/>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Items not explicitly noted under “ISSUE”</a:t>
            </a:r>
          </a:p>
        </p:txBody>
      </p:sp>
      <p:sp>
        <p:nvSpPr>
          <p:cNvPr id="5" name="TextBox 4">
            <a:extLst>
              <a:ext uri="{FF2B5EF4-FFF2-40B4-BE49-F238E27FC236}">
                <a16:creationId xmlns:a16="http://schemas.microsoft.com/office/drawing/2014/main" id="{38470E3D-49BE-CB13-7D57-4683E272D426}"/>
              </a:ext>
            </a:extLst>
          </p:cNvPr>
          <p:cNvSpPr txBox="1"/>
          <p:nvPr/>
        </p:nvSpPr>
        <p:spPr>
          <a:xfrm>
            <a:off x="1992672" y="4884102"/>
            <a:ext cx="6291146" cy="79547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1600" dirty="0"/>
              <a:t>Why are some geometries shown in green?</a:t>
            </a:r>
          </a:p>
          <a:p>
            <a:pPr marL="285750" indent="-285750">
              <a:lnSpc>
                <a:spcPct val="150000"/>
              </a:lnSpc>
              <a:buFont typeface="Arial" panose="020B0604020202020204" pitchFamily="34" charset="0"/>
              <a:buChar char="•"/>
            </a:pPr>
            <a:r>
              <a:rPr lang="en-US" sz="1600" dirty="0"/>
              <a:t>Do the red geometries indicate locations that need to be updated?</a:t>
            </a:r>
          </a:p>
        </p:txBody>
      </p:sp>
      <p:pic>
        <p:nvPicPr>
          <p:cNvPr id="6" name="Picture 5" descr="A screenshot of a computer&#10;&#10;AI-generated content may be incorrect.">
            <a:extLst>
              <a:ext uri="{FF2B5EF4-FFF2-40B4-BE49-F238E27FC236}">
                <a16:creationId xmlns:a16="http://schemas.microsoft.com/office/drawing/2014/main" id="{049E5D04-E603-E6C0-F54B-4C2217840C4F}"/>
              </a:ext>
            </a:extLst>
          </p:cNvPr>
          <p:cNvPicPr>
            <a:picLocks noChangeAspect="1"/>
          </p:cNvPicPr>
          <p:nvPr/>
        </p:nvPicPr>
        <p:blipFill>
          <a:blip r:embed="rId2"/>
          <a:stretch>
            <a:fillRect/>
          </a:stretch>
        </p:blipFill>
        <p:spPr>
          <a:xfrm>
            <a:off x="1992672" y="1610224"/>
            <a:ext cx="7772400" cy="3148748"/>
          </a:xfrm>
          <a:prstGeom prst="rect">
            <a:avLst/>
          </a:prstGeom>
        </p:spPr>
      </p:pic>
      <p:sp>
        <p:nvSpPr>
          <p:cNvPr id="7" name="TextBox 6">
            <a:extLst>
              <a:ext uri="{FF2B5EF4-FFF2-40B4-BE49-F238E27FC236}">
                <a16:creationId xmlns:a16="http://schemas.microsoft.com/office/drawing/2014/main" id="{C7182789-7316-33C0-3EF7-6D3641863990}"/>
              </a:ext>
            </a:extLst>
          </p:cNvPr>
          <p:cNvSpPr txBox="1"/>
          <p:nvPr/>
        </p:nvSpPr>
        <p:spPr>
          <a:xfrm>
            <a:off x="1227667" y="993758"/>
            <a:ext cx="2304157" cy="369332"/>
          </a:xfrm>
          <a:prstGeom prst="rect">
            <a:avLst/>
          </a:prstGeom>
          <a:noFill/>
        </p:spPr>
        <p:txBody>
          <a:bodyPr wrap="none" rtlCol="0">
            <a:spAutoFit/>
          </a:bodyPr>
          <a:lstStyle/>
          <a:p>
            <a:r>
              <a:rPr lang="en-US" b="1" dirty="0"/>
              <a:t>In the left PCDS part</a:t>
            </a:r>
          </a:p>
        </p:txBody>
      </p:sp>
      <p:sp>
        <p:nvSpPr>
          <p:cNvPr id="2" name="TextBox 1">
            <a:extLst>
              <a:ext uri="{FF2B5EF4-FFF2-40B4-BE49-F238E27FC236}">
                <a16:creationId xmlns:a16="http://schemas.microsoft.com/office/drawing/2014/main" id="{9EAF3E22-054D-6A4B-69F6-6FF72A396C6F}"/>
              </a:ext>
            </a:extLst>
          </p:cNvPr>
          <p:cNvSpPr txBox="1"/>
          <p:nvPr/>
        </p:nvSpPr>
        <p:spPr>
          <a:xfrm rot="19138157">
            <a:off x="6114518" y="3922519"/>
            <a:ext cx="3204673" cy="646331"/>
          </a:xfrm>
          <a:prstGeom prst="rect">
            <a:avLst/>
          </a:prstGeom>
          <a:noFill/>
        </p:spPr>
        <p:txBody>
          <a:bodyPr wrap="square" rtlCol="0">
            <a:spAutoFit/>
          </a:bodyPr>
          <a:lstStyle/>
          <a:p>
            <a:r>
              <a:rPr lang="en-CA" dirty="0">
                <a:highlight>
                  <a:srgbClr val="00FF00"/>
                </a:highlight>
              </a:rPr>
              <a:t>Green means checked and okay</a:t>
            </a:r>
          </a:p>
        </p:txBody>
      </p:sp>
      <p:sp>
        <p:nvSpPr>
          <p:cNvPr id="4" name="TextBox 3">
            <a:extLst>
              <a:ext uri="{FF2B5EF4-FFF2-40B4-BE49-F238E27FC236}">
                <a16:creationId xmlns:a16="http://schemas.microsoft.com/office/drawing/2014/main" id="{DAECE48B-DEB3-1631-228A-BB535020F891}"/>
              </a:ext>
            </a:extLst>
          </p:cNvPr>
          <p:cNvSpPr txBox="1"/>
          <p:nvPr/>
        </p:nvSpPr>
        <p:spPr>
          <a:xfrm>
            <a:off x="6841067" y="5833533"/>
            <a:ext cx="1742849" cy="369332"/>
          </a:xfrm>
          <a:prstGeom prst="rect">
            <a:avLst/>
          </a:prstGeom>
          <a:noFill/>
        </p:spPr>
        <p:txBody>
          <a:bodyPr wrap="none" rtlCol="0">
            <a:spAutoFit/>
          </a:bodyPr>
          <a:lstStyle/>
          <a:p>
            <a:r>
              <a:rPr lang="en-US" dirty="0">
                <a:highlight>
                  <a:srgbClr val="00FFFF"/>
                </a:highlight>
              </a:rPr>
              <a:t>Update red part</a:t>
            </a:r>
          </a:p>
        </p:txBody>
      </p:sp>
    </p:spTree>
    <p:extLst>
      <p:ext uri="{BB962C8B-B14F-4D97-AF65-F5344CB8AC3E}">
        <p14:creationId xmlns:p14="http://schemas.microsoft.com/office/powerpoint/2010/main" val="3209061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F47ED4-CB40-7F8C-6571-75F7EB7DFB73}"/>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Items not explicitly noted under “ISSUE”</a:t>
            </a:r>
          </a:p>
        </p:txBody>
      </p:sp>
      <p:sp>
        <p:nvSpPr>
          <p:cNvPr id="7" name="TextBox 6">
            <a:extLst>
              <a:ext uri="{FF2B5EF4-FFF2-40B4-BE49-F238E27FC236}">
                <a16:creationId xmlns:a16="http://schemas.microsoft.com/office/drawing/2014/main" id="{901FC024-0173-F44F-0C23-91B71469CEE6}"/>
              </a:ext>
            </a:extLst>
          </p:cNvPr>
          <p:cNvSpPr txBox="1"/>
          <p:nvPr/>
        </p:nvSpPr>
        <p:spPr>
          <a:xfrm>
            <a:off x="1951512" y="5822041"/>
            <a:ext cx="6291146" cy="79547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1600" dirty="0"/>
              <a:t>What does the yellow highlighting mean?</a:t>
            </a:r>
          </a:p>
          <a:p>
            <a:pPr marL="285750" indent="-285750">
              <a:lnSpc>
                <a:spcPct val="150000"/>
              </a:lnSpc>
              <a:buFont typeface="Arial" panose="020B0604020202020204" pitchFamily="34" charset="0"/>
              <a:buChar char="•"/>
            </a:pPr>
            <a:r>
              <a:rPr lang="en-US" sz="1600" dirty="0"/>
              <a:t>Do the red geometries indicate locations that need to be updated?</a:t>
            </a:r>
          </a:p>
        </p:txBody>
      </p:sp>
      <p:pic>
        <p:nvPicPr>
          <p:cNvPr id="9" name="Picture 8" descr="A screenshot of a computer&#10;&#10;AI-generated content may be incorrect.">
            <a:extLst>
              <a:ext uri="{FF2B5EF4-FFF2-40B4-BE49-F238E27FC236}">
                <a16:creationId xmlns:a16="http://schemas.microsoft.com/office/drawing/2014/main" id="{EDCC0D02-10E5-1639-2D42-FC7D655343AB}"/>
              </a:ext>
            </a:extLst>
          </p:cNvPr>
          <p:cNvPicPr>
            <a:picLocks noChangeAspect="1"/>
          </p:cNvPicPr>
          <p:nvPr/>
        </p:nvPicPr>
        <p:blipFill>
          <a:blip r:embed="rId2"/>
          <a:srcRect l="1036"/>
          <a:stretch>
            <a:fillRect/>
          </a:stretch>
        </p:blipFill>
        <p:spPr>
          <a:xfrm>
            <a:off x="2946399" y="853489"/>
            <a:ext cx="6032857" cy="4858529"/>
          </a:xfrm>
          <a:prstGeom prst="rect">
            <a:avLst/>
          </a:prstGeom>
        </p:spPr>
      </p:pic>
      <p:sp>
        <p:nvSpPr>
          <p:cNvPr id="2" name="TextBox 1">
            <a:extLst>
              <a:ext uri="{FF2B5EF4-FFF2-40B4-BE49-F238E27FC236}">
                <a16:creationId xmlns:a16="http://schemas.microsoft.com/office/drawing/2014/main" id="{328CEC98-B3C0-9BF6-9778-2E06E864B3E6}"/>
              </a:ext>
            </a:extLst>
          </p:cNvPr>
          <p:cNvSpPr txBox="1"/>
          <p:nvPr/>
        </p:nvSpPr>
        <p:spPr>
          <a:xfrm>
            <a:off x="8357787" y="4542090"/>
            <a:ext cx="2029626" cy="369332"/>
          </a:xfrm>
          <a:prstGeom prst="rect">
            <a:avLst/>
          </a:prstGeom>
          <a:noFill/>
        </p:spPr>
        <p:txBody>
          <a:bodyPr wrap="square" rtlCol="0">
            <a:spAutoFit/>
          </a:bodyPr>
          <a:lstStyle/>
          <a:p>
            <a:r>
              <a:rPr lang="en-CA" dirty="0">
                <a:highlight>
                  <a:srgbClr val="FFFF00"/>
                </a:highlight>
              </a:rPr>
              <a:t>Yellow are “ZZ”</a:t>
            </a:r>
          </a:p>
        </p:txBody>
      </p:sp>
      <p:sp>
        <p:nvSpPr>
          <p:cNvPr id="4" name="TextBox 3">
            <a:extLst>
              <a:ext uri="{FF2B5EF4-FFF2-40B4-BE49-F238E27FC236}">
                <a16:creationId xmlns:a16="http://schemas.microsoft.com/office/drawing/2014/main" id="{7A28F6E1-36D4-7405-C2DF-1AB33B3E6384}"/>
              </a:ext>
            </a:extLst>
          </p:cNvPr>
          <p:cNvSpPr txBox="1"/>
          <p:nvPr/>
        </p:nvSpPr>
        <p:spPr>
          <a:xfrm>
            <a:off x="9245601" y="5637199"/>
            <a:ext cx="1136850" cy="369332"/>
          </a:xfrm>
          <a:prstGeom prst="rect">
            <a:avLst/>
          </a:prstGeom>
          <a:noFill/>
        </p:spPr>
        <p:txBody>
          <a:bodyPr wrap="none" rtlCol="0">
            <a:spAutoFit/>
          </a:bodyPr>
          <a:lstStyle/>
          <a:p>
            <a:r>
              <a:rPr lang="en-US" dirty="0">
                <a:highlight>
                  <a:srgbClr val="00FFFF"/>
                </a:highlight>
              </a:rPr>
              <a:t>Neglect it</a:t>
            </a:r>
          </a:p>
        </p:txBody>
      </p:sp>
      <p:sp>
        <p:nvSpPr>
          <p:cNvPr id="5" name="TextBox 4">
            <a:extLst>
              <a:ext uri="{FF2B5EF4-FFF2-40B4-BE49-F238E27FC236}">
                <a16:creationId xmlns:a16="http://schemas.microsoft.com/office/drawing/2014/main" id="{A3AAD564-5907-ACF6-3EF4-A02F6B320689}"/>
              </a:ext>
            </a:extLst>
          </p:cNvPr>
          <p:cNvSpPr txBox="1"/>
          <p:nvPr/>
        </p:nvSpPr>
        <p:spPr>
          <a:xfrm>
            <a:off x="9355667" y="6350000"/>
            <a:ext cx="3001591" cy="369332"/>
          </a:xfrm>
          <a:prstGeom prst="rect">
            <a:avLst/>
          </a:prstGeom>
          <a:noFill/>
        </p:spPr>
        <p:txBody>
          <a:bodyPr wrap="none" rtlCol="0">
            <a:spAutoFit/>
          </a:bodyPr>
          <a:lstStyle/>
          <a:p>
            <a:r>
              <a:rPr lang="en-US" dirty="0">
                <a:highlight>
                  <a:srgbClr val="00FFFF"/>
                </a:highlight>
              </a:rPr>
              <a:t>Red part need to be updated</a:t>
            </a:r>
          </a:p>
        </p:txBody>
      </p:sp>
    </p:spTree>
    <p:extLst>
      <p:ext uri="{BB962C8B-B14F-4D97-AF65-F5344CB8AC3E}">
        <p14:creationId xmlns:p14="http://schemas.microsoft.com/office/powerpoint/2010/main" val="29354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D16C1174-8275-E9CD-B610-659BFA32E54E}"/>
              </a:ext>
            </a:extLst>
          </p:cNvPr>
          <p:cNvPicPr>
            <a:picLocks noChangeAspect="1"/>
          </p:cNvPicPr>
          <p:nvPr/>
        </p:nvPicPr>
        <p:blipFill>
          <a:blip r:embed="rId2"/>
          <a:stretch>
            <a:fillRect/>
          </a:stretch>
        </p:blipFill>
        <p:spPr>
          <a:xfrm>
            <a:off x="2209800" y="1260921"/>
            <a:ext cx="7772400" cy="2913915"/>
          </a:xfrm>
          <a:prstGeom prst="rect">
            <a:avLst/>
          </a:prstGeom>
        </p:spPr>
      </p:pic>
      <p:sp>
        <p:nvSpPr>
          <p:cNvPr id="6" name="TextBox 5">
            <a:extLst>
              <a:ext uri="{FF2B5EF4-FFF2-40B4-BE49-F238E27FC236}">
                <a16:creationId xmlns:a16="http://schemas.microsoft.com/office/drawing/2014/main" id="{1E2938E9-C003-DE19-63FB-294F775E1F25}"/>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Items not explicitly noted under “ISSUE”</a:t>
            </a:r>
          </a:p>
        </p:txBody>
      </p:sp>
      <p:sp>
        <p:nvSpPr>
          <p:cNvPr id="8" name="TextBox 7">
            <a:extLst>
              <a:ext uri="{FF2B5EF4-FFF2-40B4-BE49-F238E27FC236}">
                <a16:creationId xmlns:a16="http://schemas.microsoft.com/office/drawing/2014/main" id="{66B70BB2-EB9C-8951-5104-14438A9F9EF0}"/>
              </a:ext>
            </a:extLst>
          </p:cNvPr>
          <p:cNvSpPr txBox="1"/>
          <p:nvPr/>
        </p:nvSpPr>
        <p:spPr>
          <a:xfrm>
            <a:off x="1787235" y="4641491"/>
            <a:ext cx="9380297" cy="11648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Do the red highlights indicate information that needs to be updated?</a:t>
            </a:r>
          </a:p>
          <a:p>
            <a:pPr marL="285750" indent="-285750">
              <a:lnSpc>
                <a:spcPct val="150000"/>
              </a:lnSpc>
              <a:buFont typeface="Arial" panose="020B0604020202020204" pitchFamily="34" charset="0"/>
              <a:buChar char="•"/>
            </a:pPr>
            <a:r>
              <a:rPr lang="en-US" sz="1600" dirty="0"/>
              <a:t>What about the items without any marking?</a:t>
            </a:r>
          </a:p>
          <a:p>
            <a:pPr marL="285750" indent="-285750">
              <a:lnSpc>
                <a:spcPct val="150000"/>
              </a:lnSpc>
              <a:buFont typeface="Arial" panose="020B0604020202020204" pitchFamily="34" charset="0"/>
              <a:buChar char="•"/>
            </a:pPr>
            <a:r>
              <a:rPr lang="en-US" sz="1600" dirty="0"/>
              <a:t>Do both the PCDS and Ted’s spreadsheet need to be cross-checked when data exist in both?</a:t>
            </a:r>
          </a:p>
        </p:txBody>
      </p:sp>
    </p:spTree>
    <p:extLst>
      <p:ext uri="{BB962C8B-B14F-4D97-AF65-F5344CB8AC3E}">
        <p14:creationId xmlns:p14="http://schemas.microsoft.com/office/powerpoint/2010/main" val="621028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BBFB4D27-C04C-04BF-D217-D4D31A4A02A9}"/>
              </a:ext>
            </a:extLst>
          </p:cNvPr>
          <p:cNvPicPr>
            <a:picLocks noGrp="1" noChangeAspect="1"/>
          </p:cNvPicPr>
          <p:nvPr>
            <p:ph idx="1"/>
          </p:nvPr>
        </p:nvPicPr>
        <p:blipFill>
          <a:blip r:embed="rId2"/>
          <a:stretch>
            <a:fillRect/>
          </a:stretch>
        </p:blipFill>
        <p:spPr>
          <a:xfrm>
            <a:off x="2243132" y="1545649"/>
            <a:ext cx="8235733" cy="4152418"/>
          </a:xfrm>
        </p:spPr>
      </p:pic>
      <p:sp>
        <p:nvSpPr>
          <p:cNvPr id="6" name="TextBox 5">
            <a:extLst>
              <a:ext uri="{FF2B5EF4-FFF2-40B4-BE49-F238E27FC236}">
                <a16:creationId xmlns:a16="http://schemas.microsoft.com/office/drawing/2014/main" id="{DEB42DBD-613D-6299-FDB6-54DE941C231A}"/>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Items not explicitly noted under “ISSUE”</a:t>
            </a:r>
          </a:p>
        </p:txBody>
      </p:sp>
      <p:sp>
        <p:nvSpPr>
          <p:cNvPr id="7" name="TextBox 6">
            <a:extLst>
              <a:ext uri="{FF2B5EF4-FFF2-40B4-BE49-F238E27FC236}">
                <a16:creationId xmlns:a16="http://schemas.microsoft.com/office/drawing/2014/main" id="{E5FCE245-BBE9-FE99-56C2-156630BA6D11}"/>
              </a:ext>
            </a:extLst>
          </p:cNvPr>
          <p:cNvSpPr txBox="1"/>
          <p:nvPr/>
        </p:nvSpPr>
        <p:spPr>
          <a:xfrm>
            <a:off x="1227667" y="993758"/>
            <a:ext cx="3721212" cy="369332"/>
          </a:xfrm>
          <a:prstGeom prst="rect">
            <a:avLst/>
          </a:prstGeom>
          <a:noFill/>
        </p:spPr>
        <p:txBody>
          <a:bodyPr wrap="none" rtlCol="0">
            <a:spAutoFit/>
          </a:bodyPr>
          <a:lstStyle/>
          <a:p>
            <a:r>
              <a:rPr lang="en-US" b="1" dirty="0"/>
              <a:t>In the right Ted’s spreadsheet part</a:t>
            </a:r>
          </a:p>
        </p:txBody>
      </p:sp>
      <p:sp>
        <p:nvSpPr>
          <p:cNvPr id="8" name="TextBox 7">
            <a:extLst>
              <a:ext uri="{FF2B5EF4-FFF2-40B4-BE49-F238E27FC236}">
                <a16:creationId xmlns:a16="http://schemas.microsoft.com/office/drawing/2014/main" id="{A6DC3E80-C9F9-B17F-BBF3-6AAA530EDB05}"/>
              </a:ext>
            </a:extLst>
          </p:cNvPr>
          <p:cNvSpPr txBox="1"/>
          <p:nvPr/>
        </p:nvSpPr>
        <p:spPr>
          <a:xfrm>
            <a:off x="1049741" y="5985932"/>
            <a:ext cx="10092517" cy="584775"/>
          </a:xfrm>
          <a:prstGeom prst="rect">
            <a:avLst/>
          </a:prstGeom>
          <a:noFill/>
        </p:spPr>
        <p:txBody>
          <a:bodyPr wrap="square" rtlCol="0">
            <a:spAutoFit/>
          </a:bodyPr>
          <a:lstStyle/>
          <a:p>
            <a:r>
              <a:rPr lang="en-US" sz="1600" dirty="0"/>
              <a:t>I randomly checked a few cases and found that they should be the same as, or very similar to, the geometries listed on the left. Anything I need to do with the right highlighted ones in Ted’s spreadsheet?</a:t>
            </a:r>
          </a:p>
        </p:txBody>
      </p:sp>
      <p:sp>
        <p:nvSpPr>
          <p:cNvPr id="2" name="TextBox 1">
            <a:extLst>
              <a:ext uri="{FF2B5EF4-FFF2-40B4-BE49-F238E27FC236}">
                <a16:creationId xmlns:a16="http://schemas.microsoft.com/office/drawing/2014/main" id="{83EC8134-665D-C9C5-E5A5-0C9F3B68986A}"/>
              </a:ext>
            </a:extLst>
          </p:cNvPr>
          <p:cNvSpPr txBox="1"/>
          <p:nvPr/>
        </p:nvSpPr>
        <p:spPr>
          <a:xfrm>
            <a:off x="7601908" y="900372"/>
            <a:ext cx="113685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highlight>
                  <a:srgbClr val="00FFFF"/>
                </a:highlight>
              </a:rPr>
              <a:t>Neglect it</a:t>
            </a:r>
          </a:p>
        </p:txBody>
      </p:sp>
    </p:spTree>
    <p:extLst>
      <p:ext uri="{BB962C8B-B14F-4D97-AF65-F5344CB8AC3E}">
        <p14:creationId xmlns:p14="http://schemas.microsoft.com/office/powerpoint/2010/main" val="993457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32A12D-4299-584D-4C51-7B1D28773383}"/>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b="1" dirty="0"/>
              <a:t>The update of AGRI network</a:t>
            </a:r>
            <a:endParaRPr lang="en-CA" sz="1800" b="1" dirty="0"/>
          </a:p>
        </p:txBody>
      </p:sp>
      <p:sp>
        <p:nvSpPr>
          <p:cNvPr id="5" name="TextBox 4">
            <a:extLst>
              <a:ext uri="{FF2B5EF4-FFF2-40B4-BE49-F238E27FC236}">
                <a16:creationId xmlns:a16="http://schemas.microsoft.com/office/drawing/2014/main" id="{3D2E31B2-95E7-E8D7-E383-6876FC507948}"/>
              </a:ext>
            </a:extLst>
          </p:cNvPr>
          <p:cNvSpPr txBox="1"/>
          <p:nvPr/>
        </p:nvSpPr>
        <p:spPr>
          <a:xfrm>
            <a:off x="734231" y="1256084"/>
            <a:ext cx="10329335" cy="2431435"/>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The PCDS has been updated correspondingly.</a:t>
            </a:r>
          </a:p>
          <a:p>
            <a:pPr marL="285750" indent="-285750">
              <a:spcBef>
                <a:spcPts val="600"/>
              </a:spcBef>
              <a:spcAft>
                <a:spcPts val="600"/>
              </a:spcAft>
              <a:buFont typeface="Arial" panose="020B0604020202020204" pitchFamily="34" charset="0"/>
              <a:buChar char="•"/>
            </a:pPr>
            <a:r>
              <a:rPr lang="en-US" sz="1600" dirty="0"/>
              <a:t>Two issues:</a:t>
            </a:r>
          </a:p>
          <a:p>
            <a:pPr lvl="1">
              <a:spcBef>
                <a:spcPts val="600"/>
              </a:spcBef>
              <a:spcAft>
                <a:spcPts val="600"/>
              </a:spcAft>
            </a:pPr>
            <a:r>
              <a:rPr lang="en-US" sz="1600" dirty="0"/>
              <a:t>- For the two rows AGDLTACRES-&gt;DLTACRES and AGCRESFLAT-&gt; CRESFLAT, I’ve marked their issues as “ID”.</a:t>
            </a:r>
          </a:p>
          <a:p>
            <a:pPr lvl="1">
              <a:spcBef>
                <a:spcPts val="600"/>
              </a:spcBef>
              <a:spcAft>
                <a:spcPts val="600"/>
              </a:spcAft>
            </a:pPr>
            <a:r>
              <a:rPr lang="en-US" sz="1600" dirty="0"/>
              <a:t>- For the </a:t>
            </a:r>
            <a:r>
              <a:rPr lang="en-US" sz="1600" dirty="0" err="1"/>
              <a:t>native_id</a:t>
            </a:r>
            <a:r>
              <a:rPr lang="en-US" sz="1600" dirty="0"/>
              <a:t> AGSC026, which you marked as “No data and station has been discontinued.  Any Data associated with the closed site can be incorporated into "sp107" ”, there is no records in the PCDS, so I think I can delete this station?</a:t>
            </a:r>
          </a:p>
          <a:p>
            <a:pPr marL="285750" indent="-285750">
              <a:spcBef>
                <a:spcPts val="600"/>
              </a:spcBef>
              <a:spcAft>
                <a:spcPts val="600"/>
              </a:spcAft>
              <a:buFont typeface="Arial" panose="020B0604020202020204" pitchFamily="34" charset="0"/>
              <a:buChar char="•"/>
            </a:pPr>
            <a:endParaRPr lang="en-US" sz="1600" dirty="0"/>
          </a:p>
        </p:txBody>
      </p:sp>
      <p:sp>
        <p:nvSpPr>
          <p:cNvPr id="2" name="TextBox 1">
            <a:extLst>
              <a:ext uri="{FF2B5EF4-FFF2-40B4-BE49-F238E27FC236}">
                <a16:creationId xmlns:a16="http://schemas.microsoft.com/office/drawing/2014/main" id="{6DB6F502-5338-B5BD-15C2-31E1405C49BD}"/>
              </a:ext>
            </a:extLst>
          </p:cNvPr>
          <p:cNvSpPr txBox="1"/>
          <p:nvPr/>
        </p:nvSpPr>
        <p:spPr>
          <a:xfrm>
            <a:off x="2345267" y="4216400"/>
            <a:ext cx="2921184" cy="369332"/>
          </a:xfrm>
          <a:prstGeom prst="rect">
            <a:avLst/>
          </a:prstGeom>
          <a:noFill/>
        </p:spPr>
        <p:txBody>
          <a:bodyPr wrap="none" rtlCol="0">
            <a:spAutoFit/>
          </a:bodyPr>
          <a:lstStyle/>
          <a:p>
            <a:r>
              <a:rPr lang="en-US" dirty="0">
                <a:highlight>
                  <a:srgbClr val="00FFFF"/>
                </a:highlight>
              </a:rPr>
              <a:t>Keep the meta station there</a:t>
            </a:r>
          </a:p>
        </p:txBody>
      </p:sp>
    </p:spTree>
    <p:extLst>
      <p:ext uri="{BB962C8B-B14F-4D97-AF65-F5344CB8AC3E}">
        <p14:creationId xmlns:p14="http://schemas.microsoft.com/office/powerpoint/2010/main" val="1607639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F6D6805-3405-7E07-A62C-7E068C0660CC}"/>
              </a:ext>
            </a:extLst>
          </p:cNvPr>
          <p:cNvSpPr txBox="1"/>
          <p:nvPr/>
        </p:nvSpPr>
        <p:spPr>
          <a:xfrm>
            <a:off x="512956" y="825190"/>
            <a:ext cx="1776255" cy="369332"/>
          </a:xfrm>
          <a:prstGeom prst="rect">
            <a:avLst/>
          </a:prstGeom>
          <a:noFill/>
        </p:spPr>
        <p:txBody>
          <a:bodyPr wrap="none" rtlCol="0">
            <a:spAutoFit/>
          </a:bodyPr>
          <a:lstStyle/>
          <a:p>
            <a:r>
              <a:rPr lang="en-US" b="1" dirty="0" err="1"/>
              <a:t>Network_splite</a:t>
            </a:r>
            <a:endParaRPr lang="en-US" b="1" dirty="0"/>
          </a:p>
        </p:txBody>
      </p:sp>
      <p:sp>
        <p:nvSpPr>
          <p:cNvPr id="7" name="TextBox 6">
            <a:extLst>
              <a:ext uri="{FF2B5EF4-FFF2-40B4-BE49-F238E27FC236}">
                <a16:creationId xmlns:a16="http://schemas.microsoft.com/office/drawing/2014/main" id="{8137D2B6-A7AC-B2DE-A4F1-71D00B9FA774}"/>
              </a:ext>
            </a:extLst>
          </p:cNvPr>
          <p:cNvSpPr txBox="1"/>
          <p:nvPr/>
        </p:nvSpPr>
        <p:spPr>
          <a:xfrm>
            <a:off x="512956" y="1548807"/>
            <a:ext cx="10002644" cy="2545377"/>
          </a:xfrm>
          <a:prstGeom prst="rect">
            <a:avLst/>
          </a:prstGeom>
          <a:noFill/>
        </p:spPr>
        <p:txBody>
          <a:bodyPr wrap="square" rtlCol="0">
            <a:spAutoFit/>
          </a:bodyPr>
          <a:lstStyle/>
          <a:p>
            <a:pPr>
              <a:lnSpc>
                <a:spcPct val="150000"/>
              </a:lnSpc>
            </a:pPr>
            <a:r>
              <a:rPr lang="en-CA" dirty="0"/>
              <a:t>After the spreadsheet updating,</a:t>
            </a:r>
          </a:p>
          <a:p>
            <a:pPr marL="285750" indent="-285750">
              <a:lnSpc>
                <a:spcPct val="150000"/>
              </a:lnSpc>
              <a:buFont typeface="Arial" panose="020B0604020202020204" pitchFamily="34" charset="0"/>
              <a:buChar char="•"/>
            </a:pPr>
            <a:r>
              <a:rPr lang="en-CA" dirty="0"/>
              <a:t>FLNRO-WMB network needs to be split into BC-TS (12 stations) and BC-</a:t>
            </a:r>
            <a:r>
              <a:rPr lang="en-CA" dirty="0" err="1"/>
              <a:t>FWx</a:t>
            </a:r>
            <a:r>
              <a:rPr lang="en-CA" dirty="0"/>
              <a:t> (788 stations),</a:t>
            </a:r>
          </a:p>
          <a:p>
            <a:pPr marL="285750" indent="-285750">
              <a:lnSpc>
                <a:spcPct val="150000"/>
              </a:lnSpc>
              <a:buFont typeface="Arial" panose="020B0604020202020204" pitchFamily="34" charset="0"/>
              <a:buChar char="•"/>
            </a:pPr>
            <a:r>
              <a:rPr lang="en-CA" dirty="0"/>
              <a:t>BCH, has been split into BCH-GSO-HMP (168) and BCH-</a:t>
            </a:r>
            <a:r>
              <a:rPr lang="en-CA" dirty="0" err="1"/>
              <a:t>SiteC</a:t>
            </a:r>
            <a:r>
              <a:rPr lang="en-CA" dirty="0"/>
              <a:t> (8).</a:t>
            </a:r>
          </a:p>
          <a:p>
            <a:pPr>
              <a:lnSpc>
                <a:spcPct val="150000"/>
              </a:lnSpc>
            </a:pPr>
            <a:endParaRPr lang="en-CA" dirty="0"/>
          </a:p>
          <a:p>
            <a:pPr>
              <a:lnSpc>
                <a:spcPct val="150000"/>
              </a:lnSpc>
            </a:pPr>
            <a:r>
              <a:rPr lang="en-US" dirty="0">
                <a:highlight>
                  <a:srgbClr val="FFFF00"/>
                </a:highlight>
              </a:rPr>
              <a:t>Need to double check, and know which stations belongs to which new network, then update the </a:t>
            </a:r>
            <a:r>
              <a:rPr lang="en-US" dirty="0" err="1">
                <a:highlight>
                  <a:srgbClr val="FFFF00"/>
                </a:highlight>
              </a:rPr>
              <a:t>network_id</a:t>
            </a:r>
            <a:r>
              <a:rPr lang="en-US" dirty="0">
                <a:highlight>
                  <a:srgbClr val="FFFF00"/>
                </a:highlight>
              </a:rPr>
              <a:t> of stations</a:t>
            </a:r>
          </a:p>
        </p:txBody>
      </p:sp>
      <p:sp>
        <p:nvSpPr>
          <p:cNvPr id="2" name="TextBox 1">
            <a:extLst>
              <a:ext uri="{FF2B5EF4-FFF2-40B4-BE49-F238E27FC236}">
                <a16:creationId xmlns:a16="http://schemas.microsoft.com/office/drawing/2014/main" id="{AD9AE401-9675-811C-340B-D2D8E80EDF82}"/>
              </a:ext>
            </a:extLst>
          </p:cNvPr>
          <p:cNvSpPr txBox="1"/>
          <p:nvPr/>
        </p:nvSpPr>
        <p:spPr>
          <a:xfrm>
            <a:off x="3352800" y="4902200"/>
            <a:ext cx="3611438" cy="369332"/>
          </a:xfrm>
          <a:prstGeom prst="rect">
            <a:avLst/>
          </a:prstGeom>
          <a:noFill/>
        </p:spPr>
        <p:txBody>
          <a:bodyPr wrap="none" rtlCol="0">
            <a:spAutoFit/>
          </a:bodyPr>
          <a:lstStyle/>
          <a:p>
            <a:r>
              <a:rPr lang="en-US" dirty="0">
                <a:highlight>
                  <a:srgbClr val="00FFFF"/>
                </a:highlight>
              </a:rPr>
              <a:t>Talk with John about network again</a:t>
            </a:r>
          </a:p>
        </p:txBody>
      </p:sp>
    </p:spTree>
    <p:extLst>
      <p:ext uri="{BB962C8B-B14F-4D97-AF65-F5344CB8AC3E}">
        <p14:creationId xmlns:p14="http://schemas.microsoft.com/office/powerpoint/2010/main" val="1032514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18802</TotalTime>
  <Words>3168</Words>
  <Application>Microsoft Macintosh PowerPoint</Application>
  <PresentationFormat>Widescreen</PresentationFormat>
  <Paragraphs>357</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Aptos Narrow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Tong Li</dc:creator>
  <cp:lastModifiedBy>Tong Li</cp:lastModifiedBy>
  <cp:revision>44</cp:revision>
  <dcterms:created xsi:type="dcterms:W3CDTF">2026-01-09T20:59:00Z</dcterms:created>
  <dcterms:modified xsi:type="dcterms:W3CDTF">2026-01-23T16:42:42Z</dcterms:modified>
</cp:coreProperties>
</file>