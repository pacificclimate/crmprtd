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60" r:id="rId4"/>
    <p:sldId id="261" r:id="rId5"/>
    <p:sldId id="259" r:id="rId6"/>
    <p:sldId id="262" r:id="rId7"/>
    <p:sldId id="264" r:id="rId8"/>
    <p:sldId id="263" r:id="rId9"/>
    <p:sldId id="265" r:id="rId10"/>
    <p:sldId id="268" r:id="rId11"/>
    <p:sldId id="270" r:id="rId12"/>
    <p:sldId id="271" r:id="rId13"/>
    <p:sldId id="272" r:id="rId14"/>
    <p:sldId id="27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03"/>
    <p:restoredTop sz="94598"/>
  </p:normalViewPr>
  <p:slideViewPr>
    <p:cSldViewPr snapToGrid="0">
      <p:cViewPr>
        <p:scale>
          <a:sx n="154" d="100"/>
          <a:sy n="154" d="100"/>
        </p:scale>
        <p:origin x="800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91F68-7BFC-F167-8DB7-40FD345573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FBC78B-E919-DE6C-D099-24A18BE44C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411BE4-F366-61A9-BC94-71B435163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21567-CBE8-BC49-8700-DA5054AB2F03}" type="datetimeFigureOut">
              <a:rPr lang="en-US" smtClean="0"/>
              <a:t>1/9/26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6BF2B8-F21E-8141-929B-F0C2170A4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AB3530-D693-436B-BBC1-86992A540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1D5B4-8033-814B-9A56-7E87C8CE26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483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BA92E-C338-838D-CEA9-032E51E4D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571C14-758D-EB28-9F79-E0565A14BB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A9FF80-EC46-99FC-5B85-815D0C018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21567-CBE8-BC49-8700-DA5054AB2F03}" type="datetimeFigureOut">
              <a:rPr lang="en-US" smtClean="0"/>
              <a:t>1/9/26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719EF8-CE3B-4B88-B7EE-0620DE681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D2A2D2-7CF3-A1BC-EF13-2AE9F36F5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1D5B4-8033-814B-9A56-7E87C8CE26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7558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9ADF4-ADCB-A87F-F38A-884D7F731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52979D-0871-5F22-E0F3-A33F351494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26A2C4-5292-7AFE-D904-B2C6CF9C6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21567-CBE8-BC49-8700-DA5054AB2F03}" type="datetimeFigureOut">
              <a:rPr lang="en-US" smtClean="0"/>
              <a:t>1/9/26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382532-BB97-7EF3-2060-4319706AE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B81B75-2EB9-E3AD-85B4-AEF32758B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1D5B4-8033-814B-9A56-7E87C8CE26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0913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4B96A-706E-57AC-9B14-6091932E2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D29E39-6B14-BF24-A3A4-85FCA55590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6C20D8-D689-7E21-E03D-346AD4CD0E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9B20F3-B691-03B4-FF3C-D1746C5B6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21567-CBE8-BC49-8700-DA5054AB2F03}" type="datetimeFigureOut">
              <a:rPr lang="en-US" smtClean="0"/>
              <a:t>1/9/26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7D5E2E-F96A-096C-7D77-C4D7447F6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774257-84C6-B863-D9F9-F482EBD02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1D5B4-8033-814B-9A56-7E87C8CE26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5329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5178E-6114-E959-B5CB-0C7AD9AE0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433F07-36E0-A74E-0E58-0BAE12CC8D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014475-A002-5D63-D147-31A63A139A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114476-55E1-FF31-6445-9321C3581E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426A2F-CC75-FC6B-791C-E66B87945A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0BA365-9F3C-648B-DE9C-05F874E0F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21567-CBE8-BC49-8700-DA5054AB2F03}" type="datetimeFigureOut">
              <a:rPr lang="en-US" smtClean="0"/>
              <a:t>1/9/26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9CDB0F-31A8-7C0C-8B85-97CC3F3E1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0C3420-16BB-F257-6D94-63D946805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1D5B4-8033-814B-9A56-7E87C8CE26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9848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4C53E-09D9-A7A0-D67F-98BC5D26C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7D7922-2C2F-F24B-3880-512913ED6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21567-CBE8-BC49-8700-DA5054AB2F03}" type="datetimeFigureOut">
              <a:rPr lang="en-US" smtClean="0"/>
              <a:t>1/9/26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C85AC4-2D75-5814-E819-27BE4D891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E0DD87-402B-8089-6C83-311A94B2E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1D5B4-8033-814B-9A56-7E87C8CE26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5293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37B25B-9DBB-2922-7879-FFC6B12FB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21567-CBE8-BC49-8700-DA5054AB2F03}" type="datetimeFigureOut">
              <a:rPr lang="en-US" smtClean="0"/>
              <a:t>1/9/26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DD1687-A2B1-2759-FB3B-486A8F80A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25023C-486B-A725-DB29-E40C8B01F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1D5B4-8033-814B-9A56-7E87C8CE26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512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B98F8-3958-5AF4-9D24-96AF1230C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318191-3AB5-9CB5-0609-513CC38E19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C0B289-A9D5-8D11-2F4D-6C0062841D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B1185D-F7C1-E4A1-8AE3-E2DD6FD15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21567-CBE8-BC49-8700-DA5054AB2F03}" type="datetimeFigureOut">
              <a:rPr lang="en-US" smtClean="0"/>
              <a:t>1/9/26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1C9183-AD6C-A3BD-81CC-8971C6E04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F76204-900E-A787-DE1C-8DCAF6166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1D5B4-8033-814B-9A56-7E87C8CE26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9933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17093-53C6-9DE1-666C-7B73DB376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B4C3C1-98CB-2794-44F2-91F87FC457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9ABCC2-59D0-15D2-BC91-6FB7BDC55C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1F4C4A-E78F-61CC-D6BA-688F9F913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21567-CBE8-BC49-8700-DA5054AB2F03}" type="datetimeFigureOut">
              <a:rPr lang="en-US" smtClean="0"/>
              <a:t>1/9/26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8E2620-C58D-E7C0-A233-80287D198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852F4B-BB54-C364-D98D-ABB264D14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1D5B4-8033-814B-9A56-7E87C8CE26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270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7C7EC-35C4-BD03-3068-11B6D9D8B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3AAB1E-3477-413B-932F-AA94B49FDB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C8150C-FA7B-0C28-4523-5F907F68D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21567-CBE8-BC49-8700-DA5054AB2F03}" type="datetimeFigureOut">
              <a:rPr lang="en-US" smtClean="0"/>
              <a:t>1/9/26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D0FC21-F4BD-C7A2-86F5-BAA4EAA31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5AC35C-9A92-99C1-12EB-0DC5E700D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1D5B4-8033-814B-9A56-7E87C8CE26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4644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013152-D023-5CBB-677D-AE9634FBDA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3EF3D-B026-ADED-0635-9DF7F4DC45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6CB59A-E780-785E-6E46-BD9986ED0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21567-CBE8-BC49-8700-DA5054AB2F03}" type="datetimeFigureOut">
              <a:rPr lang="en-US" smtClean="0"/>
              <a:t>1/9/26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74557C-E576-99BC-20E2-4C610FA59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1BDC83-852C-1B5D-8821-E9C2A5667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1D5B4-8033-814B-9A56-7E87C8CE26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060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9E63BD-691B-F093-7BFE-F38242F359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AC3708-8679-73E6-CF02-830A898AF2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3CF799-75F7-2489-6814-BA89DA9E09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C21567-CBE8-BC49-8700-DA5054AB2F03}" type="datetimeFigureOut">
              <a:rPr lang="en-US" smtClean="0"/>
              <a:t>1/9/26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C562D8-7357-FFB9-7CC9-87BFD2FFFA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6E3EBD-8C7C-F9F2-BAD6-6AB7B81D56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31D5B4-8033-814B-9A56-7E87C8CE26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0871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F60C1-5D3A-CBF2-E4F8-2A22A3D99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67B4BB8-D4B3-B630-F901-BBC9400C3FB6}"/>
              </a:ext>
            </a:extLst>
          </p:cNvPr>
          <p:cNvSpPr txBox="1"/>
          <p:nvPr/>
        </p:nvSpPr>
        <p:spPr>
          <a:xfrm>
            <a:off x="795865" y="433443"/>
            <a:ext cx="8263467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CA" b="1" dirty="0"/>
              <a:t>Progress</a:t>
            </a:r>
          </a:p>
          <a:p>
            <a:pPr>
              <a:buNone/>
            </a:pPr>
            <a:endParaRPr lang="en-CA" sz="1600" dirty="0"/>
          </a:p>
          <a:p>
            <a:pPr>
              <a:buNone/>
            </a:pPr>
            <a:r>
              <a:rPr lang="en-CA" sz="1600" b="1" dirty="0"/>
              <a:t>Completed updates (majority of “ISSUE” items in PCDS):</a:t>
            </a:r>
            <a:endParaRPr lang="en-CA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600" dirty="0"/>
              <a:t>Additional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600" dirty="0"/>
              <a:t>Delete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600" dirty="0"/>
              <a:t>ID / Name / Location updates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600" dirty="0"/>
              <a:t>Concatenate</a:t>
            </a:r>
          </a:p>
          <a:p>
            <a:br>
              <a:rPr lang="en-CA" sz="1600" dirty="0"/>
            </a:br>
            <a:endParaRPr lang="en-CA" sz="1600" dirty="0"/>
          </a:p>
          <a:p>
            <a:pPr>
              <a:buNone/>
            </a:pPr>
            <a:r>
              <a:rPr lang="en-CA" sz="1600" b="1" dirty="0"/>
              <a:t>Completed updates (selected specific “ISSUE” types):</a:t>
            </a:r>
            <a:endParaRPr lang="en-CA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600" dirty="0"/>
              <a:t>Additional: Replaces * – Concatenate data record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600" dirty="0"/>
              <a:t>Concatenate data and delete this station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600" dirty="0"/>
              <a:t>Replaced by * – Move data record, delete station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600" dirty="0"/>
              <a:t>Missing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600" dirty="0"/>
              <a:t>New</a:t>
            </a:r>
            <a:r>
              <a:rPr lang="zh-CN" altLang="en-US" sz="1600" dirty="0"/>
              <a:t> </a:t>
            </a:r>
            <a:r>
              <a:rPr lang="en-CA" altLang="zh-CN" sz="1600" dirty="0"/>
              <a:t>(attribution pending)</a:t>
            </a:r>
            <a:endParaRPr lang="en-CA" sz="1600" dirty="0"/>
          </a:p>
          <a:p>
            <a:pPr>
              <a:buNone/>
            </a:pPr>
            <a:endParaRPr lang="en-CA" sz="1600" dirty="0"/>
          </a:p>
          <a:p>
            <a:pPr>
              <a:buNone/>
            </a:pPr>
            <a:r>
              <a:rPr lang="en-CA" sz="1600" b="1" dirty="0"/>
              <a:t>Currently in progress:</a:t>
            </a:r>
            <a:endParaRPr lang="en-CA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600" dirty="0"/>
              <a:t>Case-by-case “ISSUE” items</a:t>
            </a:r>
            <a:br>
              <a:rPr lang="en-CA" sz="1600" dirty="0"/>
            </a:br>
            <a:endParaRPr lang="en-CA" sz="1600" dirty="0"/>
          </a:p>
          <a:p>
            <a:pPr>
              <a:buNone/>
            </a:pPr>
            <a:r>
              <a:rPr lang="en-CA" sz="1600" b="1" dirty="0"/>
              <a:t>Not started yet:</a:t>
            </a:r>
            <a:endParaRPr lang="en-CA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600" dirty="0"/>
              <a:t>Changes related to </a:t>
            </a:r>
            <a:r>
              <a:rPr lang="en-CA" sz="1600" i="1" dirty="0"/>
              <a:t>Attribution</a:t>
            </a:r>
            <a:endParaRPr lang="en-CA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600" dirty="0"/>
              <a:t>Items not explicitly noted under “ISSUE”</a:t>
            </a:r>
          </a:p>
        </p:txBody>
      </p:sp>
    </p:spTree>
    <p:extLst>
      <p:ext uri="{BB962C8B-B14F-4D97-AF65-F5344CB8AC3E}">
        <p14:creationId xmlns:p14="http://schemas.microsoft.com/office/powerpoint/2010/main" val="419947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F3D710-7354-F91E-3853-FA204D560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976FFBE-3957-C4B1-934B-212BBE01050A}"/>
              </a:ext>
            </a:extLst>
          </p:cNvPr>
          <p:cNvSpPr txBox="1"/>
          <p:nvPr/>
        </p:nvSpPr>
        <p:spPr>
          <a:xfrm>
            <a:off x="330200" y="2979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800" b="1" dirty="0"/>
              <a:t>Additional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A8E6A3D-AF60-FE71-901E-E86321AA5B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4066" y="973667"/>
            <a:ext cx="7772400" cy="370308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ADD6A02-5756-6E9B-24C3-24867F830368}"/>
              </a:ext>
            </a:extLst>
          </p:cNvPr>
          <p:cNvSpPr txBox="1"/>
          <p:nvPr/>
        </p:nvSpPr>
        <p:spPr>
          <a:xfrm>
            <a:off x="1058332" y="5147733"/>
            <a:ext cx="9821334" cy="984885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I used the summarized information to update the </a:t>
            </a:r>
            <a:r>
              <a:rPr lang="en-US" sz="1600" b="1" dirty="0" err="1"/>
              <a:t>meta_station</a:t>
            </a:r>
            <a:r>
              <a:rPr lang="en-US" sz="1600" b="1" dirty="0"/>
              <a:t> </a:t>
            </a:r>
            <a:r>
              <a:rPr lang="en-US" sz="1600" dirty="0"/>
              <a:t>and </a:t>
            </a:r>
            <a:r>
              <a:rPr lang="en-US" sz="1600" b="1" dirty="0" err="1"/>
              <a:t>meta_history</a:t>
            </a:r>
            <a:r>
              <a:rPr lang="en-US" sz="1600" b="1" dirty="0"/>
              <a:t> </a:t>
            </a:r>
            <a:r>
              <a:rPr lang="en-US" sz="1600" dirty="0"/>
              <a:t>tables. 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After comparing the information in the PCDS form with Ted’s spreadsheet, I found 44 items that did not match. For these cases, I used the information from the PCDS form to insert the stations.</a:t>
            </a:r>
          </a:p>
        </p:txBody>
      </p:sp>
    </p:spTree>
    <p:extLst>
      <p:ext uri="{BB962C8B-B14F-4D97-AF65-F5344CB8AC3E}">
        <p14:creationId xmlns:p14="http://schemas.microsoft.com/office/powerpoint/2010/main" val="14982852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7693C8-110A-6682-FA9F-ABDA371CD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EF366C5-8A82-7CB9-CC16-AA0783164C7B}"/>
              </a:ext>
            </a:extLst>
          </p:cNvPr>
          <p:cNvSpPr txBox="1"/>
          <p:nvPr/>
        </p:nvSpPr>
        <p:spPr>
          <a:xfrm>
            <a:off x="330200" y="2979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b="1" dirty="0"/>
              <a:t>Delete</a:t>
            </a:r>
          </a:p>
        </p:txBody>
      </p:sp>
      <p:pic>
        <p:nvPicPr>
          <p:cNvPr id="3" name="Picture 2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9CE15F22-D64D-2208-79EA-40374FEAF1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2476" y="574133"/>
            <a:ext cx="3228086" cy="605366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8B815AF-2791-F678-1EC5-AE5B7959EF0F}"/>
              </a:ext>
            </a:extLst>
          </p:cNvPr>
          <p:cNvSpPr txBox="1"/>
          <p:nvPr/>
        </p:nvSpPr>
        <p:spPr>
          <a:xfrm>
            <a:off x="6206066" y="1727200"/>
            <a:ext cx="5071533" cy="1231106"/>
          </a:xfrm>
          <a:prstGeom prst="rect">
            <a:avLst/>
          </a:prstGeom>
          <a:solidFill>
            <a:srgbClr val="F2F2F2">
              <a:alpha val="63922"/>
            </a:srgb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/>
            </a:lvl1pPr>
          </a:lstStyle>
          <a:p>
            <a:r>
              <a:rPr lang="en-US" dirty="0"/>
              <a:t>I deleted 346 entries based on their </a:t>
            </a:r>
            <a:r>
              <a:rPr lang="en-US" b="1" dirty="0" err="1"/>
              <a:t>station_id</a:t>
            </a:r>
            <a:r>
              <a:rPr lang="en-US" dirty="0"/>
              <a:t>. </a:t>
            </a:r>
          </a:p>
          <a:p>
            <a:r>
              <a:rPr lang="en-US" dirty="0"/>
              <a:t>Due to the logical relationships between database tables, the deletions had to be carried out in a specific order across the related tables.</a:t>
            </a:r>
          </a:p>
        </p:txBody>
      </p:sp>
    </p:spTree>
    <p:extLst>
      <p:ext uri="{BB962C8B-B14F-4D97-AF65-F5344CB8AC3E}">
        <p14:creationId xmlns:p14="http://schemas.microsoft.com/office/powerpoint/2010/main" val="9673940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20401-E3DF-EA3A-691B-89C67CAEC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AB54E01-544B-CE25-BCB2-A4553A9819F2}"/>
              </a:ext>
            </a:extLst>
          </p:cNvPr>
          <p:cNvSpPr txBox="1"/>
          <p:nvPr/>
        </p:nvSpPr>
        <p:spPr>
          <a:xfrm>
            <a:off x="457200" y="382601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600" b="1" dirty="0"/>
              <a:t>ID / Name / Location updates</a:t>
            </a:r>
            <a:endParaRPr lang="en-US" sz="1600" b="1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0C73D73-E37B-E1A1-59D8-CF5BDD2679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1625060"/>
              </p:ext>
            </p:extLst>
          </p:nvPr>
        </p:nvGraphicFramePr>
        <p:xfrm>
          <a:off x="97364" y="1089025"/>
          <a:ext cx="11997271" cy="3095999"/>
        </p:xfrm>
        <a:graphic>
          <a:graphicData uri="http://schemas.openxmlformats.org/drawingml/2006/table">
            <a:tbl>
              <a:tblPr>
                <a:tableStyleId>{1FECB4D8-DB02-4DC6-A0A2-4F2EBAE1DC90}</a:tableStyleId>
              </a:tblPr>
              <a:tblGrid>
                <a:gridCol w="646006">
                  <a:extLst>
                    <a:ext uri="{9D8B030D-6E8A-4147-A177-3AD203B41FA5}">
                      <a16:colId xmlns:a16="http://schemas.microsoft.com/office/drawing/2014/main" val="672091880"/>
                    </a:ext>
                  </a:extLst>
                </a:gridCol>
                <a:gridCol w="756751">
                  <a:extLst>
                    <a:ext uri="{9D8B030D-6E8A-4147-A177-3AD203B41FA5}">
                      <a16:colId xmlns:a16="http://schemas.microsoft.com/office/drawing/2014/main" val="1437620394"/>
                    </a:ext>
                  </a:extLst>
                </a:gridCol>
                <a:gridCol w="756751">
                  <a:extLst>
                    <a:ext uri="{9D8B030D-6E8A-4147-A177-3AD203B41FA5}">
                      <a16:colId xmlns:a16="http://schemas.microsoft.com/office/drawing/2014/main" val="3989611990"/>
                    </a:ext>
                  </a:extLst>
                </a:gridCol>
                <a:gridCol w="756751">
                  <a:extLst>
                    <a:ext uri="{9D8B030D-6E8A-4147-A177-3AD203B41FA5}">
                      <a16:colId xmlns:a16="http://schemas.microsoft.com/office/drawing/2014/main" val="2479576429"/>
                    </a:ext>
                  </a:extLst>
                </a:gridCol>
                <a:gridCol w="756751">
                  <a:extLst>
                    <a:ext uri="{9D8B030D-6E8A-4147-A177-3AD203B41FA5}">
                      <a16:colId xmlns:a16="http://schemas.microsoft.com/office/drawing/2014/main" val="4129763507"/>
                    </a:ext>
                  </a:extLst>
                </a:gridCol>
                <a:gridCol w="756751">
                  <a:extLst>
                    <a:ext uri="{9D8B030D-6E8A-4147-A177-3AD203B41FA5}">
                      <a16:colId xmlns:a16="http://schemas.microsoft.com/office/drawing/2014/main" val="3027309081"/>
                    </a:ext>
                  </a:extLst>
                </a:gridCol>
                <a:gridCol w="756751">
                  <a:extLst>
                    <a:ext uri="{9D8B030D-6E8A-4147-A177-3AD203B41FA5}">
                      <a16:colId xmlns:a16="http://schemas.microsoft.com/office/drawing/2014/main" val="3090804830"/>
                    </a:ext>
                  </a:extLst>
                </a:gridCol>
                <a:gridCol w="756751">
                  <a:extLst>
                    <a:ext uri="{9D8B030D-6E8A-4147-A177-3AD203B41FA5}">
                      <a16:colId xmlns:a16="http://schemas.microsoft.com/office/drawing/2014/main" val="2207913937"/>
                    </a:ext>
                  </a:extLst>
                </a:gridCol>
                <a:gridCol w="756751">
                  <a:extLst>
                    <a:ext uri="{9D8B030D-6E8A-4147-A177-3AD203B41FA5}">
                      <a16:colId xmlns:a16="http://schemas.microsoft.com/office/drawing/2014/main" val="3197706310"/>
                    </a:ext>
                  </a:extLst>
                </a:gridCol>
                <a:gridCol w="756751">
                  <a:extLst>
                    <a:ext uri="{9D8B030D-6E8A-4147-A177-3AD203B41FA5}">
                      <a16:colId xmlns:a16="http://schemas.microsoft.com/office/drawing/2014/main" val="689766681"/>
                    </a:ext>
                  </a:extLst>
                </a:gridCol>
                <a:gridCol w="756751">
                  <a:extLst>
                    <a:ext uri="{9D8B030D-6E8A-4147-A177-3AD203B41FA5}">
                      <a16:colId xmlns:a16="http://schemas.microsoft.com/office/drawing/2014/main" val="2120547287"/>
                    </a:ext>
                  </a:extLst>
                </a:gridCol>
                <a:gridCol w="756751">
                  <a:extLst>
                    <a:ext uri="{9D8B030D-6E8A-4147-A177-3AD203B41FA5}">
                      <a16:colId xmlns:a16="http://schemas.microsoft.com/office/drawing/2014/main" val="3982984815"/>
                    </a:ext>
                  </a:extLst>
                </a:gridCol>
                <a:gridCol w="756751">
                  <a:extLst>
                    <a:ext uri="{9D8B030D-6E8A-4147-A177-3AD203B41FA5}">
                      <a16:colId xmlns:a16="http://schemas.microsoft.com/office/drawing/2014/main" val="2490866105"/>
                    </a:ext>
                  </a:extLst>
                </a:gridCol>
                <a:gridCol w="756751">
                  <a:extLst>
                    <a:ext uri="{9D8B030D-6E8A-4147-A177-3AD203B41FA5}">
                      <a16:colId xmlns:a16="http://schemas.microsoft.com/office/drawing/2014/main" val="82414379"/>
                    </a:ext>
                  </a:extLst>
                </a:gridCol>
                <a:gridCol w="756751">
                  <a:extLst>
                    <a:ext uri="{9D8B030D-6E8A-4147-A177-3AD203B41FA5}">
                      <a16:colId xmlns:a16="http://schemas.microsoft.com/office/drawing/2014/main" val="3927861584"/>
                    </a:ext>
                  </a:extLst>
                </a:gridCol>
                <a:gridCol w="756751">
                  <a:extLst>
                    <a:ext uri="{9D8B030D-6E8A-4147-A177-3AD203B41FA5}">
                      <a16:colId xmlns:a16="http://schemas.microsoft.com/office/drawing/2014/main" val="3973540191"/>
                    </a:ext>
                  </a:extLst>
                </a:gridCol>
              </a:tblGrid>
              <a:tr h="414833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CA" sz="900" dirty="0">
                        <a:effectLst/>
                      </a:endParaRPr>
                    </a:p>
                  </a:txBody>
                  <a:tcPr marL="26860" marR="26860" marT="13430" marB="1343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CA" sz="1000" b="1" dirty="0">
                          <a:effectLst/>
                        </a:rPr>
                        <a:t>ISSUE</a:t>
                      </a:r>
                    </a:p>
                  </a:txBody>
                  <a:tcPr marL="26860" marR="26860" marT="13430" marB="1343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CA" sz="1000" b="1" dirty="0">
                          <a:effectLst/>
                        </a:rPr>
                        <a:t>Station ID</a:t>
                      </a:r>
                    </a:p>
                  </a:txBody>
                  <a:tcPr marL="26860" marR="26860" marT="13430" marB="1343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CA" sz="1000" b="1" dirty="0">
                          <a:effectLst/>
                        </a:rPr>
                        <a:t>Network ID</a:t>
                      </a:r>
                    </a:p>
                  </a:txBody>
                  <a:tcPr marL="26860" marR="26860" marT="13430" marB="1343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CA" sz="1000" b="1" dirty="0">
                          <a:effectLst/>
                        </a:rPr>
                        <a:t>Network Name</a:t>
                      </a:r>
                    </a:p>
                  </a:txBody>
                  <a:tcPr marL="26860" marR="26860" marT="13430" marB="1343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CA" sz="1000" b="1">
                          <a:effectLst/>
                        </a:rPr>
                        <a:t>old_native_id</a:t>
                      </a:r>
                    </a:p>
                  </a:txBody>
                  <a:tcPr marL="26860" marR="26860" marT="13430" marB="1343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CA" sz="1000" b="1" dirty="0" err="1">
                          <a:effectLst/>
                        </a:rPr>
                        <a:t>new_native_id</a:t>
                      </a:r>
                      <a:endParaRPr lang="en-CA" sz="1000" b="1" dirty="0">
                        <a:effectLst/>
                      </a:endParaRPr>
                    </a:p>
                  </a:txBody>
                  <a:tcPr marL="26860" marR="26860" marT="13430" marB="1343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CA" sz="1000" b="1" dirty="0" err="1">
                          <a:effectLst/>
                        </a:rPr>
                        <a:t>old_station_name</a:t>
                      </a:r>
                      <a:endParaRPr lang="en-CA" sz="1000" b="1" dirty="0">
                        <a:effectLst/>
                      </a:endParaRPr>
                    </a:p>
                  </a:txBody>
                  <a:tcPr marL="26860" marR="26860" marT="13430" marB="1343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CA" sz="1000" b="1" dirty="0" err="1">
                          <a:effectLst/>
                        </a:rPr>
                        <a:t>new_station_name</a:t>
                      </a:r>
                      <a:endParaRPr lang="en-CA" sz="1000" b="1" dirty="0">
                        <a:effectLst/>
                      </a:endParaRPr>
                    </a:p>
                  </a:txBody>
                  <a:tcPr marL="26860" marR="26860" marT="13430" marB="1343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CA" sz="1000" b="1" dirty="0" err="1">
                          <a:effectLst/>
                        </a:rPr>
                        <a:t>n_names</a:t>
                      </a:r>
                      <a:endParaRPr lang="en-CA" sz="1000" b="1" dirty="0">
                        <a:effectLst/>
                      </a:endParaRPr>
                    </a:p>
                  </a:txBody>
                  <a:tcPr marL="26860" marR="26860" marT="13430" marB="1343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CA" sz="1000" b="1" dirty="0" err="1">
                          <a:effectLst/>
                        </a:rPr>
                        <a:t>old_lat</a:t>
                      </a:r>
                      <a:endParaRPr lang="en-CA" sz="1000" b="1" dirty="0">
                        <a:effectLst/>
                      </a:endParaRPr>
                    </a:p>
                  </a:txBody>
                  <a:tcPr marL="26860" marR="26860" marT="13430" marB="1343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CA" sz="1000" b="1" dirty="0" err="1">
                          <a:effectLst/>
                        </a:rPr>
                        <a:t>old_lon</a:t>
                      </a:r>
                      <a:endParaRPr lang="en-CA" sz="1000" b="1" dirty="0">
                        <a:effectLst/>
                      </a:endParaRPr>
                    </a:p>
                  </a:txBody>
                  <a:tcPr marL="26860" marR="26860" marT="13430" marB="1343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CA" sz="1000" b="1" dirty="0" err="1">
                          <a:effectLst/>
                        </a:rPr>
                        <a:t>old_elev</a:t>
                      </a:r>
                      <a:endParaRPr lang="en-CA" sz="1000" b="1" dirty="0">
                        <a:effectLst/>
                      </a:endParaRPr>
                    </a:p>
                  </a:txBody>
                  <a:tcPr marL="26860" marR="26860" marT="13430" marB="1343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CA" sz="1000" b="1" dirty="0" err="1">
                          <a:effectLst/>
                        </a:rPr>
                        <a:t>new_lat</a:t>
                      </a:r>
                      <a:endParaRPr lang="en-CA" sz="1000" b="1" dirty="0">
                        <a:effectLst/>
                      </a:endParaRPr>
                    </a:p>
                  </a:txBody>
                  <a:tcPr marL="26860" marR="26860" marT="13430" marB="1343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CA" sz="1000" b="1" dirty="0" err="1">
                          <a:effectLst/>
                        </a:rPr>
                        <a:t>new_lon</a:t>
                      </a:r>
                      <a:endParaRPr lang="en-CA" sz="1000" b="1" dirty="0">
                        <a:effectLst/>
                      </a:endParaRPr>
                    </a:p>
                  </a:txBody>
                  <a:tcPr marL="26860" marR="26860" marT="13430" marB="1343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CA" sz="1000" b="1" dirty="0" err="1">
                          <a:effectLst/>
                        </a:rPr>
                        <a:t>new_elev</a:t>
                      </a:r>
                      <a:endParaRPr lang="en-CA" sz="1000" b="1" dirty="0">
                        <a:effectLst/>
                      </a:endParaRPr>
                    </a:p>
                  </a:txBody>
                  <a:tcPr marL="26860" marR="26860" marT="13430" marB="13430" anchor="ctr"/>
                </a:tc>
                <a:extLst>
                  <a:ext uri="{0D108BD9-81ED-4DB2-BD59-A6C34878D82A}">
                    <a16:rowId xmlns:a16="http://schemas.microsoft.com/office/drawing/2014/main" val="3781327821"/>
                  </a:ext>
                </a:extLst>
              </a:tr>
              <a:tr h="57204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CA" sz="900" b="0" dirty="0">
                          <a:effectLst/>
                        </a:rPr>
                        <a:t>0</a:t>
                      </a:r>
                    </a:p>
                  </a:txBody>
                  <a:tcPr marL="26860" marR="26860" marT="13430" marB="13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900" dirty="0">
                          <a:effectLst/>
                        </a:rPr>
                        <a:t>ID, Location</a:t>
                      </a:r>
                    </a:p>
                  </a:txBody>
                  <a:tcPr marL="26860" marR="26860" marT="13430" marB="13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900" dirty="0">
                          <a:effectLst/>
                        </a:rPr>
                        <a:t>3282</a:t>
                      </a:r>
                    </a:p>
                  </a:txBody>
                  <a:tcPr marL="26860" marR="26860" marT="13430" marB="13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900">
                          <a:effectLst/>
                        </a:rPr>
                        <a:t>9</a:t>
                      </a:r>
                    </a:p>
                  </a:txBody>
                  <a:tcPr marL="26860" marR="26860" marT="13430" marB="13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900" dirty="0">
                          <a:effectLst/>
                        </a:rPr>
                        <a:t>BC-Air</a:t>
                      </a:r>
                    </a:p>
                  </a:txBody>
                  <a:tcPr marL="26860" marR="26860" marT="13430" marB="13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900">
                          <a:effectLst/>
                        </a:rPr>
                        <a:t>E278829</a:t>
                      </a:r>
                    </a:p>
                  </a:txBody>
                  <a:tcPr marL="26860" marR="26860" marT="13430" marB="13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900">
                          <a:effectLst/>
                        </a:rPr>
                        <a:t>233</a:t>
                      </a:r>
                    </a:p>
                  </a:txBody>
                  <a:tcPr marL="26860" marR="26860" marT="13430" marB="13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900">
                          <a:effectLst/>
                        </a:rPr>
                        <a:t>Prince George Marsulex Met</a:t>
                      </a:r>
                    </a:p>
                  </a:txBody>
                  <a:tcPr marL="26860" marR="26860" marT="13430" marB="13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900">
                          <a:effectLst/>
                        </a:rPr>
                        <a:t>Prince George Marsulex Met</a:t>
                      </a:r>
                    </a:p>
                  </a:txBody>
                  <a:tcPr marL="26860" marR="26860" marT="13430" marB="13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900">
                          <a:effectLst/>
                        </a:rPr>
                        <a:t>1</a:t>
                      </a:r>
                    </a:p>
                  </a:txBody>
                  <a:tcPr marL="26860" marR="26860" marT="13430" marB="13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900">
                          <a:effectLst/>
                        </a:rPr>
                        <a:t>53.845000</a:t>
                      </a:r>
                    </a:p>
                  </a:txBody>
                  <a:tcPr marL="26860" marR="26860" marT="13430" marB="13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900">
                          <a:effectLst/>
                        </a:rPr>
                        <a:t>-122.667222</a:t>
                      </a:r>
                    </a:p>
                  </a:txBody>
                  <a:tcPr marL="26860" marR="26860" marT="13430" marB="13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900">
                          <a:effectLst/>
                        </a:rPr>
                        <a:t>535.0</a:t>
                      </a:r>
                    </a:p>
                  </a:txBody>
                  <a:tcPr marL="26860" marR="26860" marT="13430" marB="13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900">
                          <a:effectLst/>
                        </a:rPr>
                        <a:t>53.967500</a:t>
                      </a:r>
                    </a:p>
                  </a:txBody>
                  <a:tcPr marL="26860" marR="26860" marT="13430" marB="13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900">
                          <a:effectLst/>
                        </a:rPr>
                        <a:t>-122.690800</a:t>
                      </a:r>
                    </a:p>
                  </a:txBody>
                  <a:tcPr marL="26860" marR="26860" marT="13430" marB="13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900">
                          <a:effectLst/>
                        </a:rPr>
                        <a:t>577.0</a:t>
                      </a:r>
                    </a:p>
                  </a:txBody>
                  <a:tcPr marL="26860" marR="26860" marT="13430" marB="13430" anchor="ctr"/>
                </a:tc>
                <a:extLst>
                  <a:ext uri="{0D108BD9-81ED-4DB2-BD59-A6C34878D82A}">
                    <a16:rowId xmlns:a16="http://schemas.microsoft.com/office/drawing/2014/main" val="904845643"/>
                  </a:ext>
                </a:extLst>
              </a:tr>
              <a:tr h="65064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CA" sz="900" b="0">
                          <a:effectLst/>
                        </a:rPr>
                        <a:t>1</a:t>
                      </a:r>
                    </a:p>
                  </a:txBody>
                  <a:tcPr marL="26860" marR="26860" marT="13430" marB="13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900">
                          <a:effectLst/>
                        </a:rPr>
                        <a:t>ID, Location</a:t>
                      </a:r>
                    </a:p>
                  </a:txBody>
                  <a:tcPr marL="26860" marR="26860" marT="13430" marB="13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900">
                          <a:effectLst/>
                        </a:rPr>
                        <a:t>1573</a:t>
                      </a:r>
                    </a:p>
                  </a:txBody>
                  <a:tcPr marL="26860" marR="26860" marT="13430" marB="13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900" dirty="0">
                          <a:effectLst/>
                        </a:rPr>
                        <a:t>9</a:t>
                      </a:r>
                    </a:p>
                  </a:txBody>
                  <a:tcPr marL="26860" marR="26860" marT="13430" marB="13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900" dirty="0">
                          <a:effectLst/>
                        </a:rPr>
                        <a:t>BC-Air</a:t>
                      </a:r>
                    </a:p>
                  </a:txBody>
                  <a:tcPr marL="26860" marR="26860" marT="13430" marB="13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900" dirty="0">
                          <a:effectLst/>
                        </a:rPr>
                        <a:t>E237431</a:t>
                      </a:r>
                    </a:p>
                  </a:txBody>
                  <a:tcPr marL="26860" marR="26860" marT="13430" marB="13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900" dirty="0">
                          <a:effectLst/>
                        </a:rPr>
                        <a:t>344</a:t>
                      </a:r>
                    </a:p>
                  </a:txBody>
                  <a:tcPr marL="26860" marR="26860" marT="13430" marB="13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900" dirty="0">
                          <a:effectLst/>
                        </a:rPr>
                        <a:t>Merritt Granite-Garcia Mobile</a:t>
                      </a:r>
                    </a:p>
                  </a:txBody>
                  <a:tcPr marL="26860" marR="26860" marT="13430" marB="13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900">
                          <a:effectLst/>
                        </a:rPr>
                        <a:t>Merritt Granite-Garcia Mobile</a:t>
                      </a:r>
                    </a:p>
                  </a:txBody>
                  <a:tcPr marL="26860" marR="26860" marT="13430" marB="13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900" dirty="0">
                          <a:effectLst/>
                        </a:rPr>
                        <a:t>1</a:t>
                      </a:r>
                    </a:p>
                  </a:txBody>
                  <a:tcPr marL="26860" marR="26860" marT="13430" marB="13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900">
                          <a:effectLst/>
                        </a:rPr>
                        <a:t>50.112778</a:t>
                      </a:r>
                    </a:p>
                  </a:txBody>
                  <a:tcPr marL="26860" marR="26860" marT="13430" marB="13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900">
                          <a:effectLst/>
                        </a:rPr>
                        <a:t>-120.788889</a:t>
                      </a:r>
                    </a:p>
                  </a:txBody>
                  <a:tcPr marL="26860" marR="26860" marT="13430" marB="13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900">
                          <a:effectLst/>
                        </a:rPr>
                        <a:t>500.0</a:t>
                      </a:r>
                    </a:p>
                  </a:txBody>
                  <a:tcPr marL="26860" marR="26860" marT="13430" marB="13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900">
                          <a:effectLst/>
                        </a:rPr>
                        <a:t>50.112800</a:t>
                      </a:r>
                    </a:p>
                  </a:txBody>
                  <a:tcPr marL="26860" marR="26860" marT="13430" marB="13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900">
                          <a:effectLst/>
                        </a:rPr>
                        <a:t>-121.788900</a:t>
                      </a:r>
                    </a:p>
                  </a:txBody>
                  <a:tcPr marL="26860" marR="26860" marT="13430" marB="13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900">
                          <a:effectLst/>
                        </a:rPr>
                        <a:t>500.0</a:t>
                      </a:r>
                    </a:p>
                  </a:txBody>
                  <a:tcPr marL="26860" marR="26860" marT="13430" marB="13430" anchor="ctr"/>
                </a:tc>
                <a:extLst>
                  <a:ext uri="{0D108BD9-81ED-4DB2-BD59-A6C34878D82A}">
                    <a16:rowId xmlns:a16="http://schemas.microsoft.com/office/drawing/2014/main" val="3921671184"/>
                  </a:ext>
                </a:extLst>
              </a:tr>
              <a:tr h="72924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CA" sz="900" b="0">
                          <a:effectLst/>
                        </a:rPr>
                        <a:t>2</a:t>
                      </a:r>
                    </a:p>
                  </a:txBody>
                  <a:tcPr marL="26860" marR="26860" marT="13430" marB="13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900">
                          <a:effectLst/>
                        </a:rPr>
                        <a:t>ID, Location</a:t>
                      </a:r>
                    </a:p>
                  </a:txBody>
                  <a:tcPr marL="26860" marR="26860" marT="13430" marB="13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900">
                          <a:effectLst/>
                        </a:rPr>
                        <a:t>2603</a:t>
                      </a:r>
                    </a:p>
                  </a:txBody>
                  <a:tcPr marL="26860" marR="26860" marT="13430" marB="13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900">
                          <a:effectLst/>
                        </a:rPr>
                        <a:t>9</a:t>
                      </a:r>
                    </a:p>
                  </a:txBody>
                  <a:tcPr marL="26860" marR="26860" marT="13430" marB="13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900">
                          <a:effectLst/>
                        </a:rPr>
                        <a:t>BC-Air</a:t>
                      </a:r>
                    </a:p>
                  </a:txBody>
                  <a:tcPr marL="26860" marR="26860" marT="13430" marB="13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900">
                          <a:effectLst/>
                        </a:rPr>
                        <a:t>0450270</a:t>
                      </a:r>
                    </a:p>
                  </a:txBody>
                  <a:tcPr marL="26860" marR="26860" marT="13430" marB="13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900">
                          <a:effectLst/>
                        </a:rPr>
                        <a:t>136</a:t>
                      </a:r>
                    </a:p>
                  </a:txBody>
                  <a:tcPr marL="26860" marR="26860" marT="13430" marB="13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900" dirty="0">
                          <a:effectLst/>
                        </a:rPr>
                        <a:t>Prince George Gladstone School</a:t>
                      </a:r>
                    </a:p>
                  </a:txBody>
                  <a:tcPr marL="26860" marR="26860" marT="13430" marB="13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900" dirty="0">
                          <a:effectLst/>
                        </a:rPr>
                        <a:t>Prince George Gladstone School</a:t>
                      </a:r>
                    </a:p>
                  </a:txBody>
                  <a:tcPr marL="26860" marR="26860" marT="13430" marB="13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900" dirty="0">
                          <a:effectLst/>
                        </a:rPr>
                        <a:t>1</a:t>
                      </a:r>
                    </a:p>
                  </a:txBody>
                  <a:tcPr marL="26860" marR="26860" marT="13430" marB="13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900" dirty="0">
                          <a:effectLst/>
                        </a:rPr>
                        <a:t>53.858056</a:t>
                      </a:r>
                    </a:p>
                  </a:txBody>
                  <a:tcPr marL="26860" marR="26860" marT="13430" marB="13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900" dirty="0">
                          <a:effectLst/>
                        </a:rPr>
                        <a:t>-122.761389</a:t>
                      </a:r>
                    </a:p>
                  </a:txBody>
                  <a:tcPr marL="26860" marR="26860" marT="13430" marB="13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900" dirty="0">
                          <a:effectLst/>
                        </a:rPr>
                        <a:t>583.0</a:t>
                      </a:r>
                    </a:p>
                  </a:txBody>
                  <a:tcPr marL="26860" marR="26860" marT="13430" marB="13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900" dirty="0">
                          <a:effectLst/>
                        </a:rPr>
                        <a:t>53.859200</a:t>
                      </a:r>
                    </a:p>
                  </a:txBody>
                  <a:tcPr marL="26860" marR="26860" marT="13430" marB="13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900" dirty="0">
                          <a:effectLst/>
                        </a:rPr>
                        <a:t>-122.763300</a:t>
                      </a:r>
                    </a:p>
                  </a:txBody>
                  <a:tcPr marL="26860" marR="26860" marT="13430" marB="13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900">
                          <a:effectLst/>
                        </a:rPr>
                        <a:t>583.0</a:t>
                      </a:r>
                    </a:p>
                  </a:txBody>
                  <a:tcPr marL="26860" marR="26860" marT="13430" marB="13430" anchor="ctr"/>
                </a:tc>
                <a:extLst>
                  <a:ext uri="{0D108BD9-81ED-4DB2-BD59-A6C34878D82A}">
                    <a16:rowId xmlns:a16="http://schemas.microsoft.com/office/drawing/2014/main" val="2286612203"/>
                  </a:ext>
                </a:extLst>
              </a:tr>
              <a:tr h="72924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CA" sz="900" b="0">
                          <a:effectLst/>
                        </a:rPr>
                        <a:t>3</a:t>
                      </a:r>
                    </a:p>
                  </a:txBody>
                  <a:tcPr marL="26860" marR="26860" marT="13430" marB="13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900">
                          <a:effectLst/>
                        </a:rPr>
                        <a:t>ID, Location</a:t>
                      </a:r>
                    </a:p>
                  </a:txBody>
                  <a:tcPr marL="26860" marR="26860" marT="13430" marB="13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900">
                          <a:effectLst/>
                        </a:rPr>
                        <a:t>2649</a:t>
                      </a:r>
                    </a:p>
                  </a:txBody>
                  <a:tcPr marL="26860" marR="26860" marT="13430" marB="13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900">
                          <a:effectLst/>
                        </a:rPr>
                        <a:t>9</a:t>
                      </a:r>
                    </a:p>
                  </a:txBody>
                  <a:tcPr marL="26860" marR="26860" marT="13430" marB="13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900">
                          <a:effectLst/>
                        </a:rPr>
                        <a:t>BC-Air</a:t>
                      </a:r>
                    </a:p>
                  </a:txBody>
                  <a:tcPr marL="26860" marR="26860" marT="13430" marB="13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900">
                          <a:effectLst/>
                        </a:rPr>
                        <a:t>E231838</a:t>
                      </a:r>
                    </a:p>
                  </a:txBody>
                  <a:tcPr marL="26860" marR="26860" marT="13430" marB="13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900" dirty="0">
                          <a:effectLst/>
                        </a:rPr>
                        <a:t>327</a:t>
                      </a:r>
                    </a:p>
                  </a:txBody>
                  <a:tcPr marL="26860" marR="26860" marT="13430" marB="13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900">
                          <a:effectLst/>
                        </a:rPr>
                        <a:t>Prince Rupert Galloway Rapids</a:t>
                      </a:r>
                    </a:p>
                  </a:txBody>
                  <a:tcPr marL="26860" marR="26860" marT="13430" marB="13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900">
                          <a:effectLst/>
                        </a:rPr>
                        <a:t>Prince Rupert Galloway Rapids</a:t>
                      </a:r>
                    </a:p>
                  </a:txBody>
                  <a:tcPr marL="26860" marR="26860" marT="13430" marB="13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900">
                          <a:effectLst/>
                        </a:rPr>
                        <a:t>1</a:t>
                      </a:r>
                    </a:p>
                  </a:txBody>
                  <a:tcPr marL="26860" marR="26860" marT="13430" marB="13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900">
                          <a:effectLst/>
                        </a:rPr>
                        <a:t>54.259722</a:t>
                      </a:r>
                    </a:p>
                  </a:txBody>
                  <a:tcPr marL="26860" marR="26860" marT="13430" marB="13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900">
                          <a:effectLst/>
                        </a:rPr>
                        <a:t>-130.268056</a:t>
                      </a:r>
                    </a:p>
                  </a:txBody>
                  <a:tcPr marL="26860" marR="26860" marT="13430" marB="13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900">
                          <a:effectLst/>
                        </a:rPr>
                        <a:t>1.0</a:t>
                      </a:r>
                    </a:p>
                  </a:txBody>
                  <a:tcPr marL="26860" marR="26860" marT="13430" marB="13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900">
                          <a:effectLst/>
                        </a:rPr>
                        <a:t>54.232200</a:t>
                      </a:r>
                    </a:p>
                  </a:txBody>
                  <a:tcPr marL="26860" marR="26860" marT="13430" marB="13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900" dirty="0">
                          <a:effectLst/>
                        </a:rPr>
                        <a:t>-130.288900</a:t>
                      </a:r>
                    </a:p>
                  </a:txBody>
                  <a:tcPr marL="26860" marR="26860" marT="13430" marB="134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900" dirty="0">
                          <a:effectLst/>
                        </a:rPr>
                        <a:t>1.0</a:t>
                      </a:r>
                    </a:p>
                  </a:txBody>
                  <a:tcPr marL="26860" marR="26860" marT="13430" marB="13430" anchor="ctr"/>
                </a:tc>
                <a:extLst>
                  <a:ext uri="{0D108BD9-81ED-4DB2-BD59-A6C34878D82A}">
                    <a16:rowId xmlns:a16="http://schemas.microsoft.com/office/drawing/2014/main" val="52179979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9563330-948E-08BC-EAC3-D7C902AEF081}"/>
              </a:ext>
            </a:extLst>
          </p:cNvPr>
          <p:cNvSpPr txBox="1"/>
          <p:nvPr/>
        </p:nvSpPr>
        <p:spPr>
          <a:xfrm>
            <a:off x="939798" y="4552894"/>
            <a:ext cx="9821334" cy="1938992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Extract </a:t>
            </a:r>
            <a:r>
              <a:rPr lang="en-US" sz="1600" dirty="0" err="1"/>
              <a:t>station_id</a:t>
            </a:r>
            <a:r>
              <a:rPr lang="en-US" sz="1600" dirty="0"/>
              <a:t>, old and new </a:t>
            </a:r>
            <a:r>
              <a:rPr lang="en-US" sz="1600" dirty="0" err="1"/>
              <a:t>native_id</a:t>
            </a:r>
            <a:r>
              <a:rPr lang="en-US" sz="1600" dirty="0"/>
              <a:t>, </a:t>
            </a:r>
            <a:r>
              <a:rPr lang="en-US" sz="1600" dirty="0" err="1"/>
              <a:t>station_name</a:t>
            </a:r>
            <a:r>
              <a:rPr lang="en-US" sz="1600" dirty="0"/>
              <a:t>, and geometries.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Based on the </a:t>
            </a:r>
            <a:r>
              <a:rPr lang="en-US" sz="1600" dirty="0" err="1"/>
              <a:t>station_id</a:t>
            </a:r>
            <a:r>
              <a:rPr lang="en-US" sz="1600" dirty="0"/>
              <a:t>: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Verify that the old </a:t>
            </a:r>
            <a:r>
              <a:rPr lang="en-US" sz="1600" dirty="0" err="1"/>
              <a:t>native_id</a:t>
            </a:r>
            <a:r>
              <a:rPr lang="en-US" sz="1600" dirty="0"/>
              <a:t> , </a:t>
            </a:r>
            <a:r>
              <a:rPr lang="en-US" sz="1600" dirty="0" err="1"/>
              <a:t>station_name</a:t>
            </a:r>
            <a:r>
              <a:rPr lang="en-US" sz="1600" dirty="0"/>
              <a:t>, and geometries matches the database.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If it matches, update it to the new one.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Confirm that the database now reflects the new one.</a:t>
            </a:r>
          </a:p>
        </p:txBody>
      </p:sp>
    </p:spTree>
    <p:extLst>
      <p:ext uri="{BB962C8B-B14F-4D97-AF65-F5344CB8AC3E}">
        <p14:creationId xmlns:p14="http://schemas.microsoft.com/office/powerpoint/2010/main" val="15125148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4411E-5774-7612-3E23-60E9B2AD6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9A36E40-7C26-74E5-C4B4-9015855605DB}"/>
              </a:ext>
            </a:extLst>
          </p:cNvPr>
          <p:cNvSpPr txBox="1"/>
          <p:nvPr/>
        </p:nvSpPr>
        <p:spPr>
          <a:xfrm>
            <a:off x="330200" y="2979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b="1" dirty="0"/>
              <a:t>Concatenate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F55E8F-67FA-ED3D-9F6D-82D4BEEC906D}"/>
              </a:ext>
            </a:extLst>
          </p:cNvPr>
          <p:cNvSpPr txBox="1"/>
          <p:nvPr/>
        </p:nvSpPr>
        <p:spPr>
          <a:xfrm>
            <a:off x="711658" y="3429000"/>
            <a:ext cx="10329335" cy="3139321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Concatenate old stations to new ones based on </a:t>
            </a:r>
            <a:r>
              <a:rPr lang="en-US" sz="1600" dirty="0" err="1"/>
              <a:t>native_id</a:t>
            </a:r>
            <a:r>
              <a:rPr lang="en-US" sz="1600" dirty="0"/>
              <a:t>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Checks before concatenation: overlaps by variable/time, identical data points.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Cannot concatenate: 469, 452, T035, 77, E271963, E238705, 543 (missing in DB).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Concatenation: update </a:t>
            </a:r>
            <a:r>
              <a:rPr lang="en-US" sz="1600" dirty="0" err="1"/>
              <a:t>history_id</a:t>
            </a:r>
            <a:r>
              <a:rPr lang="en-US" sz="1600" dirty="0"/>
              <a:t> for non-overlapping entries only.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Next steps/questions: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Delete old stations after concatenation?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Update station names to the new </a:t>
            </a:r>
            <a:r>
              <a:rPr lang="en-US" sz="1600" dirty="0" err="1"/>
              <a:t>native_id</a:t>
            </a:r>
            <a:r>
              <a:rPr lang="en-US" sz="1600" dirty="0"/>
              <a:t>?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Horseshoe Bay → T035, attribution pending</a:t>
            </a: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3CC55C1-B5C0-CC99-9D91-04AE08A2DC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2800" y="984144"/>
            <a:ext cx="7772400" cy="2127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2700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85A62-55ED-A137-5D72-85C1A84FD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0B08677-932D-ECF4-AC59-024FBC3886D7}"/>
              </a:ext>
            </a:extLst>
          </p:cNvPr>
          <p:cNvSpPr txBox="1"/>
          <p:nvPr/>
        </p:nvSpPr>
        <p:spPr>
          <a:xfrm>
            <a:off x="440267" y="31486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800" b="1" dirty="0"/>
              <a:t>Additional: Replaces * – Concatenate data record</a:t>
            </a:r>
            <a:endParaRPr lang="en-US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0E6FA2-6AD2-880B-5CC4-F231BF82E1DE}"/>
              </a:ext>
            </a:extLst>
          </p:cNvPr>
          <p:cNvSpPr txBox="1"/>
          <p:nvPr/>
        </p:nvSpPr>
        <p:spPr>
          <a:xfrm>
            <a:off x="686721" y="4709160"/>
            <a:ext cx="10329335" cy="1785104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600" dirty="0"/>
              <a:t>WORKING FLOW: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AutoNum type="arabicPeriod"/>
            </a:pPr>
            <a:r>
              <a:rPr lang="en-US" sz="1600" dirty="0"/>
              <a:t>Check according to the new </a:t>
            </a:r>
            <a:r>
              <a:rPr lang="en-US" sz="1600" dirty="0" err="1"/>
              <a:t>native_id</a:t>
            </a:r>
            <a:r>
              <a:rPr lang="en-US" sz="1600" dirty="0"/>
              <a:t> and </a:t>
            </a:r>
            <a:r>
              <a:rPr lang="en-US" sz="1600" dirty="0" err="1"/>
              <a:t>station_name</a:t>
            </a:r>
            <a:r>
              <a:rPr lang="en-US" sz="1600" dirty="0"/>
              <a:t>, if not exits, insert these stations; </a:t>
            </a:r>
            <a:r>
              <a:rPr lang="en-US" sz="1600" dirty="0">
                <a:sym typeface="Wingdings" pitchFamily="2" charset="2"/>
              </a:rPr>
              <a:t>-- &gt; (ALL not</a:t>
            </a:r>
            <a:r>
              <a:rPr lang="zh-CN" altLang="en-US" sz="1600" dirty="0">
                <a:sym typeface="Wingdings" pitchFamily="2" charset="2"/>
              </a:rPr>
              <a:t> </a:t>
            </a:r>
            <a:r>
              <a:rPr lang="en-US" altLang="zh-CN" sz="1600" dirty="0">
                <a:sym typeface="Wingdings" pitchFamily="2" charset="2"/>
              </a:rPr>
              <a:t>exist</a:t>
            </a:r>
            <a:r>
              <a:rPr lang="en-US" sz="1600" dirty="0">
                <a:sym typeface="Wingdings" pitchFamily="2" charset="2"/>
              </a:rPr>
              <a:t>)</a:t>
            </a:r>
            <a:endParaRPr lang="en-US" sz="1600" dirty="0"/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Tx/>
              <a:buAutoNum type="arabicPeriod"/>
            </a:pPr>
            <a:r>
              <a:rPr lang="en-US" sz="1600" dirty="0"/>
              <a:t>Check if the old id exist, if yes, copy the </a:t>
            </a:r>
            <a:r>
              <a:rPr lang="en-US" sz="1600" dirty="0" err="1"/>
              <a:t>obs</a:t>
            </a:r>
            <a:r>
              <a:rPr lang="en-US" sz="1600" dirty="0"/>
              <a:t> records to the new Station (just change the </a:t>
            </a:r>
            <a:r>
              <a:rPr lang="en-US" sz="1600" dirty="0" err="1"/>
              <a:t>history_id</a:t>
            </a:r>
            <a:r>
              <a:rPr lang="en-US" sz="1600" dirty="0"/>
              <a:t> of the form </a:t>
            </a:r>
            <a:r>
              <a:rPr lang="en-US" sz="1600" dirty="0" err="1"/>
              <a:t>obs_raw</a:t>
            </a:r>
            <a:r>
              <a:rPr lang="en-US" sz="1600" dirty="0"/>
              <a:t>);</a:t>
            </a:r>
            <a:r>
              <a:rPr lang="en-US" sz="1600" dirty="0">
                <a:sym typeface="Wingdings" pitchFamily="2" charset="2"/>
              </a:rPr>
              <a:t>  -- &gt; (</a:t>
            </a:r>
            <a:r>
              <a:rPr lang="en-CA" sz="1600" dirty="0">
                <a:sym typeface="Wingdings" pitchFamily="2" charset="2"/>
              </a:rPr>
              <a:t>Just four old station exist</a:t>
            </a:r>
            <a:r>
              <a:rPr lang="en-US" sz="1600" dirty="0">
                <a:sym typeface="Wingdings" pitchFamily="2" charset="2"/>
              </a:rPr>
              <a:t>)</a:t>
            </a:r>
            <a:endParaRPr lang="en-US" sz="1600" dirty="0"/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AutoNum type="arabicPeriod"/>
            </a:pPr>
            <a:r>
              <a:rPr lang="en-US" sz="1600" dirty="0"/>
              <a:t>Delete the old ones? (Cause it marked as replace). </a:t>
            </a:r>
            <a:r>
              <a:rPr lang="en-US" sz="1600" dirty="0">
                <a:sym typeface="Wingdings" pitchFamily="2" charset="2"/>
              </a:rPr>
              <a:t>-- &gt; (Have deleted)</a:t>
            </a:r>
            <a:endParaRPr lang="en-US" sz="1600" dirty="0"/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1AAEA6E-BCA7-1B0C-520E-7E30B37F2C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267" y="872836"/>
            <a:ext cx="7049832" cy="3325090"/>
          </a:xfrm>
          <a:prstGeom prst="rect">
            <a:avLst/>
          </a:prstGeom>
        </p:spPr>
      </p:pic>
      <p:pic>
        <p:nvPicPr>
          <p:cNvPr id="10" name="Picture 9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16763BF8-5BBF-B7A3-C043-824BE56A4B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7849" y="1403955"/>
            <a:ext cx="3883020" cy="1548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2363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9DEC0-9939-72A4-0C26-4906D162D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CB32519-5813-0192-CE86-E7E20ACA21EF}"/>
              </a:ext>
            </a:extLst>
          </p:cNvPr>
          <p:cNvSpPr txBox="1"/>
          <p:nvPr/>
        </p:nvSpPr>
        <p:spPr>
          <a:xfrm>
            <a:off x="431800" y="3741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800" b="1" dirty="0"/>
              <a:t>Replaced by * – Move data record, delete station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444CDB-06FB-B1C7-55A4-413F32933FFD}"/>
              </a:ext>
            </a:extLst>
          </p:cNvPr>
          <p:cNvSpPr txBox="1"/>
          <p:nvPr/>
        </p:nvSpPr>
        <p:spPr>
          <a:xfrm>
            <a:off x="614104" y="3685874"/>
            <a:ext cx="10329335" cy="2939266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Identify stations: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Old stations by </a:t>
            </a:r>
            <a:r>
              <a:rPr lang="en-US" sz="1400" dirty="0" err="1"/>
              <a:t>station_id</a:t>
            </a:r>
            <a:r>
              <a:rPr lang="en-US" sz="1400" dirty="0"/>
              <a:t> (old </a:t>
            </a:r>
            <a:r>
              <a:rPr lang="en-US" sz="1400" dirty="0" err="1"/>
              <a:t>native_id</a:t>
            </a:r>
            <a:r>
              <a:rPr lang="en-US" sz="1400" dirty="0"/>
              <a:t> not found in DB).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New stations by </a:t>
            </a:r>
            <a:r>
              <a:rPr lang="en-US" sz="1400" dirty="0" err="1"/>
              <a:t>native_id</a:t>
            </a:r>
            <a:r>
              <a:rPr lang="en-US" sz="1400" dirty="0"/>
              <a:t>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Existence check: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4 old stations missing → assumed replaced, no action needed.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1 new station missing → marked for review.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Concatenation process: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For pairs where both old &amp; new stations exist: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Update </a:t>
            </a:r>
            <a:r>
              <a:rPr lang="en-US" sz="1400" dirty="0" err="1"/>
              <a:t>history_id</a:t>
            </a:r>
            <a:r>
              <a:rPr lang="en-US" sz="1400" dirty="0"/>
              <a:t> in </a:t>
            </a:r>
            <a:r>
              <a:rPr lang="en-US" sz="1400" dirty="0" err="1"/>
              <a:t>obs_raw</a:t>
            </a:r>
            <a:r>
              <a:rPr lang="en-US" sz="1400" dirty="0"/>
              <a:t> for non-overlapping entries.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Delete old stations from DB.</a:t>
            </a: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CC8C1B6-0ADD-BAA8-8586-0444C27819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530" y="904744"/>
            <a:ext cx="9296485" cy="2619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8394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5355A-FEE4-0E66-9B35-02E839DC5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B336C83-6A3C-7410-A4D3-BC729DD33523}"/>
              </a:ext>
            </a:extLst>
          </p:cNvPr>
          <p:cNvSpPr txBox="1"/>
          <p:nvPr/>
        </p:nvSpPr>
        <p:spPr>
          <a:xfrm>
            <a:off x="431800" y="3741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800" b="1" dirty="0"/>
              <a:t>Concatenate data and delete this station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7B75B2F-0738-2781-B89A-AA7E7FC34C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589" y="1086930"/>
            <a:ext cx="9358309" cy="258729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DBE5C0A-89D7-B322-7325-D3ACA5B549E2}"/>
              </a:ext>
            </a:extLst>
          </p:cNvPr>
          <p:cNvSpPr txBox="1"/>
          <p:nvPr/>
        </p:nvSpPr>
        <p:spPr>
          <a:xfrm>
            <a:off x="582197" y="4293524"/>
            <a:ext cx="10329335" cy="738664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Similar as concatenate, based on </a:t>
            </a:r>
            <a:r>
              <a:rPr lang="en-US" sz="1600" dirty="0" err="1"/>
              <a:t>station_id</a:t>
            </a:r>
            <a:r>
              <a:rPr lang="en-US" sz="1600" dirty="0"/>
              <a:t> or </a:t>
            </a:r>
            <a:r>
              <a:rPr lang="en-US" sz="1600" dirty="0" err="1"/>
              <a:t>native_id</a:t>
            </a:r>
            <a:r>
              <a:rPr lang="en-US" sz="1600" dirty="0"/>
              <a:t> of old station to search get same entry.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Concatenate, then delete.</a:t>
            </a:r>
          </a:p>
        </p:txBody>
      </p:sp>
    </p:spTree>
    <p:extLst>
      <p:ext uri="{BB962C8B-B14F-4D97-AF65-F5344CB8AC3E}">
        <p14:creationId xmlns:p14="http://schemas.microsoft.com/office/powerpoint/2010/main" val="18980000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07AACC-D554-F8C1-139E-532544217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FE46698-6607-13C8-DA76-7E50493B2089}"/>
              </a:ext>
            </a:extLst>
          </p:cNvPr>
          <p:cNvSpPr txBox="1"/>
          <p:nvPr/>
        </p:nvSpPr>
        <p:spPr>
          <a:xfrm>
            <a:off x="431800" y="3741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800" b="1" dirty="0"/>
              <a:t>Missing data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0717322-26F1-A3C5-A9DA-4BE899C62B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429" y="1221433"/>
            <a:ext cx="10800000" cy="54864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1C0B7EC-CA0C-1983-995E-12A8F6919B1E}"/>
              </a:ext>
            </a:extLst>
          </p:cNvPr>
          <p:cNvSpPr txBox="1"/>
          <p:nvPr/>
        </p:nvSpPr>
        <p:spPr>
          <a:xfrm>
            <a:off x="1052094" y="2248044"/>
            <a:ext cx="10329335" cy="738664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The Missing data, anything we </a:t>
            </a:r>
            <a:r>
              <a:rPr lang="en-US" sz="1600" dirty="0" err="1"/>
              <a:t>wanna</a:t>
            </a:r>
            <a:r>
              <a:rPr lang="en-US" sz="1600" dirty="0"/>
              <a:t> do?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The Missing Data, because need to change the attribution, so deal with it later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3D35F7-1CA4-E7D8-BDB8-07A9591AA9C7}"/>
              </a:ext>
            </a:extLst>
          </p:cNvPr>
          <p:cNvSpPr txBox="1"/>
          <p:nvPr/>
        </p:nvSpPr>
        <p:spPr>
          <a:xfrm>
            <a:off x="431800" y="387129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800" b="1" dirty="0"/>
              <a:t>New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B93DC3-9D3C-B540-EBE4-D70A562F2D31}"/>
              </a:ext>
            </a:extLst>
          </p:cNvPr>
          <p:cNvSpPr txBox="1"/>
          <p:nvPr/>
        </p:nvSpPr>
        <p:spPr>
          <a:xfrm>
            <a:off x="510545" y="4636724"/>
            <a:ext cx="10329335" cy="338554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The Network Name (BCH-SITEC) need to be update first</a:t>
            </a:r>
          </a:p>
        </p:txBody>
      </p:sp>
    </p:spTree>
    <p:extLst>
      <p:ext uri="{BB962C8B-B14F-4D97-AF65-F5344CB8AC3E}">
        <p14:creationId xmlns:p14="http://schemas.microsoft.com/office/powerpoint/2010/main" val="30466234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1699F0-D634-4FD4-A028-D9463EFC4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A38589E-8FCA-022B-468F-E85280DE3677}"/>
              </a:ext>
            </a:extLst>
          </p:cNvPr>
          <p:cNvSpPr txBox="1"/>
          <p:nvPr/>
        </p:nvSpPr>
        <p:spPr>
          <a:xfrm>
            <a:off x="363682" y="384755"/>
            <a:ext cx="60973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800" b="1" dirty="0"/>
              <a:t>Case-by-case “ISSUE” items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1749428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884A3-C135-0E37-3133-C5BE69B0D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B52A3A5-8825-6956-FF06-5435224CB476}"/>
              </a:ext>
            </a:extLst>
          </p:cNvPr>
          <p:cNvSpPr txBox="1"/>
          <p:nvPr/>
        </p:nvSpPr>
        <p:spPr>
          <a:xfrm>
            <a:off x="431800" y="3741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800" b="1" dirty="0"/>
              <a:t>Items not explicitly noted under “ISSUE”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470E3D-49BE-CB13-7D57-4683E272D426}"/>
              </a:ext>
            </a:extLst>
          </p:cNvPr>
          <p:cNvSpPr txBox="1"/>
          <p:nvPr/>
        </p:nvSpPr>
        <p:spPr>
          <a:xfrm>
            <a:off x="1992672" y="4884102"/>
            <a:ext cx="6291146" cy="7954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Why are some geometries shown in green?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Do the red geometries indicate locations that need to be updated?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49E5D04-E603-E6C0-F54B-4C2217840C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2672" y="1610224"/>
            <a:ext cx="7772400" cy="314874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7182789-7316-33C0-3EF7-6D3641863990}"/>
              </a:ext>
            </a:extLst>
          </p:cNvPr>
          <p:cNvSpPr txBox="1"/>
          <p:nvPr/>
        </p:nvSpPr>
        <p:spPr>
          <a:xfrm>
            <a:off x="1227667" y="993758"/>
            <a:ext cx="23041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In the left PCDS part</a:t>
            </a:r>
          </a:p>
        </p:txBody>
      </p:sp>
    </p:spTree>
    <p:extLst>
      <p:ext uri="{BB962C8B-B14F-4D97-AF65-F5344CB8AC3E}">
        <p14:creationId xmlns:p14="http://schemas.microsoft.com/office/powerpoint/2010/main" val="32090618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BFB4D27-C04C-04BF-D217-D4D31A4A02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43132" y="1545649"/>
            <a:ext cx="8235733" cy="415241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EB42DBD-613D-6299-FDB6-54DE941C231A}"/>
              </a:ext>
            </a:extLst>
          </p:cNvPr>
          <p:cNvSpPr txBox="1"/>
          <p:nvPr/>
        </p:nvSpPr>
        <p:spPr>
          <a:xfrm>
            <a:off x="431800" y="3741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800" b="1" dirty="0"/>
              <a:t>Items not explicitly noted under “ISSUE”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FCE245-BBE9-FE99-56C2-156630BA6D11}"/>
              </a:ext>
            </a:extLst>
          </p:cNvPr>
          <p:cNvSpPr txBox="1"/>
          <p:nvPr/>
        </p:nvSpPr>
        <p:spPr>
          <a:xfrm>
            <a:off x="1227667" y="993758"/>
            <a:ext cx="37212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In the right Ted’s spreadsheet part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DC3E80-C9F9-B17F-BBF3-6AAA530EDB05}"/>
              </a:ext>
            </a:extLst>
          </p:cNvPr>
          <p:cNvSpPr txBox="1"/>
          <p:nvPr/>
        </p:nvSpPr>
        <p:spPr>
          <a:xfrm>
            <a:off x="1049741" y="5985932"/>
            <a:ext cx="100925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I randomly checked a few cases and found that they should be the same as, or very similar to, the geometries listed on the left. Anything I need to do with them?</a:t>
            </a:r>
          </a:p>
        </p:txBody>
      </p:sp>
    </p:spTree>
    <p:extLst>
      <p:ext uri="{BB962C8B-B14F-4D97-AF65-F5344CB8AC3E}">
        <p14:creationId xmlns:p14="http://schemas.microsoft.com/office/powerpoint/2010/main" val="9934578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CF47ED4-CB40-7F8C-6571-75F7EB7DFB73}"/>
              </a:ext>
            </a:extLst>
          </p:cNvPr>
          <p:cNvSpPr txBox="1"/>
          <p:nvPr/>
        </p:nvSpPr>
        <p:spPr>
          <a:xfrm>
            <a:off x="431800" y="3741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800" b="1" dirty="0"/>
              <a:t>Items not explicitly noted under “ISSUE”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1FC024-0173-F44F-0C23-91B71469CEE6}"/>
              </a:ext>
            </a:extLst>
          </p:cNvPr>
          <p:cNvSpPr txBox="1"/>
          <p:nvPr/>
        </p:nvSpPr>
        <p:spPr>
          <a:xfrm>
            <a:off x="1951512" y="5822041"/>
            <a:ext cx="6291146" cy="7954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What the yellow painting means?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Do the red geometries indicate locations that need to be updated?</a:t>
            </a:r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DCC0D02-10E5-1639-2D42-FC7D655343A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36"/>
          <a:stretch>
            <a:fillRect/>
          </a:stretch>
        </p:blipFill>
        <p:spPr>
          <a:xfrm>
            <a:off x="2946399" y="853489"/>
            <a:ext cx="6032857" cy="4858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44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16C1174-8275-E9CD-B610-659BFA32E5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260921"/>
            <a:ext cx="7772400" cy="291391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E2938E9-C003-DE19-63FB-294F775E1F25}"/>
              </a:ext>
            </a:extLst>
          </p:cNvPr>
          <p:cNvSpPr txBox="1"/>
          <p:nvPr/>
        </p:nvSpPr>
        <p:spPr>
          <a:xfrm>
            <a:off x="431800" y="3741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800" b="1" dirty="0"/>
              <a:t>Items not explicitly noted under “ISSUE”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B70BB2-EB9C-8951-5104-14438A9F9EF0}"/>
              </a:ext>
            </a:extLst>
          </p:cNvPr>
          <p:cNvSpPr txBox="1"/>
          <p:nvPr/>
        </p:nvSpPr>
        <p:spPr>
          <a:xfrm>
            <a:off x="1787235" y="4641491"/>
            <a:ext cx="9380297" cy="11648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Do the red highlights indicate information that needs to be updated?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What about the items without any marking?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Do both the PCDS and Ted’s spreadsheet need to be cross-checked when data exist in both?</a:t>
            </a:r>
          </a:p>
        </p:txBody>
      </p:sp>
    </p:spTree>
    <p:extLst>
      <p:ext uri="{BB962C8B-B14F-4D97-AF65-F5344CB8AC3E}">
        <p14:creationId xmlns:p14="http://schemas.microsoft.com/office/powerpoint/2010/main" val="6210287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4141</TotalTime>
  <Words>911</Words>
  <Application>Microsoft Macintosh PowerPoint</Application>
  <PresentationFormat>Widescreen</PresentationFormat>
  <Paragraphs>159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Tong Li</dc:creator>
  <cp:lastModifiedBy>Tong Li</cp:lastModifiedBy>
  <cp:revision>3</cp:revision>
  <dcterms:created xsi:type="dcterms:W3CDTF">2026-01-09T20:59:00Z</dcterms:created>
  <dcterms:modified xsi:type="dcterms:W3CDTF">2026-01-12T18:00:53Z</dcterms:modified>
</cp:coreProperties>
</file>